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1"/>
  </p:notesMasterIdLst>
  <p:sldIdLst>
    <p:sldId id="256" r:id="rId2"/>
    <p:sldId id="2051" r:id="rId3"/>
    <p:sldId id="2147480244" r:id="rId4"/>
    <p:sldId id="2147480210" r:id="rId5"/>
    <p:sldId id="2147480245" r:id="rId6"/>
    <p:sldId id="2147480169" r:id="rId7"/>
    <p:sldId id="2147480238" r:id="rId8"/>
    <p:sldId id="2147480246" r:id="rId9"/>
    <p:sldId id="2147480248" r:id="rId10"/>
    <p:sldId id="2147480247" r:id="rId11"/>
    <p:sldId id="2147480249" r:id="rId12"/>
    <p:sldId id="2147480250" r:id="rId13"/>
    <p:sldId id="2147480251" r:id="rId14"/>
    <p:sldId id="2147480252" r:id="rId15"/>
    <p:sldId id="2147480253" r:id="rId16"/>
    <p:sldId id="2147480254" r:id="rId17"/>
    <p:sldId id="2147480236" r:id="rId18"/>
    <p:sldId id="2147480211" r:id="rId19"/>
    <p:sldId id="2147480237" r:id="rId20"/>
    <p:sldId id="2147480255" r:id="rId21"/>
    <p:sldId id="2147480213" r:id="rId22"/>
    <p:sldId id="2147480214" r:id="rId23"/>
    <p:sldId id="2147480212" r:id="rId24"/>
    <p:sldId id="2147480174" r:id="rId25"/>
    <p:sldId id="2147480177" r:id="rId26"/>
    <p:sldId id="2147480218" r:id="rId27"/>
    <p:sldId id="2147480179" r:id="rId28"/>
    <p:sldId id="2147480220" r:id="rId29"/>
    <p:sldId id="2147480182" r:id="rId30"/>
    <p:sldId id="2147480221" r:id="rId31"/>
    <p:sldId id="2147480222" r:id="rId32"/>
    <p:sldId id="2147480184" r:id="rId33"/>
    <p:sldId id="2147480224" r:id="rId34"/>
    <p:sldId id="2147480226" r:id="rId35"/>
    <p:sldId id="2147480188" r:id="rId36"/>
    <p:sldId id="2147480192" r:id="rId37"/>
    <p:sldId id="2147480195" r:id="rId38"/>
    <p:sldId id="2147480230" r:id="rId39"/>
    <p:sldId id="2147480231" r:id="rId40"/>
    <p:sldId id="2147480199" r:id="rId41"/>
    <p:sldId id="2147480232" r:id="rId42"/>
    <p:sldId id="2147480233" r:id="rId43"/>
    <p:sldId id="2147480256" r:id="rId44"/>
    <p:sldId id="2147480257" r:id="rId45"/>
    <p:sldId id="2147480204" r:id="rId46"/>
    <p:sldId id="2147480234" r:id="rId47"/>
    <p:sldId id="2147480241" r:id="rId48"/>
    <p:sldId id="2147480242" r:id="rId49"/>
    <p:sldId id="2147480243" r:id="rId50"/>
    <p:sldId id="2147480239" r:id="rId51"/>
    <p:sldId id="2147480240" r:id="rId52"/>
    <p:sldId id="2147480235" r:id="rId53"/>
    <p:sldId id="2147480258" r:id="rId54"/>
    <p:sldId id="2147480259" r:id="rId55"/>
    <p:sldId id="2147480260" r:id="rId56"/>
    <p:sldId id="2147480261" r:id="rId57"/>
    <p:sldId id="2147480208" r:id="rId58"/>
    <p:sldId id="2058" r:id="rId59"/>
    <p:sldId id="2059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A55"/>
    <a:srgbClr val="000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863" autoAdjust="0"/>
  </p:normalViewPr>
  <p:slideViewPr>
    <p:cSldViewPr snapToGrid="0">
      <p:cViewPr varScale="1">
        <p:scale>
          <a:sx n="80" d="100"/>
          <a:sy n="80" d="100"/>
        </p:scale>
        <p:origin x="66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D2FD1-D8F7-4DAA-9B1C-E1431C56C7B5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62B86-AF6C-4AEF-862A-711E49581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2" name="Google Shape;4462;g4d53e15c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3" name="Google Shape;4463;g4d53e15ce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r>
              <a:rPr lang="en-US" dirty="0"/>
              <a:t>Introduce the team (self-introductions). Mention </a:t>
            </a:r>
            <a:r>
              <a:rPr lang="en-US" dirty="0" err="1"/>
              <a:t>LearnAI</a:t>
            </a:r>
            <a:r>
              <a:rPr lang="en-US" dirty="0"/>
              <a:t> – team.</a:t>
            </a:r>
          </a:p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r>
              <a:rPr lang="en-US" dirty="0"/>
              <a:t>3 day airlift, transition from pure </a:t>
            </a:r>
            <a:r>
              <a:rPr lang="en-US" dirty="0" err="1"/>
              <a:t>databricks</a:t>
            </a:r>
            <a:r>
              <a:rPr lang="en-US" dirty="0"/>
              <a:t> to AML</a:t>
            </a:r>
          </a:p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r>
              <a:rPr lang="en-US" dirty="0"/>
              <a:t>We will use notebooks to introduce tools and techniques, and then return to one use-case</a:t>
            </a:r>
          </a:p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r>
              <a:rPr lang="en-US" dirty="0"/>
              <a:t>We have three kinds of session: (1) presentation style, (2) demos (w/ small exercises), (3) hands-on labs.</a:t>
            </a:r>
          </a:p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r>
              <a:rPr lang="en-US" dirty="0"/>
              <a:t>Last day is a Hackathon (w/ two use cases)</a:t>
            </a:r>
          </a:p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333"/>
              </a:spcAft>
              <a:buNone/>
            </a:pPr>
            <a:r>
              <a:rPr lang="en-US" dirty="0"/>
              <a:t>Check people’s skills. Experience with Databricks, </a:t>
            </a:r>
            <a:r>
              <a:rPr lang="en-US" dirty="0" err="1"/>
              <a:t>Jupyter</a:t>
            </a:r>
            <a:r>
              <a:rPr lang="en-US" dirty="0"/>
              <a:t> notebooks, VS Code, Deep Learning. Who has heard of </a:t>
            </a:r>
            <a:r>
              <a:rPr lang="en-US" dirty="0" err="1"/>
              <a:t>AMLCompute</a:t>
            </a:r>
            <a:r>
              <a:rPr lang="en-US" dirty="0"/>
              <a:t>? Who has used it? Who has used CI/CD and git version control?</a:t>
            </a:r>
            <a:endParaRPr dirty="0"/>
          </a:p>
        </p:txBody>
      </p:sp>
      <p:sp>
        <p:nvSpPr>
          <p:cNvPr id="4464" name="Google Shape;4464;g4d53e15ce2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5" name="Google Shape;4465;g4d53e15ce2_0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Quattrocento Sans"/>
              <a:buNone/>
            </a:pPr>
            <a:r>
              <a:rPr lang="en-US" sz="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2014 Microsoft Corporation. All rights reserved. MICROSOFT MAKES NO WARRANTIES, EXPRESS, IMPLIED OR STATUTORY, AS TO THE INFORMATION IN THIS PRESENTATION.</a:t>
            </a:r>
            <a:endParaRPr/>
          </a:p>
        </p:txBody>
      </p:sp>
      <p:sp>
        <p:nvSpPr>
          <p:cNvPr id="4466" name="Google Shape;4466;g4d53e15ce2_0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1/8/2019 7:01 PM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7" name="Google Shape;4467;g4d53e15ce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https://huggingface.co/MaziyarPanahi/calme-3.2-instruct-78b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https://huggingface.co/spaces/open-llm-leaderboard/open_llm_leaderboard#/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62B86-AF6C-4AEF-862A-711E495815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62B86-AF6C-4AEF-862A-711E495815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75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Types of AI Agents</a:t>
            </a:r>
          </a:p>
          <a:p>
            <a:r>
              <a:rPr lang="en-US" b="1" dirty="0"/>
              <a:t>1. Reactive Agents</a:t>
            </a:r>
          </a:p>
          <a:p>
            <a:r>
              <a:rPr lang="en-US" dirty="0"/>
              <a:t>Respond only to the current input. No memory, no planning, no tool use. Fast and simple.</a:t>
            </a:r>
          </a:p>
          <a:p>
            <a:r>
              <a:rPr lang="en-US" b="1" dirty="0"/>
              <a:t>2. Reasoning Agents</a:t>
            </a:r>
          </a:p>
          <a:p>
            <a:r>
              <a:rPr lang="en-US" dirty="0"/>
              <a:t>Use structured reasoning such as </a:t>
            </a:r>
            <a:r>
              <a:rPr lang="en-US" b="1" dirty="0"/>
              <a:t>Chain‑of‑Thought</a:t>
            </a:r>
            <a:r>
              <a:rPr lang="en-US" dirty="0"/>
              <a:t> or </a:t>
            </a:r>
            <a:r>
              <a:rPr lang="en-US" b="1" dirty="0"/>
              <a:t>Tree‑of‑Thought</a:t>
            </a:r>
            <a:r>
              <a:rPr lang="en-US" dirty="0"/>
              <a:t>. Good for logic, math, and multi‑step tasks.</a:t>
            </a:r>
          </a:p>
          <a:p>
            <a:r>
              <a:rPr lang="en-US" b="1" dirty="0"/>
              <a:t>3. Tool‑Using Agents</a:t>
            </a:r>
          </a:p>
          <a:p>
            <a:r>
              <a:rPr lang="en-US" dirty="0"/>
              <a:t>Can call external tools such as functions, APIs, databases, or Python code. Useful for calculators, search, weather, or any real‑world action.</a:t>
            </a:r>
          </a:p>
          <a:p>
            <a:r>
              <a:rPr lang="en-US" b="1" dirty="0"/>
              <a:t>4. </a:t>
            </a:r>
            <a:r>
              <a:rPr lang="en-US" b="1" dirty="0" err="1"/>
              <a:t>ReAct</a:t>
            </a:r>
            <a:r>
              <a:rPr lang="en-US" b="1" dirty="0"/>
              <a:t> Agents</a:t>
            </a:r>
          </a:p>
          <a:p>
            <a:r>
              <a:rPr lang="en-US" dirty="0"/>
              <a:t>Combine </a:t>
            </a:r>
            <a:r>
              <a:rPr lang="en-US" b="1" dirty="0"/>
              <a:t>reasoning</a:t>
            </a:r>
            <a:r>
              <a:rPr lang="en-US" dirty="0"/>
              <a:t> and </a:t>
            </a:r>
            <a:r>
              <a:rPr lang="en-US" b="1" dirty="0"/>
              <a:t>action</a:t>
            </a:r>
            <a:r>
              <a:rPr lang="en-US" dirty="0"/>
              <a:t>: Thought → Action → Observation → Final Answer. This is the foundation of modern agent frameworks.</a:t>
            </a:r>
          </a:p>
          <a:p>
            <a:r>
              <a:rPr lang="en-US" b="1" dirty="0"/>
              <a:t>5. Memory‑Based Agents</a:t>
            </a:r>
          </a:p>
          <a:p>
            <a:r>
              <a:rPr lang="en-US" dirty="0"/>
              <a:t>Store and recall previous interactions. Useful for personal assistants, tutoring, or long‑term workflows.</a:t>
            </a:r>
          </a:p>
          <a:p>
            <a:r>
              <a:rPr lang="en-US" b="1" dirty="0"/>
              <a:t>6. Planning Agents</a:t>
            </a:r>
          </a:p>
          <a:p>
            <a:r>
              <a:rPr lang="en-US" dirty="0"/>
              <a:t>Break tasks into steps, choose strategies, and execute them. Often used in workflow automation and </a:t>
            </a:r>
            <a:r>
              <a:rPr lang="en-US" dirty="0" err="1"/>
              <a:t>LangGraph</a:t>
            </a:r>
            <a:r>
              <a:rPr lang="en-US" dirty="0"/>
              <a:t>‑style systems.</a:t>
            </a:r>
          </a:p>
          <a:p>
            <a:r>
              <a:rPr lang="en-US" b="1" dirty="0"/>
              <a:t>7. Multi‑Tool Agents</a:t>
            </a:r>
          </a:p>
          <a:p>
            <a:r>
              <a:rPr lang="en-US" dirty="0"/>
              <a:t>Can choose between multiple tools dynamically. Your example agent (add, multiply, weather) belongs here.</a:t>
            </a:r>
          </a:p>
          <a:p>
            <a:r>
              <a:rPr lang="en-US" b="1" dirty="0"/>
              <a:t>8. Multi‑Agent Systems</a:t>
            </a:r>
          </a:p>
          <a:p>
            <a:r>
              <a:rPr lang="en-US" dirty="0"/>
              <a:t>Multiple specialized agents collaborating. Used for research, coding, routing, and decision‑making.</a:t>
            </a:r>
          </a:p>
          <a:p>
            <a:r>
              <a:rPr lang="en-US" b="1" dirty="0"/>
              <a:t>9. Autonomous Agents</a:t>
            </a:r>
          </a:p>
          <a:p>
            <a:r>
              <a:rPr lang="en-US" dirty="0"/>
              <a:t>Run loops, self‑correct, and continue until a goal is reached. Similar to </a:t>
            </a:r>
            <a:r>
              <a:rPr lang="en-US" dirty="0" err="1"/>
              <a:t>AutoGPT</a:t>
            </a:r>
            <a:r>
              <a:rPr lang="en-US" dirty="0"/>
              <a:t>‑style behavior.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62B86-AF6C-4AEF-862A-711E4958159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70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62B86-AF6C-4AEF-862A-711E4958159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58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C370E04-F3D7-44F1-9863-6604D12F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5" y="-843808"/>
            <a:ext cx="7454644" cy="520053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100000"/>
              </a:lnSpc>
              <a:spcAft>
                <a:spcPts val="1274"/>
              </a:spcAft>
              <a:defRPr sz="2549" spc="-49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F9C5D-BBFD-AE42-A1D5-DA2C27C2E9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70" y="439310"/>
            <a:ext cx="1335673" cy="190278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4071864E-755E-AD40-A80D-10E454980F16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70" y="6451197"/>
            <a:ext cx="4482124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55530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4A36DC34-EED6-8F49-8473-3802F6C2A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81" y="2532448"/>
            <a:ext cx="9630389" cy="1793104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705" strike="noStrike" spc="-49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Azure presentation title </a:t>
            </a:r>
            <a:br>
              <a:rPr lang="en-US"/>
            </a:br>
            <a:r>
              <a:rPr lang="en-US"/>
              <a:t>or event 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E500E80-DD0C-EF4F-BB7D-03960A098E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466" y="4350114"/>
            <a:ext cx="9602819" cy="724246"/>
          </a:xfrm>
          <a:prstGeom prst="rect">
            <a:avLst/>
          </a:prstGeom>
        </p:spPr>
        <p:txBody>
          <a:bodyPr/>
          <a:lstStyle>
            <a:lvl1pPr>
              <a:defRPr sz="1765">
                <a:solidFill>
                  <a:srgbClr val="000000"/>
                </a:solidFill>
              </a:defRPr>
            </a:lvl1pPr>
            <a:lvl2pPr>
              <a:defRPr sz="1765">
                <a:solidFill>
                  <a:srgbClr val="000000"/>
                </a:solidFill>
              </a:defRPr>
            </a:lvl2pPr>
            <a:lvl3pPr>
              <a:defRPr sz="1372"/>
            </a:lvl3pPr>
            <a:lvl4pPr>
              <a:defRPr sz="1372"/>
            </a:lvl4pPr>
            <a:lvl5pPr>
              <a:defRPr sz="1029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0738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DD3BB94-DC99-244C-91E3-A9764AF267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81" y="2532448"/>
            <a:ext cx="9630389" cy="1793104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705" strike="noStrike" spc="-4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Azure presentation title </a:t>
            </a:r>
            <a:br>
              <a:rPr lang="en-US"/>
            </a:br>
            <a:r>
              <a:rPr lang="en-US"/>
              <a:t>or event name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3FCEA3C-C822-5A4A-9561-695239EA77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466" y="4350114"/>
            <a:ext cx="9602819" cy="724246"/>
          </a:xfrm>
          <a:prstGeom prst="rect">
            <a:avLst/>
          </a:prstGeom>
        </p:spPr>
        <p:txBody>
          <a:bodyPr/>
          <a:lstStyle>
            <a:lvl1pPr>
              <a:defRPr sz="1765">
                <a:solidFill>
                  <a:schemeClr val="bg2"/>
                </a:solidFill>
              </a:defRPr>
            </a:lvl1pPr>
            <a:lvl2pPr>
              <a:defRPr sz="1765">
                <a:solidFill>
                  <a:srgbClr val="000000"/>
                </a:solidFill>
              </a:defRPr>
            </a:lvl2pPr>
            <a:lvl3pPr>
              <a:defRPr sz="1372"/>
            </a:lvl3pPr>
            <a:lvl4pPr>
              <a:defRPr sz="1372"/>
            </a:lvl4pPr>
            <a:lvl5pPr>
              <a:defRPr sz="1029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10873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02B9254-503D-8F44-9D4B-18675DFDE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81" y="2532448"/>
            <a:ext cx="9630389" cy="1793104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705" strike="noStrike" spc="-4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Azure presentation title </a:t>
            </a:r>
            <a:br>
              <a:rPr lang="en-US"/>
            </a:br>
            <a:r>
              <a:rPr lang="en-US"/>
              <a:t>or event 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D6C119F-8C39-DF40-90FE-09B7E3ECD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466" y="4350114"/>
            <a:ext cx="9602819" cy="724246"/>
          </a:xfrm>
          <a:prstGeom prst="rect">
            <a:avLst/>
          </a:prstGeom>
        </p:spPr>
        <p:txBody>
          <a:bodyPr/>
          <a:lstStyle>
            <a:lvl1pPr>
              <a:defRPr sz="1765">
                <a:solidFill>
                  <a:schemeClr val="bg2"/>
                </a:solidFill>
              </a:defRPr>
            </a:lvl1pPr>
            <a:lvl2pPr>
              <a:defRPr sz="1765">
                <a:solidFill>
                  <a:srgbClr val="000000"/>
                </a:solidFill>
              </a:defRPr>
            </a:lvl2pPr>
            <a:lvl3pPr>
              <a:defRPr sz="1372"/>
            </a:lvl3pPr>
            <a:lvl4pPr>
              <a:defRPr sz="1372"/>
            </a:lvl4pPr>
            <a:lvl5pPr>
              <a:defRPr sz="1029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8552803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D09A9D1-6212-8B49-96D7-B3E9D17D4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81" y="2532448"/>
            <a:ext cx="5428936" cy="1793104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705" strike="noStrike" spc="-49" baseline="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pic>
        <p:nvPicPr>
          <p:cNvPr id="11" name="Picture 10" descr="Microsoft Azure logo">
            <a:extLst>
              <a:ext uri="{FF2B5EF4-FFF2-40B4-BE49-F238E27FC236}">
                <a16:creationId xmlns:a16="http://schemas.microsoft.com/office/drawing/2014/main" id="{AFDC29EE-BDE7-4363-B0FC-728521A36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69" y="439311"/>
            <a:ext cx="1335673" cy="18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5999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81" y="2532448"/>
            <a:ext cx="5428936" cy="1793104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705" strike="noStrike" spc="-49" baseline="0"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7" name="Picture 6" descr="Microsoft Azure logo">
            <a:extLst>
              <a:ext uri="{FF2B5EF4-FFF2-40B4-BE49-F238E27FC236}">
                <a16:creationId xmlns:a16="http://schemas.microsoft.com/office/drawing/2014/main" id="{E240E402-78E0-4417-8CDE-3DC59D3DF5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69" y="439311"/>
            <a:ext cx="1335673" cy="18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9045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1168943"/>
            <a:ext cx="3618381" cy="899665"/>
          </a:xfrm>
          <a:prstGeom prst="rect">
            <a:avLst/>
          </a:prstGeom>
        </p:spPr>
        <p:txBody>
          <a:bodyPr lIns="0" tIns="0" rIns="0" bIns="0"/>
          <a:lstStyle>
            <a:lvl1pPr>
              <a:defRPr sz="1765" spc="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29843" y="1168943"/>
            <a:ext cx="547437" cy="37869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defTabSz="507330">
              <a:spcAft>
                <a:spcPts val="490"/>
              </a:spcAft>
              <a:buNone/>
              <a:defRPr sz="1765" spc="0" baseline="0">
                <a:solidFill>
                  <a:schemeClr val="tx2"/>
                </a:solidFill>
              </a:defRPr>
            </a:lvl1pPr>
            <a:lvl2pPr marL="224097" indent="0">
              <a:buNone/>
              <a:defRPr sz="1765"/>
            </a:lvl2pPr>
            <a:lvl3pPr marL="448193" indent="0">
              <a:buNone/>
              <a:defRPr sz="1765"/>
            </a:lvl3pPr>
            <a:lvl4pPr marL="672290" indent="0">
              <a:buNone/>
              <a:defRPr sz="1765"/>
            </a:lvl4pPr>
            <a:lvl5pPr marL="896386" indent="0">
              <a:buNone/>
              <a:defRPr sz="1765"/>
            </a:lvl5pPr>
          </a:lstStyle>
          <a:p>
            <a:pPr lvl="0"/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F941B29-79EC-DD49-A767-757BAE16F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280" y="1168942"/>
            <a:ext cx="3290380" cy="37869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defTabSz="507330">
              <a:spcAft>
                <a:spcPts val="490"/>
              </a:spcAft>
              <a:buNone/>
              <a:defRPr sz="1765" spc="0" baseline="0">
                <a:solidFill>
                  <a:srgbClr val="000000"/>
                </a:solidFill>
              </a:defRPr>
            </a:lvl1pPr>
            <a:lvl2pPr marL="224097" indent="0">
              <a:buNone/>
              <a:defRPr sz="1765"/>
            </a:lvl2pPr>
            <a:lvl3pPr marL="448193" indent="0">
              <a:buNone/>
              <a:defRPr sz="1765"/>
            </a:lvl3pPr>
            <a:lvl4pPr marL="672290" indent="0">
              <a:buNone/>
              <a:defRPr sz="1765"/>
            </a:lvl4pPr>
            <a:lvl5pPr marL="896386" indent="0">
              <a:buNone/>
              <a:defRPr sz="1765"/>
            </a:lvl5pPr>
          </a:lstStyle>
          <a:p>
            <a:pPr lvl="0"/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263006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28/32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801"/>
            <a:ext cx="11306469" cy="287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353"/>
              </a:lnSpc>
              <a:buNone/>
              <a:defRPr sz="1961" b="0" i="0" spc="0">
                <a:solidFill>
                  <a:srgbClr val="000000"/>
                </a:solidFill>
                <a:latin typeface="+mj-lt"/>
              </a:defRPr>
            </a:lvl1pPr>
            <a:lvl2pPr marL="0" indent="0">
              <a:lnSpc>
                <a:spcPts val="2353"/>
              </a:lnSpc>
              <a:buNone/>
              <a:defRPr spc="0">
                <a:solidFill>
                  <a:srgbClr val="000000"/>
                </a:solidFill>
                <a:latin typeface="+mn-lt"/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1"/>
            <a:r>
              <a:rPr lang="en-US"/>
              <a:t>Large: subhead Segoe UI Regular 20/24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55995" y="3015704"/>
            <a:ext cx="11306469" cy="216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None/>
              <a:defRPr sz="1372" b="0" spc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 spc="0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Medium: paragraph 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6E35749-090F-0542-9B4B-BF37EFC334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995" y="4503832"/>
            <a:ext cx="11306469" cy="150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176"/>
              </a:lnSpc>
              <a:spcBef>
                <a:spcPts val="0"/>
              </a:spcBef>
              <a:buNone/>
              <a:defRPr sz="980" spc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80" spc="0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0" indent="0">
              <a:lnSpc>
                <a:spcPct val="100000"/>
              </a:lnSpc>
              <a:buNone/>
              <a:defRPr>
                <a:solidFill>
                  <a:srgbClr val="000000"/>
                </a:solidFill>
              </a:defRPr>
            </a:lvl5pPr>
          </a:lstStyle>
          <a:p>
            <a:pPr lvl="1"/>
            <a:r>
              <a:rPr lang="en-US"/>
              <a:t>Small: caption body copy Segoe Regular 10/12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8F32AD9-0E33-284C-8468-E63BF69AF2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4169" y="4299924"/>
            <a:ext cx="11306469" cy="243143"/>
          </a:xfrm>
          <a:prstGeom prst="rect">
            <a:avLst/>
          </a:prstGeom>
        </p:spPr>
        <p:txBody>
          <a:bodyPr tIns="0"/>
          <a:lstStyle>
            <a:lvl1pPr>
              <a:defRPr lang="en-US" sz="98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Small: caption title Segoe UI Bold 10/12. 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A46FDB1-D336-7C45-BF92-D58B6C550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4169" y="3258992"/>
            <a:ext cx="11306469" cy="216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None/>
              <a:defRPr sz="1372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Medium: body copy Segoe UI Regular 14/18</a:t>
            </a:r>
          </a:p>
        </p:txBody>
      </p:sp>
    </p:spTree>
    <p:extLst>
      <p:ext uri="{BB962C8B-B14F-4D97-AF65-F5344CB8AC3E}">
        <p14:creationId xmlns:p14="http://schemas.microsoft.com/office/powerpoint/2010/main" val="66100331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28/32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6"/>
            <a:ext cx="9384447" cy="3365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br>
              <a:rPr lang="en-US"/>
            </a:br>
            <a:endParaRPr lang="en-US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br>
              <a:rPr lang="en-US"/>
            </a:br>
            <a:endParaRPr lang="en-US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6308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Text option 1: three column bulleted list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7"/>
            <a:ext cx="9384447" cy="6035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353"/>
              </a:lnSpc>
              <a:buNone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Subhead Segoe UI Regular 20/24. Dis </a:t>
            </a:r>
            <a:r>
              <a:rPr lang="en-US" err="1"/>
              <a:t>apid</a:t>
            </a:r>
            <a:r>
              <a:rPr lang="en-US"/>
              <a:t> </a:t>
            </a:r>
            <a:r>
              <a:rPr lang="en-US" err="1"/>
              <a:t>es</a:t>
            </a:r>
            <a:r>
              <a:rPr lang="en-US"/>
              <a:t>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</a:t>
            </a:r>
            <a:r>
              <a:rPr lang="en-US" err="1"/>
              <a:t>vit</a:t>
            </a:r>
            <a:r>
              <a:rPr lang="en-US"/>
              <a:t>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r>
              <a:rPr lang="en-US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55995" y="3151388"/>
            <a:ext cx="3618381" cy="216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spcAft>
                <a:spcPts val="588"/>
              </a:spcAft>
              <a:buNone/>
              <a:defRPr sz="1372" b="0" spc="0" baseline="0">
                <a:solidFill>
                  <a:schemeClr val="tx2"/>
                </a:solidFill>
                <a:latin typeface="+mj-lt"/>
              </a:defRPr>
            </a:lvl1pPr>
            <a:lvl2pPr marL="280121" marR="0" indent="-280121" algn="l" defTabSz="914367" rtl="0" eaLnBrk="1" fontAlgn="auto" latinLnBrk="0" hangingPunct="1">
              <a:lnSpc>
                <a:spcPts val="1765"/>
              </a:lnSpc>
              <a:spcBef>
                <a:spcPts val="0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372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3383CEA-4FEB-4C9E-B7D6-3B36BC8EB7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449" y="3151388"/>
            <a:ext cx="3618381" cy="216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spcAft>
                <a:spcPts val="588"/>
              </a:spcAft>
              <a:buNone/>
              <a:defRPr sz="1372" b="0" spc="0" baseline="0">
                <a:solidFill>
                  <a:schemeClr val="tx2"/>
                </a:solidFill>
                <a:latin typeface="+mj-lt"/>
              </a:defRPr>
            </a:lvl1pPr>
            <a:lvl2pPr marL="280121" marR="0" indent="-280121" algn="l" defTabSz="914367" rtl="0" eaLnBrk="1" fontAlgn="auto" latinLnBrk="0" hangingPunct="1">
              <a:lnSpc>
                <a:spcPts val="1765"/>
              </a:lnSpc>
              <a:spcBef>
                <a:spcPts val="0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372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5007055-7118-477F-B301-DB401591FA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9960" y="3151388"/>
            <a:ext cx="3618381" cy="216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spcAft>
                <a:spcPts val="588"/>
              </a:spcAft>
              <a:buNone/>
              <a:defRPr sz="1372" b="0" spc="0" baseline="0">
                <a:solidFill>
                  <a:schemeClr val="tx2"/>
                </a:solidFill>
                <a:latin typeface="+mj-lt"/>
              </a:defRPr>
            </a:lvl1pPr>
            <a:lvl2pPr marL="280121" marR="0" indent="-280121" algn="l" defTabSz="914367" rtl="0" eaLnBrk="1" fontAlgn="auto" latinLnBrk="0" hangingPunct="1">
              <a:lnSpc>
                <a:spcPts val="1765"/>
              </a:lnSpc>
              <a:spcBef>
                <a:spcPts val="0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372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951A14E-1D63-9E44-9361-FD57A8BD81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169" y="3378439"/>
            <a:ext cx="3618381" cy="2059666"/>
          </a:xfrm>
          <a:prstGeom prst="rect">
            <a:avLst/>
          </a:prstGeom>
        </p:spPr>
        <p:txBody>
          <a:bodyPr lIns="0" tIns="0" rIns="0" bIns="0"/>
          <a:lstStyle>
            <a:lvl1pPr marL="280121" indent="-280121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72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C3BF983-4009-1049-9AD7-C94BE3AA19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8449" y="3378439"/>
            <a:ext cx="3618381" cy="2059666"/>
          </a:xfrm>
          <a:prstGeom prst="rect">
            <a:avLst/>
          </a:prstGeom>
        </p:spPr>
        <p:txBody>
          <a:bodyPr lIns="0" tIns="0" rIns="0" bIns="0"/>
          <a:lstStyle>
            <a:lvl1pPr marL="280121" indent="-280121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72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361C016-E331-F44F-ACAE-52E4AE7346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56766" y="3378439"/>
            <a:ext cx="3618381" cy="2059666"/>
          </a:xfrm>
          <a:prstGeom prst="rect">
            <a:avLst/>
          </a:prstGeom>
        </p:spPr>
        <p:txBody>
          <a:bodyPr lIns="0" tIns="0" rIns="0" bIns="0"/>
          <a:lstStyle>
            <a:lvl1pPr marL="280121" indent="-280121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72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1084618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Text option 2: two columns copy heavy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E39B6D-21AF-485C-B606-D6EA2489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995" y="2363622"/>
            <a:ext cx="3618381" cy="216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372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0D85DDD-B7EA-4D73-BA98-A5ACF1DB2D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151" y="2363622"/>
            <a:ext cx="3618381" cy="216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lang="en-US" sz="1372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A6E05B-C65A-8C44-AC8B-AA08746E66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995" y="2593749"/>
            <a:ext cx="3618381" cy="20596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None/>
              <a:defRPr sz="1372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52482AC-A354-B546-9AAD-B3E0285120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86809" y="2593749"/>
            <a:ext cx="3618381" cy="20596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None/>
              <a:defRPr sz="1372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1160556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 strike="noStrike"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684355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3227821"/>
            <a:ext cx="2457386" cy="40235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ts val="3137"/>
              </a:lnSpc>
              <a:defRPr sz="2745" strike="noStrike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2927990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5"/>
          <p:cNvSpPr>
            <a:spLocks noGrp="1"/>
          </p:cNvSpPr>
          <p:nvPr>
            <p:ph type="title" hasCustomPrompt="1"/>
          </p:nvPr>
        </p:nvSpPr>
        <p:spPr>
          <a:xfrm>
            <a:off x="455994" y="941692"/>
            <a:ext cx="7454643" cy="355819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705" spc="-49" baseline="0" dirty="0">
                <a:solidFill>
                  <a:srgbClr val="000000"/>
                </a:solidFill>
              </a:defRPr>
            </a:lvl1pPr>
          </a:lstStyle>
          <a:p>
            <a:pPr marL="0" lvl="0">
              <a:lnSpc>
                <a:spcPts val="549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313250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5"/>
          <p:cNvSpPr>
            <a:spLocks noGrp="1"/>
          </p:cNvSpPr>
          <p:nvPr>
            <p:ph type="title" hasCustomPrompt="1"/>
          </p:nvPr>
        </p:nvSpPr>
        <p:spPr>
          <a:xfrm>
            <a:off x="455994" y="941692"/>
            <a:ext cx="7454643" cy="355819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705" spc="-49" baseline="0" dirty="0">
                <a:solidFill>
                  <a:srgbClr val="FFFFFF"/>
                </a:solidFill>
              </a:defRPr>
            </a:lvl1pPr>
          </a:lstStyle>
          <a:p>
            <a:pPr marL="0" lvl="0">
              <a:lnSpc>
                <a:spcPts val="549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5024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3227431"/>
            <a:ext cx="7454644" cy="403137"/>
          </a:xfrm>
        </p:spPr>
        <p:txBody>
          <a:bodyPr wrap="square" lIns="0" tIns="0" rIns="0" bIns="0" anchor="ctr">
            <a:spAutoFit/>
          </a:bodyPr>
          <a:lstStyle>
            <a:lvl1pPr algn="l" defTabSz="914367" rtl="0" eaLnBrk="1" latinLnBrk="0" hangingPunct="1">
              <a:lnSpc>
                <a:spcPts val="3137"/>
              </a:lnSpc>
              <a:spcBef>
                <a:spcPct val="0"/>
              </a:spcBef>
              <a:buNone/>
              <a:defRPr lang="en-US" sz="3137" b="0" strike="noStrike" kern="1200" cap="none" spc="-49" baseline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07593299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5"/>
          <p:cNvSpPr>
            <a:spLocks noGrp="1"/>
          </p:cNvSpPr>
          <p:nvPr>
            <p:ph type="title" hasCustomPrompt="1"/>
          </p:nvPr>
        </p:nvSpPr>
        <p:spPr>
          <a:xfrm>
            <a:off x="455994" y="941692"/>
            <a:ext cx="7454643" cy="355819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705" spc="-49" baseline="0" dirty="0">
                <a:solidFill>
                  <a:srgbClr val="FFFFFF"/>
                </a:solidFill>
              </a:defRPr>
            </a:lvl1pPr>
          </a:lstStyle>
          <a:p>
            <a:pPr marL="0" lvl="0">
              <a:lnSpc>
                <a:spcPts val="549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05987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18211" y="620428"/>
            <a:ext cx="554195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Photo layout 1</a:t>
            </a:r>
          </a:p>
        </p:txBody>
      </p:sp>
      <p:pic>
        <p:nvPicPr>
          <p:cNvPr id="9" name="Picture Placeholder 6" descr="A lady working in a laptop in her office">
            <a:extLst>
              <a:ext uri="{FF2B5EF4-FFF2-40B4-BE49-F238E27FC236}">
                <a16:creationId xmlns:a16="http://schemas.microsoft.com/office/drawing/2014/main" id="{7BE34D8D-0B0F-4471-8D43-E938D499D2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5973789" cy="685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59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21"/>
          </p:nvPr>
        </p:nvSpPr>
        <p:spPr>
          <a:xfrm>
            <a:off x="455996" y="1950780"/>
            <a:ext cx="3618377" cy="353484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353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Chart examples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5992" y="5857162"/>
            <a:ext cx="3618381" cy="3017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176"/>
              </a:lnSpc>
              <a:spcBef>
                <a:spcPts val="882"/>
              </a:spcBef>
              <a:buFont typeface="Arial" panose="020B0604020202020204" pitchFamily="34" charset="0"/>
              <a:buNone/>
              <a:defRPr sz="980" b="0" i="0" spc="0">
                <a:solidFill>
                  <a:srgbClr val="000000"/>
                </a:solidFill>
                <a:latin typeface="+mn-lt"/>
              </a:defRPr>
            </a:lvl1pPr>
            <a:lvl2pPr marL="0" marR="0" indent="0" algn="l" defTabSz="914367" rtl="0" eaLnBrk="1" fontAlgn="auto" latinLnBrk="0" hangingPunct="1">
              <a:lnSpc>
                <a:spcPts val="1176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98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303152" y="5857162"/>
            <a:ext cx="3607487" cy="30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tabLst/>
              <a:defRPr lang="en-US" sz="980" b="0" i="0" spc="0" dirty="0" smtClean="0">
                <a:solidFill>
                  <a:srgbClr val="000000"/>
                </a:solidFill>
                <a:latin typeface="+mn-lt"/>
              </a:defRPr>
            </a:lvl1pPr>
          </a:lstStyle>
          <a:p>
            <a:pPr marL="0" lvl="0" indent="0">
              <a:lnSpc>
                <a:spcPts val="1176"/>
              </a:lnSpc>
              <a:spcBef>
                <a:spcPts val="882"/>
              </a:spcBef>
              <a:buFont typeface="Arial" panose="020B0604020202020204" pitchFamily="34" charset="0"/>
              <a:buNone/>
            </a:pPr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20" name="Chart Placeholder 6"/>
          <p:cNvSpPr>
            <a:spLocks noGrp="1"/>
          </p:cNvSpPr>
          <p:nvPr>
            <p:ph type="chart" sz="quarter" idx="22"/>
          </p:nvPr>
        </p:nvSpPr>
        <p:spPr>
          <a:xfrm>
            <a:off x="4303152" y="1950780"/>
            <a:ext cx="3607487" cy="353484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353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1" name="Chart Placeholder 6"/>
          <p:cNvSpPr>
            <a:spLocks noGrp="1"/>
          </p:cNvSpPr>
          <p:nvPr>
            <p:ph type="chart" sz="quarter" idx="23"/>
          </p:nvPr>
        </p:nvSpPr>
        <p:spPr>
          <a:xfrm>
            <a:off x="8139412" y="1950780"/>
            <a:ext cx="3623051" cy="353484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353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B6B82-41EF-4F96-AC4D-4B6DF0A1F5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5991" y="5670381"/>
            <a:ext cx="3629278" cy="241415"/>
          </a:xfrm>
          <a:prstGeom prst="rect">
            <a:avLst/>
          </a:prstGeom>
        </p:spPr>
        <p:txBody>
          <a:bodyPr tIns="0"/>
          <a:lstStyle>
            <a:lvl1pPr>
              <a:defRPr lang="en-US" sz="98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10/12. 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FC93-5F54-47F0-9569-BECC76A76C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4044" y="5670381"/>
            <a:ext cx="3629278" cy="241415"/>
          </a:xfrm>
          <a:prstGeom prst="rect">
            <a:avLst/>
          </a:prstGeom>
        </p:spPr>
        <p:txBody>
          <a:bodyPr tIns="0"/>
          <a:lstStyle>
            <a:lvl1pPr>
              <a:defRPr lang="en-US" sz="98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10/12. 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EDACCCB-301A-4273-9EA6-AD055BB5B0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39413" y="5670381"/>
            <a:ext cx="3629278" cy="241415"/>
          </a:xfrm>
          <a:prstGeom prst="rect">
            <a:avLst/>
          </a:prstGeom>
        </p:spPr>
        <p:txBody>
          <a:bodyPr tIns="0"/>
          <a:lstStyle>
            <a:lvl1pPr>
              <a:defRPr lang="en-US" sz="98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10/12.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37057046-E219-41F6-8045-1E763292CB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39413" y="5857162"/>
            <a:ext cx="3607487" cy="30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tabLst/>
              <a:defRPr lang="en-US" sz="980" b="0" i="0" spc="0" dirty="0" smtClean="0">
                <a:solidFill>
                  <a:srgbClr val="000000"/>
                </a:solidFill>
                <a:latin typeface="+mn-lt"/>
              </a:defRPr>
            </a:lvl1pPr>
          </a:lstStyle>
          <a:p>
            <a:pPr marL="0" lvl="0" indent="0">
              <a:lnSpc>
                <a:spcPts val="1176"/>
              </a:lnSpc>
              <a:spcBef>
                <a:spcPts val="882"/>
              </a:spcBef>
              <a:buFont typeface="Arial" panose="020B0604020202020204" pitchFamily="34" charset="0"/>
              <a:buNone/>
            </a:pPr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</p:spTree>
    <p:extLst>
      <p:ext uri="{BB962C8B-B14F-4D97-AF65-F5344CB8AC3E}">
        <p14:creationId xmlns:p14="http://schemas.microsoft.com/office/powerpoint/2010/main" val="339804966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Table styling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455995" y="3924852"/>
            <a:ext cx="11306469" cy="546753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8999292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69240" y="1189178"/>
            <a:ext cx="11653523" cy="2293193"/>
          </a:xfrm>
          <a:prstGeom prst="rect">
            <a:avLst/>
          </a:prstGeom>
        </p:spPr>
        <p:txBody>
          <a:bodyPr/>
          <a:lstStyle>
            <a:lvl1pPr marL="284735" indent="-284735"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3528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60134" indent="-275401"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3136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44869" indent="-284735"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745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68923" indent="-224054"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353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292976" indent="-224054"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196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8644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 Solid">
  <p:cSld name="9_Title Slide Solid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818" y="0"/>
            <a:ext cx="1219027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5"/>
          <p:cNvSpPr/>
          <p:nvPr/>
        </p:nvSpPr>
        <p:spPr>
          <a:xfrm>
            <a:off x="-15725" y="0"/>
            <a:ext cx="5984100" cy="6858000"/>
          </a:xfrm>
          <a:prstGeom prst="rect">
            <a:avLst/>
          </a:prstGeom>
          <a:solidFill>
            <a:srgbClr val="000000">
              <a:alpha val="54900"/>
            </a:srgbClr>
          </a:solidFill>
          <a:ln>
            <a:noFill/>
          </a:ln>
        </p:spPr>
        <p:txBody>
          <a:bodyPr spcFirstLastPara="1" wrap="square" lIns="179200" tIns="143375" rIns="179200" bIns="1433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5"/>
          <p:cNvSpPr txBox="1">
            <a:spLocks noGrp="1"/>
          </p:cNvSpPr>
          <p:nvPr>
            <p:ph type="title"/>
          </p:nvPr>
        </p:nvSpPr>
        <p:spPr>
          <a:xfrm>
            <a:off x="150852" y="2057400"/>
            <a:ext cx="5211600" cy="27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182875" rIns="146300" bIns="91425" anchor="t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pic>
        <p:nvPicPr>
          <p:cNvPr id="392" name="Google Shape;392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42" y="200781"/>
            <a:ext cx="1946824" cy="71594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5"/>
          <p:cNvSpPr txBox="1">
            <a:spLocks noGrp="1"/>
          </p:cNvSpPr>
          <p:nvPr>
            <p:ph type="body" idx="1"/>
          </p:nvPr>
        </p:nvSpPr>
        <p:spPr>
          <a:xfrm>
            <a:off x="150852" y="4800602"/>
            <a:ext cx="521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91425" rIns="91425" bIns="45700" anchor="t" anchorCtr="0"/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marL="2743200" lvl="5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1662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>
            <a:lvl1pPr algn="ctr"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31453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78126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94" y="556381"/>
            <a:ext cx="11303917" cy="813819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28/32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994" y="1817560"/>
            <a:ext cx="11231768" cy="2021853"/>
          </a:xfrm>
          <a:prstGeom prst="rect">
            <a:avLst/>
          </a:prstGeom>
        </p:spPr>
        <p:txBody>
          <a:bodyPr vert="horz" wrap="square" lIns="0" tIns="91440" rIns="146304" bIns="91440" rtlCol="0">
            <a:spAutoFit/>
          </a:bodyPr>
          <a:lstStyle/>
          <a:p>
            <a:pPr lvl="1"/>
            <a:r>
              <a:rPr lang="en-US"/>
              <a:t>Large: subhead Segoe UI Regular 20/24</a:t>
            </a:r>
          </a:p>
          <a:p>
            <a:pPr lvl="1"/>
            <a:endParaRPr lang="en-US"/>
          </a:p>
          <a:p>
            <a:pPr lvl="2"/>
            <a:r>
              <a:rPr lang="en-US"/>
              <a:t>Medium: paragraph 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  <a:p>
            <a:pPr lvl="3"/>
            <a:r>
              <a:rPr lang="en-US"/>
              <a:t>Medium: paragraph body copy Segoe UI Regular 14/18</a:t>
            </a:r>
          </a:p>
          <a:p>
            <a:pPr lvl="3"/>
            <a:endParaRPr lang="en-US"/>
          </a:p>
          <a:p>
            <a:pPr lvl="4"/>
            <a:r>
              <a:rPr lang="en-US"/>
              <a:t>Small: caption heading Segoe UI Bold 10/12</a:t>
            </a:r>
          </a:p>
          <a:p>
            <a:pPr lvl="6"/>
            <a:r>
              <a:rPr lang="en-US"/>
              <a:t>Small: caption body copy Segoe UI Regular 10/12</a:t>
            </a:r>
          </a:p>
          <a:p>
            <a:pPr lvl="6"/>
            <a:endParaRPr lang="en-US"/>
          </a:p>
          <a:p>
            <a:pPr lvl="6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432277" y="2842059"/>
            <a:ext cx="6843271" cy="116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0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4" r:id="rId22"/>
    <p:sldLayoutId id="2147483686" r:id="rId23"/>
    <p:sldLayoutId id="2147483689" r:id="rId24"/>
  </p:sldLayoutIdLst>
  <p:transition>
    <p:fade/>
  </p:transition>
  <p:hf hdr="0" dt="0"/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2745" b="0" kern="1200" cap="none" spc="-49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14367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353" kern="1200" spc="-49" baseline="0">
          <a:solidFill>
            <a:srgbClr val="000000"/>
          </a:solidFill>
          <a:latin typeface="+mj-lt"/>
          <a:ea typeface="+mn-ea"/>
          <a:cs typeface="+mn-cs"/>
        </a:defRPr>
      </a:lvl1pPr>
      <a:lvl2pPr marL="0" marR="0" indent="0" algn="l" defTabSz="914367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Tx/>
        <a:buNone/>
        <a:tabLst/>
        <a:defRPr sz="1961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0" marR="0" indent="0" algn="l" defTabSz="914367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372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14367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372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0" marR="0" indent="0" algn="l" defTabSz="914367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980" b="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5916" indent="0" algn="l" defTabSz="914367" rtl="0" eaLnBrk="1" latinLnBrk="0" hangingPunct="1">
        <a:spcBef>
          <a:spcPct val="20000"/>
        </a:spcBef>
        <a:buFont typeface="Arial" pitchFamily="34" charset="0"/>
        <a:buNone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67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980" kern="1200">
          <a:solidFill>
            <a:srgbClr val="000000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>
          <p15:clr>
            <a:srgbClr val="C35EA4"/>
          </p15:clr>
        </p15:guide>
        <p15:guide id="32" pos="1528">
          <p15:clr>
            <a:srgbClr val="C35EA4"/>
          </p15:clr>
        </p15:guide>
        <p15:guide id="33" pos="2621">
          <p15:clr>
            <a:srgbClr val="C35EA4"/>
          </p15:clr>
        </p15:guide>
        <p15:guide id="34" pos="2765">
          <p15:clr>
            <a:srgbClr val="C35EA4"/>
          </p15:clr>
        </p15:guide>
        <p15:guide id="35" pos="3854">
          <p15:clr>
            <a:srgbClr val="C35EA4"/>
          </p15:clr>
        </p15:guide>
        <p15:guide id="36" pos="4003">
          <p15:clr>
            <a:srgbClr val="C35EA4"/>
          </p15:clr>
        </p15:guide>
        <p15:guide id="37" pos="5083">
          <p15:clr>
            <a:srgbClr val="C35EA4"/>
          </p15:clr>
        </p15:guide>
        <p15:guide id="38" pos="5230">
          <p15:clr>
            <a:srgbClr val="C35EA4"/>
          </p15:clr>
        </p15:guide>
        <p15:guide id="39" pos="6323">
          <p15:clr>
            <a:srgbClr val="C35EA4"/>
          </p15:clr>
        </p15:guide>
        <p15:guide id="40" pos="6469">
          <p15:clr>
            <a:srgbClr val="C35EA4"/>
          </p15:clr>
        </p15:guide>
        <p15:guide id="41" pos="269">
          <p15:clr>
            <a:srgbClr val="F26B43"/>
          </p15:clr>
        </p15:guide>
        <p15:guide id="42" pos="7565">
          <p15:clr>
            <a:srgbClr val="F26B43"/>
          </p15:clr>
        </p15:guide>
        <p15:guide id="43" orient="horz" pos="751">
          <p15:clr>
            <a:srgbClr val="5ACBF0"/>
          </p15:clr>
        </p15:guide>
        <p15:guide id="44" orient="horz" pos="1387">
          <p15:clr>
            <a:srgbClr val="5ACBF0"/>
          </p15:clr>
        </p15:guide>
        <p15:guide id="45" orient="horz" pos="605">
          <p15:clr>
            <a:srgbClr val="5ACBF0"/>
          </p15:clr>
        </p15:guide>
        <p15:guide id="46" orient="horz" pos="1514">
          <p15:clr>
            <a:srgbClr val="5ACBF0"/>
          </p15:clr>
        </p15:guide>
        <p15:guide id="47" orient="horz" pos="2130">
          <p15:clr>
            <a:srgbClr val="5ACBF0"/>
          </p15:clr>
        </p15:guide>
        <p15:guide id="48" orient="horz" pos="2299">
          <p15:clr>
            <a:srgbClr val="5ACBF0"/>
          </p15:clr>
        </p15:guide>
        <p15:guide id="49" orient="horz" pos="283">
          <p15:clr>
            <a:srgbClr val="F26B43"/>
          </p15:clr>
        </p15:guide>
        <p15:guide id="50" orient="horz" pos="4123">
          <p15:clr>
            <a:srgbClr val="F26B43"/>
          </p15:clr>
        </p15:guide>
        <p15:guide id="51" orient="horz" pos="2891">
          <p15:clr>
            <a:srgbClr val="5ACBF0"/>
          </p15:clr>
        </p15:guide>
        <p15:guide id="52" orient="horz" pos="3019">
          <p15:clr>
            <a:srgbClr val="5ACBF0"/>
          </p15:clr>
        </p15:guide>
        <p15:guide id="53" orient="horz" pos="3643">
          <p15:clr>
            <a:srgbClr val="5ACBF0"/>
          </p15:clr>
        </p15:guide>
        <p15:guide id="54" orient="horz" pos="3763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2.jpg"/><Relationship Id="rId4" Type="http://schemas.openxmlformats.org/officeDocument/2006/relationships/hyperlink" Target="http://commons.wikimedia.org/wiki/file:london_eye_(1302205182).jpg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3" Type="http://schemas.openxmlformats.org/officeDocument/2006/relationships/image" Target="../media/image14.png"/><Relationship Id="rId7" Type="http://schemas.openxmlformats.org/officeDocument/2006/relationships/image" Target="../media/image12.jpg"/><Relationship Id="rId12" Type="http://schemas.openxmlformats.org/officeDocument/2006/relationships/image" Target="../media/image2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jp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Shape 4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1B17D7-A407-C0D5-DCB5-FC0E4DEA8034}"/>
              </a:ext>
            </a:extLst>
          </p:cNvPr>
          <p:cNvSpPr/>
          <p:nvPr/>
        </p:nvSpPr>
        <p:spPr bwMode="auto">
          <a:xfrm>
            <a:off x="4398579" y="4767404"/>
            <a:ext cx="9979726" cy="1795707"/>
          </a:xfrm>
          <a:prstGeom prst="rect">
            <a:avLst/>
          </a:prstGeom>
          <a:solidFill>
            <a:schemeClr val="dk1">
              <a:alpha val="6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69" name="Google Shape;4469;p168"/>
          <p:cNvSpPr txBox="1">
            <a:spLocks noGrp="1"/>
          </p:cNvSpPr>
          <p:nvPr>
            <p:ph type="title"/>
          </p:nvPr>
        </p:nvSpPr>
        <p:spPr>
          <a:xfrm>
            <a:off x="4398579" y="4767404"/>
            <a:ext cx="13773127" cy="81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182875" rIns="146300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Calibri"/>
              <a:buNone/>
            </a:pPr>
            <a:r>
              <a:rPr lang="en-US" sz="4500" b="1" dirty="0"/>
              <a:t>GENERATIVE AI IN DEPTH </a:t>
            </a:r>
          </a:p>
        </p:txBody>
      </p:sp>
      <p:sp>
        <p:nvSpPr>
          <p:cNvPr id="4" name="Google Shape;4470;p168">
            <a:extLst>
              <a:ext uri="{FF2B5EF4-FFF2-40B4-BE49-F238E27FC236}">
                <a16:creationId xmlns:a16="http://schemas.microsoft.com/office/drawing/2014/main" id="{AD32B7FD-3A13-4946-BCDA-E2B72C2237E2}"/>
              </a:ext>
            </a:extLst>
          </p:cNvPr>
          <p:cNvSpPr txBox="1">
            <a:spLocks/>
          </p:cNvSpPr>
          <p:nvPr/>
        </p:nvSpPr>
        <p:spPr>
          <a:xfrm>
            <a:off x="4398579" y="5752573"/>
            <a:ext cx="6305100" cy="110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75" tIns="91425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Clr>
                <a:srgbClr val="FFFFFF"/>
              </a:buClr>
            </a:pPr>
            <a:r>
              <a:rPr lang="en-US" sz="2400" dirty="0"/>
              <a:t>Usama wahab Khan</a:t>
            </a:r>
          </a:p>
          <a:p>
            <a:pPr marL="0" indent="0">
              <a:buClr>
                <a:srgbClr val="FFFFFF"/>
              </a:buClr>
            </a:pPr>
            <a:r>
              <a:rPr lang="en-US" sz="2400" dirty="0"/>
              <a:t>MVP,MCT, CTO @Evolution Technologies</a:t>
            </a:r>
          </a:p>
          <a:p>
            <a:pPr marL="0" indent="0">
              <a:buClr>
                <a:srgbClr val="FFFFFF"/>
              </a:buClr>
            </a:pPr>
            <a:endParaRPr lang="en-US" sz="2400" dirty="0"/>
          </a:p>
          <a:p>
            <a:pPr marL="0" indent="0">
              <a:buClr>
                <a:srgbClr val="FFFFFF"/>
              </a:buClr>
            </a:pPr>
            <a:endParaRPr lang="en-US" sz="2400" dirty="0"/>
          </a:p>
          <a:p>
            <a:pPr marL="0" indent="0">
              <a:buClr>
                <a:srgbClr val="FFFFFF"/>
              </a:buClr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289684-FF02-4C28-8B38-6A6346344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611" y="294889"/>
            <a:ext cx="2222595" cy="769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A95EBF-4C1C-ECC6-F5A9-9305EEB5A370}"/>
              </a:ext>
            </a:extLst>
          </p:cNvPr>
          <p:cNvSpPr txBox="1"/>
          <p:nvPr/>
        </p:nvSpPr>
        <p:spPr>
          <a:xfrm>
            <a:off x="254794" y="294889"/>
            <a:ext cx="908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GENERATIVE AI </a:t>
            </a:r>
            <a:r>
              <a:rPr lang="en-US" b="1" dirty="0"/>
              <a:t>Bootcamp</a:t>
            </a:r>
            <a:r>
              <a:rPr lang="en-US" sz="1800" b="1" dirty="0"/>
              <a:t> 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F35C-D8A6-4174-B5DB-3CCCA46DF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51" y="2525890"/>
            <a:ext cx="9630389" cy="179310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Usama Wahab Khan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76160-9EC4-4895-BA35-2F794C0955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46923" y="4142420"/>
            <a:ext cx="9602819" cy="99950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Father, data Scientist, Developer/Nerd, Traveler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C:\Users\usama\Desktop\Syed-Khairuddin-awarded-Microsoft-Community-Contributor-Award.jpg">
            <a:extLst>
              <a:ext uri="{FF2B5EF4-FFF2-40B4-BE49-F238E27FC236}">
                <a16:creationId xmlns:a16="http://schemas.microsoft.com/office/drawing/2014/main" id="{E2CDDEC7-5473-4993-BBA1-CEBBA0D05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794" y="202415"/>
            <a:ext cx="995613" cy="97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mvp reconnect">
            <a:extLst>
              <a:ext uri="{FF2B5EF4-FFF2-40B4-BE49-F238E27FC236}">
                <a16:creationId xmlns:a16="http://schemas.microsoft.com/office/drawing/2014/main" id="{C47391ED-10F7-4417-8AE2-FA276C90E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608" y="245842"/>
            <a:ext cx="3312466" cy="110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6B3782-5809-482A-AC91-36EC68453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002" y="121985"/>
            <a:ext cx="1151868" cy="1422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284751-D10A-4E99-898B-950D18FF7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13" y="2708070"/>
            <a:ext cx="2398362" cy="31978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7B9576-56BC-474D-A9D6-44550F43F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814" y="2990241"/>
            <a:ext cx="2295696" cy="17217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0AFD39-3AC5-4643-8539-B63B6AD96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814" y="2100641"/>
            <a:ext cx="2222595" cy="769452"/>
          </a:xfrm>
          <a:prstGeom prst="rect">
            <a:avLst/>
          </a:prstGeom>
        </p:spPr>
      </p:pic>
      <p:pic>
        <p:nvPicPr>
          <p:cNvPr id="1026" name="Picture 2" descr="Image result for mvp logo microsoft">
            <a:extLst>
              <a:ext uri="{FF2B5EF4-FFF2-40B4-BE49-F238E27FC236}">
                <a16:creationId xmlns:a16="http://schemas.microsoft.com/office/drawing/2014/main" id="{7F3FAAAA-5E99-415B-AB41-B16A1AB1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382" y="121985"/>
            <a:ext cx="847281" cy="141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icrosoft MCT 2020">
            <a:extLst>
              <a:ext uri="{FF2B5EF4-FFF2-40B4-BE49-F238E27FC236}">
                <a16:creationId xmlns:a16="http://schemas.microsoft.com/office/drawing/2014/main" id="{A4CD8F3F-CBE2-4425-976F-AB1B95A2A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53" y="180164"/>
            <a:ext cx="1439484" cy="143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dp 200 certification">
            <a:extLst>
              <a:ext uri="{FF2B5EF4-FFF2-40B4-BE49-F238E27FC236}">
                <a16:creationId xmlns:a16="http://schemas.microsoft.com/office/drawing/2014/main" id="{5FDA9298-1907-4B4D-87EA-5A4900B48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538" y="202414"/>
            <a:ext cx="1287382" cy="128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BCB6AE3-DAB7-4787-8BEA-592BC6E5B007}"/>
              </a:ext>
            </a:extLst>
          </p:cNvPr>
          <p:cNvSpPr/>
          <p:nvPr/>
        </p:nvSpPr>
        <p:spPr>
          <a:xfrm>
            <a:off x="4128783" y="4804260"/>
            <a:ext cx="6095136" cy="6572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367"/>
            <a:r>
              <a:rPr lang="en-US" dirty="0">
                <a:solidFill>
                  <a:schemeClr val="bg1"/>
                </a:solidFill>
                <a:latin typeface="Segoe UI"/>
              </a:rPr>
              <a:t>Twitter : @usamawahabkhan</a:t>
            </a:r>
          </a:p>
          <a:p>
            <a:pPr defTabSz="914367"/>
            <a:r>
              <a:rPr lang="en-US" dirty="0">
                <a:solidFill>
                  <a:schemeClr val="bg1"/>
                </a:solidFill>
                <a:latin typeface="Segoe UI"/>
              </a:rPr>
              <a:t>LinkedIn : Usamawahabkhan</a:t>
            </a:r>
          </a:p>
        </p:txBody>
      </p:sp>
      <p:pic>
        <p:nvPicPr>
          <p:cNvPr id="4" name="Picture 2" descr="Illustration of community hero character">
            <a:extLst>
              <a:ext uri="{FF2B5EF4-FFF2-40B4-BE49-F238E27FC236}">
                <a16:creationId xmlns:a16="http://schemas.microsoft.com/office/drawing/2014/main" id="{6EAEF980-4E88-46BC-9E6C-57B273120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989" y="2525890"/>
            <a:ext cx="966447" cy="78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azure az 400 exam">
            <a:extLst>
              <a:ext uri="{FF2B5EF4-FFF2-40B4-BE49-F238E27FC236}">
                <a16:creationId xmlns:a16="http://schemas.microsoft.com/office/drawing/2014/main" id="{F70CF64C-124B-41BF-9C3F-8296C2D17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951" y="217863"/>
            <a:ext cx="1205642" cy="120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e mission of MIT is to advance knowledge and educate students in science,  techn… | Massachusetts institute of technology, Free online courses, Online  math courses">
            <a:extLst>
              <a:ext uri="{FF2B5EF4-FFF2-40B4-BE49-F238E27FC236}">
                <a16:creationId xmlns:a16="http://schemas.microsoft.com/office/drawing/2014/main" id="{7225C36C-75F3-4E69-8305-F15395D97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46" b="18251"/>
          <a:stretch/>
        </p:blipFill>
        <p:spPr bwMode="auto">
          <a:xfrm>
            <a:off x="1931971" y="5541472"/>
            <a:ext cx="714204" cy="36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4">
            <a:extLst>
              <a:ext uri="{FF2B5EF4-FFF2-40B4-BE49-F238E27FC236}">
                <a16:creationId xmlns:a16="http://schemas.microsoft.com/office/drawing/2014/main" id="{7DDF8BAE-0114-4916-90DF-EA59E972BF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8" name="Picture 2" descr="MCT Virtual Summit Pakistan 2020 – Excel Basement (Private) Limited">
            <a:extLst>
              <a:ext uri="{FF2B5EF4-FFF2-40B4-BE49-F238E27FC236}">
                <a16:creationId xmlns:a16="http://schemas.microsoft.com/office/drawing/2014/main" id="{3A6F51E4-0F7D-4A89-88D8-324671991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239" y="4804260"/>
            <a:ext cx="498633" cy="59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215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3FC2-4D70-24A1-B2BF-F4426157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https://tinyurl.com/ailocaldxb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1D980-B00B-DC7C-61F3-D1AEA11835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203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CE3970-54FC-5AAF-DD8D-32CA558A895F}"/>
              </a:ext>
            </a:extLst>
          </p:cNvPr>
          <p:cNvSpPr txBox="1">
            <a:spLocks/>
          </p:cNvSpPr>
          <p:nvPr/>
        </p:nvSpPr>
        <p:spPr>
          <a:xfrm>
            <a:off x="455994" y="556381"/>
            <a:ext cx="11303917" cy="8138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367" rtl="0" eaLnBrk="1" latinLnBrk="0" hangingPunct="1">
              <a:lnSpc>
                <a:spcPts val="3137"/>
              </a:lnSpc>
              <a:spcBef>
                <a:spcPct val="0"/>
              </a:spcBef>
              <a:buNone/>
              <a:defRPr lang="en-US" sz="2745" b="0" kern="1200" cap="none" spc="-49" baseline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Day 1 — Learning Objectives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74AA9B-A7F6-7F8E-DE8F-269AEA8B97D3}"/>
              </a:ext>
            </a:extLst>
          </p:cNvPr>
          <p:cNvSpPr txBox="1">
            <a:spLocks/>
          </p:cNvSpPr>
          <p:nvPr/>
        </p:nvSpPr>
        <p:spPr>
          <a:xfrm>
            <a:off x="457200" y="1397000"/>
            <a:ext cx="11303000" cy="355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53" kern="1200" spc="-49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196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372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372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8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16" indent="0" algn="l" defTabSz="914367" rtl="0" eaLnBrk="1" latinLnBrk="0" hangingPunct="1">
              <a:spcBef>
                <a:spcPct val="20000"/>
              </a:spcBef>
              <a:buFont typeface="Arial" pitchFamily="34" charset="0"/>
              <a:buNone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6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98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solidFill>
                  <a:srgbClr val="44474B"/>
                </a:solidFill>
                <a:latin typeface="Open Sans" panose="020B0606030504020204" pitchFamily="34" charset="0"/>
              </a:rPr>
              <a:t>By the end of Day 1, participants will be able to: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9C9B9A-D2F3-4176-894A-7940D2A2BECD}"/>
              </a:ext>
            </a:extLst>
          </p:cNvPr>
          <p:cNvSpPr/>
          <p:nvPr/>
        </p:nvSpPr>
        <p:spPr bwMode="auto">
          <a:xfrm>
            <a:off x="457200" y="1879600"/>
            <a:ext cx="5486400" cy="2184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4BBE93-7A4A-4F10-9544-E50F5224167F}"/>
              </a:ext>
            </a:extLst>
          </p:cNvPr>
          <p:cNvSpPr/>
          <p:nvPr/>
        </p:nvSpPr>
        <p:spPr bwMode="auto">
          <a:xfrm>
            <a:off x="457200" y="1879600"/>
            <a:ext cx="76200" cy="21844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45FB70-8ADD-41B6-8153-45B21D031551}"/>
              </a:ext>
            </a:extLst>
          </p:cNvPr>
          <p:cNvSpPr/>
          <p:nvPr/>
        </p:nvSpPr>
        <p:spPr bwMode="auto">
          <a:xfrm>
            <a:off x="685800" y="2108200"/>
            <a:ext cx="457200" cy="4572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6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1</a:t>
            </a:r>
            <a:endParaRPr lang="en-PK" sz="16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cl_hdr_0">
            <a:extLst>
              <a:ext uri="{FF2B5EF4-FFF2-40B4-BE49-F238E27FC236}">
                <a16:creationId xmlns:a16="http://schemas.microsoft.com/office/drawing/2014/main" id="{727F181D-9A55-44E1-AC45-7AF23EB996ED}"/>
              </a:ext>
            </a:extLst>
          </p:cNvPr>
          <p:cNvSpPr txBox="1"/>
          <p:nvPr/>
        </p:nvSpPr>
        <p:spPr>
          <a:xfrm>
            <a:off x="1270000" y="2133600"/>
            <a:ext cx="4495800" cy="406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000041"/>
                </a:solidFill>
                <a:latin typeface="Open Sans" panose="020B0606030504020204" pitchFamily="34" charset="0"/>
              </a:rPr>
              <a:t>Foundations</a:t>
            </a:r>
          </a:p>
        </p:txBody>
      </p:sp>
      <p:sp>
        <p:nvSpPr>
          <p:cNvPr id="8" name="cl_body_0">
            <a:extLst>
              <a:ext uri="{FF2B5EF4-FFF2-40B4-BE49-F238E27FC236}">
                <a16:creationId xmlns:a16="http://schemas.microsoft.com/office/drawing/2014/main" id="{1637127E-BFFD-4E39-A3B5-516B3581D125}"/>
              </a:ext>
            </a:extLst>
          </p:cNvPr>
          <p:cNvSpPr txBox="1"/>
          <p:nvPr/>
        </p:nvSpPr>
        <p:spPr>
          <a:xfrm>
            <a:off x="736600" y="2616200"/>
            <a:ext cx="4978400" cy="13462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Explain Agentic AI architecture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Differentiate Agents vs LLM pipelines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Understand Planner, Executor &amp; Tool agents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BCBABD-F40C-4A1F-80AA-B67CB2A3DAFB}"/>
              </a:ext>
            </a:extLst>
          </p:cNvPr>
          <p:cNvSpPr/>
          <p:nvPr/>
        </p:nvSpPr>
        <p:spPr bwMode="auto">
          <a:xfrm>
            <a:off x="6248400" y="1879600"/>
            <a:ext cx="5486400" cy="2184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769407-6358-404A-BBB7-54EB9CEADEBF}"/>
              </a:ext>
            </a:extLst>
          </p:cNvPr>
          <p:cNvSpPr/>
          <p:nvPr/>
        </p:nvSpPr>
        <p:spPr bwMode="auto">
          <a:xfrm>
            <a:off x="6248400" y="1879600"/>
            <a:ext cx="76200" cy="21844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18DC30-2478-4536-AFEF-CA995EF4DAC2}"/>
              </a:ext>
            </a:extLst>
          </p:cNvPr>
          <p:cNvSpPr/>
          <p:nvPr/>
        </p:nvSpPr>
        <p:spPr bwMode="auto">
          <a:xfrm>
            <a:off x="6477000" y="2108200"/>
            <a:ext cx="457200" cy="4572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6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2</a:t>
            </a:r>
            <a:endParaRPr lang="en-PK" sz="16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cl_hdr_1">
            <a:extLst>
              <a:ext uri="{FF2B5EF4-FFF2-40B4-BE49-F238E27FC236}">
                <a16:creationId xmlns:a16="http://schemas.microsoft.com/office/drawing/2014/main" id="{CFD44D3C-B336-4CBA-AD02-C98291DEAAE1}"/>
              </a:ext>
            </a:extLst>
          </p:cNvPr>
          <p:cNvSpPr txBox="1"/>
          <p:nvPr/>
        </p:nvSpPr>
        <p:spPr>
          <a:xfrm>
            <a:off x="7061200" y="2133600"/>
            <a:ext cx="4495800" cy="406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000041"/>
                </a:solidFill>
                <a:latin typeface="Open Sans" panose="020B0606030504020204" pitchFamily="34" charset="0"/>
              </a:rPr>
              <a:t>Reasoning techniques</a:t>
            </a:r>
          </a:p>
        </p:txBody>
      </p:sp>
      <p:sp>
        <p:nvSpPr>
          <p:cNvPr id="13" name="cl_body_1">
            <a:extLst>
              <a:ext uri="{FF2B5EF4-FFF2-40B4-BE49-F238E27FC236}">
                <a16:creationId xmlns:a16="http://schemas.microsoft.com/office/drawing/2014/main" id="{2EAA9242-ADF1-4B28-B639-0FE661C3A8BF}"/>
              </a:ext>
            </a:extLst>
          </p:cNvPr>
          <p:cNvSpPr txBox="1"/>
          <p:nvPr/>
        </p:nvSpPr>
        <p:spPr>
          <a:xfrm>
            <a:off x="6527800" y="2616200"/>
            <a:ext cx="4978400" cy="13462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Apply Chain of Thought (CoT)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Apply Tree of Thoughts (ToT)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B10C1C-A505-4BD2-A779-4507FEF2DDA0}"/>
              </a:ext>
            </a:extLst>
          </p:cNvPr>
          <p:cNvSpPr/>
          <p:nvPr/>
        </p:nvSpPr>
        <p:spPr bwMode="auto">
          <a:xfrm>
            <a:off x="457200" y="4292600"/>
            <a:ext cx="5486400" cy="2184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21EFCA-4930-4ADC-9153-C1F408EFEC78}"/>
              </a:ext>
            </a:extLst>
          </p:cNvPr>
          <p:cNvSpPr/>
          <p:nvPr/>
        </p:nvSpPr>
        <p:spPr bwMode="auto">
          <a:xfrm>
            <a:off x="457200" y="4292600"/>
            <a:ext cx="76200" cy="21844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DB7406-84C5-44BC-BC14-C3EABA1C565B}"/>
              </a:ext>
            </a:extLst>
          </p:cNvPr>
          <p:cNvSpPr/>
          <p:nvPr/>
        </p:nvSpPr>
        <p:spPr bwMode="auto">
          <a:xfrm>
            <a:off x="685800" y="4521200"/>
            <a:ext cx="457200" cy="4572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6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3</a:t>
            </a:r>
            <a:endParaRPr lang="en-PK" sz="16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cl_hdr_2">
            <a:extLst>
              <a:ext uri="{FF2B5EF4-FFF2-40B4-BE49-F238E27FC236}">
                <a16:creationId xmlns:a16="http://schemas.microsoft.com/office/drawing/2014/main" id="{DB0E3D05-A645-4FD0-BED7-66A1073D1FCB}"/>
              </a:ext>
            </a:extLst>
          </p:cNvPr>
          <p:cNvSpPr txBox="1"/>
          <p:nvPr/>
        </p:nvSpPr>
        <p:spPr>
          <a:xfrm>
            <a:off x="1270000" y="4546600"/>
            <a:ext cx="4495800" cy="406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000041"/>
                </a:solidFill>
                <a:latin typeface="Open Sans" panose="020B0606030504020204" pitchFamily="34" charset="0"/>
              </a:rPr>
              <a:t>Tools &amp; models</a:t>
            </a:r>
          </a:p>
        </p:txBody>
      </p:sp>
      <p:sp>
        <p:nvSpPr>
          <p:cNvPr id="18" name="cl_body_2">
            <a:extLst>
              <a:ext uri="{FF2B5EF4-FFF2-40B4-BE49-F238E27FC236}">
                <a16:creationId xmlns:a16="http://schemas.microsoft.com/office/drawing/2014/main" id="{F79D9144-0E3A-4BA2-8DAB-B35690D28DDC}"/>
              </a:ext>
            </a:extLst>
          </p:cNvPr>
          <p:cNvSpPr txBox="1"/>
          <p:nvPr/>
        </p:nvSpPr>
        <p:spPr>
          <a:xfrm>
            <a:off x="736600" y="5029200"/>
            <a:ext cx="4978400" cy="13462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Build custom tools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Use OpenRouter APIs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Integrate Qwen models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Implement function calling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457026-4403-46EC-B1E2-C6A1D1887E2F}"/>
              </a:ext>
            </a:extLst>
          </p:cNvPr>
          <p:cNvSpPr/>
          <p:nvPr/>
        </p:nvSpPr>
        <p:spPr bwMode="auto">
          <a:xfrm>
            <a:off x="6248400" y="4292600"/>
            <a:ext cx="5486400" cy="2184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6BDCD-CBA3-432C-8B38-5CC8D227C023}"/>
              </a:ext>
            </a:extLst>
          </p:cNvPr>
          <p:cNvSpPr/>
          <p:nvPr/>
        </p:nvSpPr>
        <p:spPr bwMode="auto">
          <a:xfrm>
            <a:off x="6248400" y="4292600"/>
            <a:ext cx="76200" cy="21844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A4596D-B741-4322-BF74-0D2698161A17}"/>
              </a:ext>
            </a:extLst>
          </p:cNvPr>
          <p:cNvSpPr/>
          <p:nvPr/>
        </p:nvSpPr>
        <p:spPr bwMode="auto">
          <a:xfrm>
            <a:off x="6477000" y="4521200"/>
            <a:ext cx="457200" cy="4572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6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4</a:t>
            </a:r>
            <a:endParaRPr lang="en-PK" sz="16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cl_hdr_3">
            <a:extLst>
              <a:ext uri="{FF2B5EF4-FFF2-40B4-BE49-F238E27FC236}">
                <a16:creationId xmlns:a16="http://schemas.microsoft.com/office/drawing/2014/main" id="{AEE4E713-3769-4210-B4AA-27FA9BD78A43}"/>
              </a:ext>
            </a:extLst>
          </p:cNvPr>
          <p:cNvSpPr txBox="1"/>
          <p:nvPr/>
        </p:nvSpPr>
        <p:spPr>
          <a:xfrm>
            <a:off x="7061200" y="4546600"/>
            <a:ext cx="4495800" cy="406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000041"/>
                </a:solidFill>
                <a:latin typeface="Open Sans" panose="020B0606030504020204" pitchFamily="34" charset="0"/>
              </a:rPr>
              <a:t>Putting it together</a:t>
            </a:r>
          </a:p>
        </p:txBody>
      </p:sp>
      <p:sp>
        <p:nvSpPr>
          <p:cNvPr id="23" name="cl_body_3">
            <a:extLst>
              <a:ext uri="{FF2B5EF4-FFF2-40B4-BE49-F238E27FC236}">
                <a16:creationId xmlns:a16="http://schemas.microsoft.com/office/drawing/2014/main" id="{1DBEB6A9-DD63-4874-B86B-613D65529504}"/>
              </a:ext>
            </a:extLst>
          </p:cNvPr>
          <p:cNvSpPr txBox="1"/>
          <p:nvPr/>
        </p:nvSpPr>
        <p:spPr>
          <a:xfrm>
            <a:off x="6527800" y="5029200"/>
            <a:ext cx="4978400" cy="13462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Build a reasoning-enabled agent</a:t>
            </a:r>
          </a:p>
          <a:p>
            <a:pPr marL="171450" indent="-171450" algn="l">
              <a:lnSpc>
                <a:spcPct val="104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44474B"/>
                </a:solidFill>
                <a:latin typeface="Open Sans" panose="020B0606030504020204" pitchFamily="34" charset="0"/>
              </a:rPr>
              <a:t>Built with LangChain (ReAct loop)</a:t>
            </a:r>
          </a:p>
        </p:txBody>
      </p:sp>
    </p:spTree>
    <p:extLst>
      <p:ext uri="{BB962C8B-B14F-4D97-AF65-F5344CB8AC3E}">
        <p14:creationId xmlns:p14="http://schemas.microsoft.com/office/powerpoint/2010/main" val="26238105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4A02-80FF-53E3-85C2-D011DA76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Ollama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4C19A-5C1B-EB0D-29AF-09B8B77D2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4596643"/>
          </a:xfrm>
        </p:spPr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Ollama</a:t>
            </a:r>
            <a:r>
              <a:rPr lang="en-US" dirty="0"/>
              <a:t> Download and install </a:t>
            </a:r>
            <a:r>
              <a:rPr lang="en-US" dirty="0" err="1"/>
              <a:t>Ollama</a:t>
            </a:r>
            <a:r>
              <a:rPr lang="en-US" dirty="0"/>
              <a:t> for macOS, Windows, or Linux from the official website.</a:t>
            </a:r>
          </a:p>
          <a:p>
            <a:r>
              <a:rPr lang="en-US" dirty="0"/>
              <a:t>Pull a model </a:t>
            </a:r>
            <a:r>
              <a:rPr lang="en-US" dirty="0" err="1"/>
              <a:t>ollama</a:t>
            </a:r>
            <a:r>
              <a:rPr lang="en-US" dirty="0"/>
              <a:t> pull qwen2.5:1.5b or </a:t>
            </a:r>
            <a:r>
              <a:rPr lang="en-US" dirty="0" err="1"/>
              <a:t>ollama</a:t>
            </a:r>
            <a:r>
              <a:rPr lang="en-US" dirty="0"/>
              <a:t> pull llama3.1:8b </a:t>
            </a:r>
            <a:r>
              <a:rPr lang="en-US" dirty="0" err="1"/>
              <a:t>ollama</a:t>
            </a:r>
            <a:r>
              <a:rPr lang="en-US" dirty="0"/>
              <a:t> pull mistral:7b</a:t>
            </a:r>
          </a:p>
          <a:p>
            <a:r>
              <a:rPr lang="en-US" dirty="0"/>
              <a:t>Run a model (chat mode) </a:t>
            </a:r>
            <a:r>
              <a:rPr lang="en-US" dirty="0" err="1"/>
              <a:t>ollama</a:t>
            </a:r>
            <a:r>
              <a:rPr lang="en-US" dirty="0"/>
              <a:t> run qwen2.5:1.5b</a:t>
            </a:r>
          </a:p>
          <a:p>
            <a:r>
              <a:rPr lang="en-US" dirty="0"/>
              <a:t>One-shot prompt </a:t>
            </a:r>
            <a:r>
              <a:rPr lang="en-US" dirty="0" err="1"/>
              <a:t>ollama</a:t>
            </a:r>
            <a:r>
              <a:rPr lang="en-US" dirty="0"/>
              <a:t> run qwen2.5:1.5b "Write a short poem about AI."</a:t>
            </a:r>
          </a:p>
          <a:p>
            <a:r>
              <a:rPr lang="en-US" dirty="0"/>
              <a:t>List installed models </a:t>
            </a:r>
            <a:r>
              <a:rPr lang="en-US" dirty="0" err="1"/>
              <a:t>ollama</a:t>
            </a:r>
            <a:r>
              <a:rPr lang="en-US" dirty="0"/>
              <a:t> list</a:t>
            </a:r>
          </a:p>
          <a:p>
            <a:r>
              <a:rPr lang="en-US" dirty="0"/>
              <a:t>Remove a model </a:t>
            </a:r>
            <a:r>
              <a:rPr lang="en-US" dirty="0" err="1"/>
              <a:t>ollama</a:t>
            </a:r>
            <a:r>
              <a:rPr lang="en-US" dirty="0"/>
              <a:t> rm qwen2.5:1.5b</a:t>
            </a:r>
          </a:p>
          <a:p>
            <a:r>
              <a:rPr lang="en-US" dirty="0"/>
              <a:t>Use </a:t>
            </a:r>
            <a:r>
              <a:rPr lang="en-US" dirty="0" err="1"/>
              <a:t>Ollama</a:t>
            </a:r>
            <a:r>
              <a:rPr lang="en-US" dirty="0"/>
              <a:t> with Python (OpenAI-compatible API) from </a:t>
            </a:r>
            <a:r>
              <a:rPr lang="en-US" dirty="0" err="1"/>
              <a:t>openai</a:t>
            </a:r>
            <a:r>
              <a:rPr lang="en-US" dirty="0"/>
              <a:t> import OpenAI Build it: </a:t>
            </a:r>
            <a:r>
              <a:rPr lang="en-US" dirty="0" err="1"/>
              <a:t>ollama</a:t>
            </a:r>
            <a:r>
              <a:rPr lang="en-US" dirty="0"/>
              <a:t> create </a:t>
            </a:r>
            <a:r>
              <a:rPr lang="en-US" dirty="0" err="1"/>
              <a:t>mymodel</a:t>
            </a:r>
            <a:r>
              <a:rPr lang="en-US" dirty="0"/>
              <a:t> -f </a:t>
            </a:r>
            <a:r>
              <a:rPr lang="en-US" dirty="0" err="1"/>
              <a:t>Modelfile</a:t>
            </a:r>
            <a:endParaRPr lang="en-US" dirty="0"/>
          </a:p>
          <a:p>
            <a:r>
              <a:rPr lang="en-US" dirty="0"/>
              <a:t>Run it: </a:t>
            </a:r>
            <a:r>
              <a:rPr lang="en-US" dirty="0" err="1"/>
              <a:t>ollama</a:t>
            </a:r>
            <a:r>
              <a:rPr lang="en-US" dirty="0"/>
              <a:t> run </a:t>
            </a:r>
            <a:r>
              <a:rPr lang="en-US" dirty="0" err="1"/>
              <a:t>mymodel</a:t>
            </a:r>
            <a:endParaRPr lang="en-US" dirty="0"/>
          </a:p>
          <a:p>
            <a:r>
              <a:rPr lang="en-US" dirty="0" err="1"/>
              <a:t>Ollama</a:t>
            </a:r>
            <a:r>
              <a:rPr lang="en-US" dirty="0"/>
              <a:t> does not include tools or agents by itself. You can build agents using Python,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LangGraph</a:t>
            </a:r>
            <a:r>
              <a:rPr lang="en-US" dirty="0"/>
              <a:t>, or </a:t>
            </a:r>
            <a:r>
              <a:rPr lang="en-US" dirty="0" err="1"/>
              <a:t>FastAPI</a:t>
            </a:r>
            <a:r>
              <a:rPr lang="en-US" dirty="0"/>
              <a:t>.</a:t>
            </a:r>
          </a:p>
          <a:p>
            <a:r>
              <a:rPr lang="en-US" dirty="0"/>
              <a:t>Summary: Pull a model, run it, and use it locally via CLI or API.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6596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EEFD-B4BC-1F7A-FA2A-FD5DD768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What is an AI Agent?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796DD8-D5D4-EE84-57C6-70E8B6B06B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206500"/>
            <a:ext cx="11277600" cy="1905000"/>
          </a:xfrm>
        </p:spPr>
        <p:txBody>
          <a:bodyPr anchor="t" anchorCtr="0">
            <a:spAutoFit/>
          </a:bodyPr>
          <a:lstStyle/>
          <a:p>
            <a:pPr algn="l" fontAlgn="base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 AI agent is a software system that uses an AI model (typically a large language model) to autonomously pursue goals: it perceives its context, decides what to do, takes actions through tools, and loops on the results until the task is complete.</a:t>
            </a:r>
          </a:p>
          <a:p>
            <a:pPr algn="l" fontAlgn="base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 short: the LLM is the brain; the agent adds hands, memory, and the ability to act on its own — instead of just telling you how to triage your inbox, an agent reads the emails, drafts replies, and schedules the meetings.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32B04E-0A8D-4601-B0E0-C710599BD647}"/>
              </a:ext>
            </a:extLst>
          </p:cNvPr>
          <p:cNvSpPr/>
          <p:nvPr/>
        </p:nvSpPr>
        <p:spPr bwMode="auto">
          <a:xfrm>
            <a:off x="457200" y="3429000"/>
            <a:ext cx="2082800" cy="2819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07681-3B24-412B-A3C3-F931E7131009}"/>
              </a:ext>
            </a:extLst>
          </p:cNvPr>
          <p:cNvSpPr txBox="1"/>
          <p:nvPr/>
        </p:nvSpPr>
        <p:spPr>
          <a:xfrm>
            <a:off x="533400" y="4648200"/>
            <a:ext cx="1930400" cy="381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Goal-directed</a:t>
            </a:r>
            <a:endParaRPr lang="en-PK" sz="15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C71A4-D4ED-49F3-9D66-3968A12D27D1}"/>
              </a:ext>
            </a:extLst>
          </p:cNvPr>
          <p:cNvSpPr txBox="1"/>
          <p:nvPr/>
        </p:nvSpPr>
        <p:spPr>
          <a:xfrm>
            <a:off x="584200" y="5054600"/>
            <a:ext cx="1828800" cy="1066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Pursues an objective, not step-by-step instructions</a:t>
            </a:r>
            <a:endParaRPr lang="en-PK" sz="12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17C9FA-CA62-4FF5-85B8-775003572A18}"/>
              </a:ext>
            </a:extLst>
          </p:cNvPr>
          <p:cNvSpPr/>
          <p:nvPr/>
        </p:nvSpPr>
        <p:spPr bwMode="auto">
          <a:xfrm>
            <a:off x="2755900" y="3429000"/>
            <a:ext cx="2082800" cy="2819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7BA10-E4D5-4FB0-8B14-5762C9B5635C}"/>
              </a:ext>
            </a:extLst>
          </p:cNvPr>
          <p:cNvSpPr txBox="1"/>
          <p:nvPr/>
        </p:nvSpPr>
        <p:spPr>
          <a:xfrm>
            <a:off x="2832100" y="4648200"/>
            <a:ext cx="1930400" cy="381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Tool use</a:t>
            </a:r>
            <a:endParaRPr lang="en-PK" sz="15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D87C1-EF5F-4825-846B-8CB5CF9EAC3C}"/>
              </a:ext>
            </a:extLst>
          </p:cNvPr>
          <p:cNvSpPr txBox="1"/>
          <p:nvPr/>
        </p:nvSpPr>
        <p:spPr>
          <a:xfrm>
            <a:off x="2882900" y="5054600"/>
            <a:ext cx="1828800" cy="1066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Calls APIs, searches, runs code, operates software</a:t>
            </a:r>
            <a:endParaRPr lang="en-PK" sz="12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6A1858-7E11-45DD-B6D7-41D099FF9DFD}"/>
              </a:ext>
            </a:extLst>
          </p:cNvPr>
          <p:cNvSpPr/>
          <p:nvPr/>
        </p:nvSpPr>
        <p:spPr bwMode="auto">
          <a:xfrm>
            <a:off x="5054600" y="3429000"/>
            <a:ext cx="2082800" cy="2819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3BF1B-4DD3-4D2C-898B-989C808D15CE}"/>
              </a:ext>
            </a:extLst>
          </p:cNvPr>
          <p:cNvSpPr txBox="1"/>
          <p:nvPr/>
        </p:nvSpPr>
        <p:spPr>
          <a:xfrm>
            <a:off x="5130800" y="4648200"/>
            <a:ext cx="1930400" cy="381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Reasoning</a:t>
            </a:r>
            <a:endParaRPr lang="en-PK" sz="15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C56849-B24E-43AB-8697-FA6FC781C3CB}"/>
              </a:ext>
            </a:extLst>
          </p:cNvPr>
          <p:cNvSpPr txBox="1"/>
          <p:nvPr/>
        </p:nvSpPr>
        <p:spPr>
          <a:xfrm>
            <a:off x="5181600" y="5054600"/>
            <a:ext cx="1828800" cy="1066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Breaks the goal into steps and orders them</a:t>
            </a:r>
            <a:endParaRPr lang="en-PK" sz="12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4D4F9D-462C-44C4-80F4-393990357955}"/>
              </a:ext>
            </a:extLst>
          </p:cNvPr>
          <p:cNvSpPr/>
          <p:nvPr/>
        </p:nvSpPr>
        <p:spPr bwMode="auto">
          <a:xfrm>
            <a:off x="7353300" y="3429000"/>
            <a:ext cx="2082800" cy="2819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CBFD4-0B74-45AF-A07C-80BD8E3936C0}"/>
              </a:ext>
            </a:extLst>
          </p:cNvPr>
          <p:cNvSpPr txBox="1"/>
          <p:nvPr/>
        </p:nvSpPr>
        <p:spPr>
          <a:xfrm>
            <a:off x="7429500" y="4648200"/>
            <a:ext cx="1930400" cy="381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Memory</a:t>
            </a:r>
            <a:endParaRPr lang="en-PK" sz="15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C7661-E3B6-4952-888F-135A653405D3}"/>
              </a:ext>
            </a:extLst>
          </p:cNvPr>
          <p:cNvSpPr txBox="1"/>
          <p:nvPr/>
        </p:nvSpPr>
        <p:spPr>
          <a:xfrm>
            <a:off x="7480300" y="5054600"/>
            <a:ext cx="1828800" cy="1066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Retains context across steps and sessions</a:t>
            </a:r>
            <a:endParaRPr lang="en-PK" sz="12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DA6A55-EECB-43E1-B580-8D2E3F4053FE}"/>
              </a:ext>
            </a:extLst>
          </p:cNvPr>
          <p:cNvSpPr/>
          <p:nvPr/>
        </p:nvSpPr>
        <p:spPr bwMode="auto">
          <a:xfrm>
            <a:off x="9652000" y="3429000"/>
            <a:ext cx="2082800" cy="28194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A35589-FB52-4BC8-9CB1-147DA6BDFDD6}"/>
              </a:ext>
            </a:extLst>
          </p:cNvPr>
          <p:cNvSpPr txBox="1"/>
          <p:nvPr/>
        </p:nvSpPr>
        <p:spPr>
          <a:xfrm>
            <a:off x="9728200" y="4648200"/>
            <a:ext cx="1930400" cy="381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Autonomy loop</a:t>
            </a:r>
            <a:endParaRPr lang="en-PK" sz="15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05295-5037-4793-ADD3-A3AE7F3D112A}"/>
              </a:ext>
            </a:extLst>
          </p:cNvPr>
          <p:cNvSpPr txBox="1"/>
          <p:nvPr/>
        </p:nvSpPr>
        <p:spPr>
          <a:xfrm>
            <a:off x="9779000" y="5054600"/>
            <a:ext cx="1828800" cy="1066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Observes results and adapts until done</a:t>
            </a:r>
            <a:endParaRPr lang="en-PK" sz="12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9" name="Graphic 19" descr="Goal-direc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3708400"/>
            <a:ext cx="558800" cy="558800"/>
          </a:xfrm>
          <a:prstGeom prst="rect">
            <a:avLst/>
          </a:prstGeom>
        </p:spPr>
      </p:pic>
      <p:pic>
        <p:nvPicPr>
          <p:cNvPr id="20" name="Graphic 20" descr="Tool u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7900" y="3708400"/>
            <a:ext cx="558800" cy="558800"/>
          </a:xfrm>
          <a:prstGeom prst="rect">
            <a:avLst/>
          </a:prstGeom>
        </p:spPr>
      </p:pic>
      <p:pic>
        <p:nvPicPr>
          <p:cNvPr id="21" name="Graphic 21" descr="Reaso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6600" y="3708400"/>
            <a:ext cx="558800" cy="558800"/>
          </a:xfrm>
          <a:prstGeom prst="rect">
            <a:avLst/>
          </a:prstGeom>
        </p:spPr>
      </p:pic>
      <p:pic>
        <p:nvPicPr>
          <p:cNvPr id="22" name="Graphic 22" descr="Mem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5300" y="3708400"/>
            <a:ext cx="558800" cy="558800"/>
          </a:xfrm>
          <a:prstGeom prst="rect">
            <a:avLst/>
          </a:prstGeom>
        </p:spPr>
      </p:pic>
      <p:pic>
        <p:nvPicPr>
          <p:cNvPr id="23" name="Graphic 23" descr="Autonomy loo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0" y="3708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645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206A-A3D8-203C-4E7A-435C0D26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5B7CE-8EF2-67AF-F7B3-0FFDBDE29C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What Are AI Agents?">
            <a:extLst>
              <a:ext uri="{FF2B5EF4-FFF2-40B4-BE49-F238E27FC236}">
                <a16:creationId xmlns:a16="http://schemas.microsoft.com/office/drawing/2014/main" id="{44B534DD-24F9-35B5-B2FC-BF213E8F0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94266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05C3-B3A4-EE64-F5A6-22E93C35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LLM for Agent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4E864-47F7-974A-1BEE-291B984DEB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367331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reasoning‑instructional model</a:t>
            </a:r>
            <a:r>
              <a:rPr lang="en-US" dirty="0"/>
              <a:t> is an LLM trained to both </a:t>
            </a:r>
            <a:r>
              <a:rPr lang="en-US" i="1" dirty="0"/>
              <a:t>think</a:t>
            </a:r>
            <a:r>
              <a:rPr lang="en-US" dirty="0"/>
              <a:t> and </a:t>
            </a:r>
            <a:r>
              <a:rPr lang="en-US" i="1" dirty="0"/>
              <a:t>follow instructions</a:t>
            </a:r>
            <a:r>
              <a:rPr lang="en-US" dirty="0"/>
              <a:t>. To be used as an </a:t>
            </a:r>
            <a:r>
              <a:rPr lang="en-US" b="1" dirty="0"/>
              <a:t>agent</a:t>
            </a:r>
            <a:r>
              <a:rPr lang="en-US" dirty="0"/>
              <a:t>, an LLM must support:</a:t>
            </a:r>
          </a:p>
          <a:p>
            <a:r>
              <a:rPr lang="en-US" dirty="0"/>
              <a:t>reliable tool calling</a:t>
            </a:r>
          </a:p>
          <a:p>
            <a:r>
              <a:rPr lang="en-US" dirty="0"/>
              <a:t>stable JSON</a:t>
            </a:r>
          </a:p>
          <a:p>
            <a:r>
              <a:rPr lang="en-US" dirty="0"/>
              <a:t>multi‑step reasoning</a:t>
            </a:r>
          </a:p>
          <a:p>
            <a:r>
              <a:rPr lang="en-US" dirty="0"/>
              <a:t>deterministic behavior</a:t>
            </a:r>
          </a:p>
          <a:p>
            <a:r>
              <a:rPr lang="en-US" dirty="0"/>
              <a:t>error recovery</a:t>
            </a:r>
          </a:p>
          <a:p>
            <a:r>
              <a:rPr lang="en-US" dirty="0"/>
              <a:t>long‑context</a:t>
            </a:r>
          </a:p>
          <a:p>
            <a:r>
              <a:rPr lang="en-US" dirty="0"/>
              <a:t>low hallucination</a:t>
            </a:r>
          </a:p>
          <a:p>
            <a:r>
              <a:rPr lang="en-US" dirty="0"/>
              <a:t>fast inference</a:t>
            </a:r>
          </a:p>
          <a:p>
            <a:r>
              <a:rPr lang="en-US" dirty="0"/>
              <a:t>memory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33305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9B3EE02-7968-9A98-77C7-68A56D1FC80A}"/>
              </a:ext>
            </a:extLst>
          </p:cNvPr>
          <p:cNvSpPr txBox="1"/>
          <p:nvPr/>
        </p:nvSpPr>
        <p:spPr>
          <a:xfrm>
            <a:off x="931606" y="1206934"/>
            <a:ext cx="672034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A </a:t>
            </a:r>
            <a:r>
              <a:rPr lang="en-US" b="1" dirty="0">
                <a:effectLst/>
              </a:rPr>
              <a:t>reasoning‑instructional model</a:t>
            </a:r>
            <a:r>
              <a:rPr lang="en-US" dirty="0">
                <a:effectLst/>
              </a:rPr>
              <a:t> is an LLM trained with two combined abilities: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</a:rPr>
              <a:t>Instruction following</a:t>
            </a:r>
            <a:r>
              <a:rPr lang="en-US" dirty="0">
                <a:effectLst/>
              </a:rPr>
              <a:t> The model understands tasks, constraints, formats, and roles.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</a:rPr>
              <a:t>Reasoning</a:t>
            </a:r>
            <a:r>
              <a:rPr lang="en-US" dirty="0">
                <a:effectLst/>
              </a:rPr>
              <a:t> The model performs multi‑step thinking, planning, and logical inference.</a:t>
            </a:r>
            <a:endParaRPr lang="en-US" dirty="0"/>
          </a:p>
          <a:p>
            <a:pPr>
              <a:buNone/>
            </a:pPr>
            <a:r>
              <a:rPr lang="en-US" dirty="0">
                <a:effectLst/>
              </a:rPr>
              <a:t>This combination makes the model suitable for </a:t>
            </a:r>
            <a:r>
              <a:rPr lang="en-US" b="1" dirty="0">
                <a:effectLst/>
              </a:rPr>
              <a:t>agents</a:t>
            </a:r>
            <a:r>
              <a:rPr lang="en-US" dirty="0">
                <a:effectLst/>
              </a:rPr>
              <a:t>, because agents need both: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obedience</a:t>
            </a:r>
            <a:r>
              <a:rPr lang="en-US" dirty="0">
                <a:effectLst/>
              </a:rPr>
              <a:t> (follow instructions)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intelligence</a:t>
            </a:r>
            <a:r>
              <a:rPr lang="en-US" dirty="0">
                <a:effectLst/>
              </a:rPr>
              <a:t> (reason through steps)</a:t>
            </a:r>
            <a:endParaRPr lang="en-US" dirty="0"/>
          </a:p>
          <a:p>
            <a:pPr>
              <a:buNone/>
            </a:pPr>
            <a:r>
              <a:rPr lang="en-US" b="1" dirty="0"/>
              <a:t>What makes a model “reasoning‑instructional”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CoT</a:t>
            </a:r>
            <a:r>
              <a:rPr lang="en-US" b="1" dirty="0">
                <a:effectLst/>
              </a:rPr>
              <a:t>‑tuned</a:t>
            </a:r>
            <a:r>
              <a:rPr lang="en-US" dirty="0">
                <a:effectLst/>
              </a:rPr>
              <a:t> (chain‑of‑thought training)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DPO/RLHF aligned</a:t>
            </a:r>
            <a:r>
              <a:rPr lang="en-US" dirty="0">
                <a:effectLst/>
              </a:rPr>
              <a:t> for instruction following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Tool‑calling trained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JSON‑stability tuned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Long‑context optimized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Error‑recovery capable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5D3CE7-F39C-AA1C-BB0D-F2B6AA620D6F}"/>
              </a:ext>
            </a:extLst>
          </p:cNvPr>
          <p:cNvSpPr txBox="1"/>
          <p:nvPr/>
        </p:nvSpPr>
        <p:spPr>
          <a:xfrm>
            <a:off x="577645" y="385605"/>
            <a:ext cx="6720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 </a:t>
            </a:r>
            <a:r>
              <a:rPr lang="en-US" b="1" i="1" dirty="0"/>
              <a:t>Reasoning‑Instructional Model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533113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148B-63F8-9F13-A991-08AABBC0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08B646-4B7A-6524-B288-AAC594F1C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031212"/>
              </p:ext>
            </p:extLst>
          </p:nvPr>
        </p:nvGraphicFramePr>
        <p:xfrm>
          <a:off x="622761" y="3038905"/>
          <a:ext cx="11231562" cy="1802130"/>
        </p:xfrm>
        <a:graphic>
          <a:graphicData uri="http://schemas.openxmlformats.org/drawingml/2006/table">
            <a:tbl>
              <a:tblPr/>
              <a:tblGrid>
                <a:gridCol w="3743854">
                  <a:extLst>
                    <a:ext uri="{9D8B030D-6E8A-4147-A177-3AD203B41FA5}">
                      <a16:colId xmlns:a16="http://schemas.microsoft.com/office/drawing/2014/main" val="2065701650"/>
                    </a:ext>
                  </a:extLst>
                </a:gridCol>
                <a:gridCol w="3743854">
                  <a:extLst>
                    <a:ext uri="{9D8B030D-6E8A-4147-A177-3AD203B41FA5}">
                      <a16:colId xmlns:a16="http://schemas.microsoft.com/office/drawing/2014/main" val="3964603833"/>
                    </a:ext>
                  </a:extLst>
                </a:gridCol>
                <a:gridCol w="3743854">
                  <a:extLst>
                    <a:ext uri="{9D8B030D-6E8A-4147-A177-3AD203B41FA5}">
                      <a16:colId xmlns:a16="http://schemas.microsoft.com/office/drawing/2014/main" val="1457968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Qwen2.5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overall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Production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2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DeepSeek‑R1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Research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188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Llama 3.1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Balanced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General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16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Mistral Large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tool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Automation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29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Phi‑3.5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small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Edge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9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83459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FB1CE-037D-7C61-527E-A1AB0CDC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5" y="620428"/>
            <a:ext cx="11306469" cy="795089"/>
          </a:xfrm>
        </p:spPr>
        <p:txBody>
          <a:bodyPr/>
          <a:lstStyle/>
          <a:p>
            <a:r>
              <a:rPr lang="en-US" b="1" dirty="0"/>
              <a:t>. Model Runtime Layer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BB557-A94A-4A09-88BF-B9C265BE7D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4288866"/>
          </a:xfrm>
        </p:spPr>
        <p:txBody>
          <a:bodyPr/>
          <a:lstStyle/>
          <a:p>
            <a:r>
              <a:rPr lang="en-US" dirty="0"/>
              <a:t>You need a runtime that is </a:t>
            </a:r>
            <a:r>
              <a:rPr lang="en-US" b="1" dirty="0"/>
              <a:t>faster, safer, and more controllable</a:t>
            </a:r>
            <a:r>
              <a:rPr lang="en-US" dirty="0"/>
              <a:t> than </a:t>
            </a:r>
            <a:r>
              <a:rPr lang="en-US" dirty="0" err="1"/>
              <a:t>Ollama</a:t>
            </a:r>
            <a:r>
              <a:rPr lang="en-US" dirty="0"/>
              <a:t> for production:</a:t>
            </a:r>
          </a:p>
          <a:p>
            <a:r>
              <a:rPr lang="en-US" dirty="0" err="1"/>
              <a:t>vLLM</a:t>
            </a:r>
            <a:r>
              <a:rPr lang="en-US" dirty="0"/>
              <a:t> (GPU‑optimized, high‑throughput)</a:t>
            </a:r>
          </a:p>
          <a:p>
            <a:r>
              <a:rPr lang="en-US" dirty="0"/>
              <a:t>TGI (Text Generation Inference)</a:t>
            </a:r>
          </a:p>
          <a:p>
            <a:r>
              <a:rPr lang="en-US" dirty="0"/>
              <a:t>LM Studio Server Mode (local API)</a:t>
            </a:r>
          </a:p>
          <a:p>
            <a:r>
              <a:rPr lang="en-US" dirty="0"/>
              <a:t>Custom </a:t>
            </a:r>
            <a:r>
              <a:rPr lang="en-US" dirty="0" err="1"/>
              <a:t>FastAPI</a:t>
            </a:r>
            <a:r>
              <a:rPr lang="en-US" dirty="0"/>
              <a:t> wrapper around GGUF models</a:t>
            </a:r>
          </a:p>
          <a:p>
            <a:r>
              <a:rPr lang="en-US" dirty="0"/>
              <a:t>These runtimes give you:</a:t>
            </a:r>
          </a:p>
          <a:p>
            <a:r>
              <a:rPr lang="en-US" dirty="0"/>
              <a:t>token streaming</a:t>
            </a:r>
          </a:p>
          <a:p>
            <a:r>
              <a:rPr lang="en-US" dirty="0"/>
              <a:t>batching</a:t>
            </a:r>
          </a:p>
          <a:p>
            <a:r>
              <a:rPr lang="en-US" dirty="0"/>
              <a:t>concurrency</a:t>
            </a:r>
          </a:p>
          <a:p>
            <a:r>
              <a:rPr lang="en-US" dirty="0"/>
              <a:t>memory control</a:t>
            </a:r>
          </a:p>
          <a:p>
            <a:r>
              <a:rPr lang="en-US" dirty="0"/>
              <a:t>production‑grade APIs</a:t>
            </a:r>
          </a:p>
          <a:p>
            <a:r>
              <a:rPr lang="en-US" dirty="0" err="1"/>
              <a:t>Ollama</a:t>
            </a:r>
            <a:r>
              <a:rPr lang="en-US" dirty="0"/>
              <a:t> is great for development, not for high‑load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381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6269-A68E-AFDE-91C4-3E69325E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186F2-C393-9CE5-F2BF-95CD65F6DE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3057760"/>
          </a:xfrm>
        </p:spPr>
        <p:txBody>
          <a:bodyPr/>
          <a:lstStyle/>
          <a:p>
            <a:r>
              <a:rPr lang="en-US" b="1" dirty="0"/>
              <a:t>⚙️ Production‑Grade Local LLM Stack (A100 GPU)</a:t>
            </a:r>
          </a:p>
          <a:p>
            <a:r>
              <a:rPr lang="en-US" b="1" dirty="0"/>
              <a:t>1. </a:t>
            </a:r>
            <a:r>
              <a:rPr lang="en-US" b="1" dirty="0" err="1"/>
              <a:t>vLLM</a:t>
            </a:r>
            <a:r>
              <a:rPr lang="en-US" b="1" dirty="0"/>
              <a:t> Runtime</a:t>
            </a:r>
          </a:p>
          <a:p>
            <a:r>
              <a:rPr lang="en-US" dirty="0"/>
              <a:t>The </a:t>
            </a:r>
            <a:r>
              <a:rPr lang="en-US" b="1" dirty="0"/>
              <a:t>best choice</a:t>
            </a:r>
            <a:r>
              <a:rPr lang="en-US" dirty="0"/>
              <a:t> for A100. Why it’s production‑grade:</a:t>
            </a:r>
          </a:p>
          <a:p>
            <a:r>
              <a:rPr lang="en-US" dirty="0"/>
              <a:t>Continuous batching</a:t>
            </a:r>
          </a:p>
          <a:p>
            <a:r>
              <a:rPr lang="en-US" dirty="0"/>
              <a:t>Extremely high throughput</a:t>
            </a:r>
          </a:p>
          <a:p>
            <a:r>
              <a:rPr lang="en-US" dirty="0"/>
              <a:t>CUDA‑optimized for A100</a:t>
            </a:r>
          </a:p>
          <a:p>
            <a:r>
              <a:rPr lang="en-US" dirty="0"/>
              <a:t>Stable OpenAI‑compatible API</a:t>
            </a:r>
          </a:p>
          <a:p>
            <a:r>
              <a:rPr lang="en-US" dirty="0"/>
              <a:t>Perfect for agents + tool calling</a:t>
            </a:r>
          </a:p>
          <a:p>
            <a:r>
              <a:rPr lang="en-US" dirty="0"/>
              <a:t>Supports FP16, BF16, and quantized models</a:t>
            </a:r>
          </a:p>
          <a:p>
            <a:r>
              <a:rPr lang="en-US" dirty="0"/>
              <a:t>Use </a:t>
            </a:r>
            <a:r>
              <a:rPr lang="en-US" dirty="0" err="1"/>
              <a:t>vLLM</a:t>
            </a:r>
            <a:r>
              <a:rPr lang="en-US" dirty="0"/>
              <a:t> when you need </a:t>
            </a:r>
            <a:r>
              <a:rPr lang="en-US" b="1" dirty="0"/>
              <a:t>speed + stability + scale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66121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7664-F13B-E4A7-F030-1F12D20A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47A0-C102-AA37-04AB-F7FEB016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C3605-B2AA-7153-F47D-72580C6A8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2442207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2. TGI (Text Generation Inference)</a:t>
            </a:r>
          </a:p>
          <a:p>
            <a:r>
              <a:rPr lang="en-US" dirty="0"/>
              <a:t>A strong alternative for production:</a:t>
            </a:r>
          </a:p>
          <a:p>
            <a:r>
              <a:rPr lang="en-US" dirty="0"/>
              <a:t>Optimized for GPUs including A100</a:t>
            </a:r>
          </a:p>
          <a:p>
            <a:r>
              <a:rPr lang="en-US" dirty="0"/>
              <a:t>Very stable for long‑context models</a:t>
            </a:r>
          </a:p>
          <a:p>
            <a:r>
              <a:rPr lang="en-US" dirty="0"/>
              <a:t>Excellent for enterprise deployments</a:t>
            </a:r>
          </a:p>
          <a:p>
            <a:r>
              <a:rPr lang="en-US" dirty="0"/>
              <a:t>Supports tensor parallelism</a:t>
            </a:r>
          </a:p>
          <a:p>
            <a:r>
              <a:rPr lang="en-US" dirty="0"/>
              <a:t>Use TGI when you want </a:t>
            </a:r>
            <a:r>
              <a:rPr lang="en-US" b="1" dirty="0"/>
              <a:t>enterprise‑grade reliability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157979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34B3-BC1F-EFF4-19DF-8F560D2C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74FC0-24E1-3119-882B-A5ED86BDB2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2442207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3. </a:t>
            </a:r>
            <a:r>
              <a:rPr lang="en-US" b="1" dirty="0" err="1"/>
              <a:t>FastAPI</a:t>
            </a:r>
            <a:r>
              <a:rPr lang="en-US" b="1" dirty="0"/>
              <a:t> + GGUF + CUDA Kernels</a:t>
            </a:r>
          </a:p>
          <a:p>
            <a:r>
              <a:rPr lang="en-US" dirty="0"/>
              <a:t>A custom lightweight server:</a:t>
            </a:r>
          </a:p>
          <a:p>
            <a:r>
              <a:rPr lang="en-US" dirty="0"/>
              <a:t>Good for small/medium models</a:t>
            </a:r>
          </a:p>
          <a:p>
            <a:r>
              <a:rPr lang="en-US" dirty="0"/>
              <a:t>Works with llama.cpp CUDA builds</a:t>
            </a:r>
          </a:p>
          <a:p>
            <a:r>
              <a:rPr lang="en-US" dirty="0"/>
              <a:t>Lower memory footprint</a:t>
            </a:r>
          </a:p>
          <a:p>
            <a:r>
              <a:rPr lang="en-US" dirty="0"/>
              <a:t>Easy to embed inside microservices</a:t>
            </a:r>
          </a:p>
          <a:p>
            <a:r>
              <a:rPr lang="en-US" dirty="0"/>
              <a:t>Use this when you want </a:t>
            </a:r>
            <a:r>
              <a:rPr lang="en-US" b="1" dirty="0"/>
              <a:t>full control</a:t>
            </a:r>
            <a:r>
              <a:rPr lang="en-US" dirty="0"/>
              <a:t> and </a:t>
            </a:r>
            <a:r>
              <a:rPr lang="en-US" b="1" dirty="0"/>
              <a:t>simple deployment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655882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8733-63EB-0BF2-C1E2-6A67B4E16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5" y="620428"/>
            <a:ext cx="11306469" cy="795089"/>
          </a:xfrm>
        </p:spPr>
        <p:txBody>
          <a:bodyPr/>
          <a:lstStyle/>
          <a:p>
            <a:r>
              <a:rPr lang="en-US" b="1" dirty="0"/>
              <a:t>4. LM Studio Server Mode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9C559-A64F-028F-080B-55851566E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22586"/>
            <a:ext cx="9384447" cy="151887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Not enterprise, but useful for:</a:t>
            </a:r>
          </a:p>
          <a:p>
            <a:r>
              <a:rPr lang="en-US" dirty="0"/>
              <a:t>Desktop local API</a:t>
            </a:r>
          </a:p>
          <a:p>
            <a:r>
              <a:rPr lang="en-US" dirty="0"/>
              <a:t>Quick prototyping</a:t>
            </a:r>
          </a:p>
          <a:p>
            <a:r>
              <a:rPr lang="en-US" dirty="0"/>
              <a:t>Testing models before </a:t>
            </a:r>
            <a:r>
              <a:rPr lang="en-US" dirty="0" err="1"/>
              <a:t>vLLM</a:t>
            </a:r>
            <a:r>
              <a:rPr lang="en-US" dirty="0"/>
              <a:t>/TGI deployment</a:t>
            </a:r>
          </a:p>
        </p:txBody>
      </p:sp>
    </p:spTree>
    <p:extLst>
      <p:ext uri="{BB962C8B-B14F-4D97-AF65-F5344CB8AC3E}">
        <p14:creationId xmlns:p14="http://schemas.microsoft.com/office/powerpoint/2010/main" val="61409445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004D3-7263-C48C-638F-19027ECE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ocal LLM production architecture">
            <a:extLst>
              <a:ext uri="{FF2B5EF4-FFF2-40B4-BE49-F238E27FC236}">
                <a16:creationId xmlns:a16="http://schemas.microsoft.com/office/drawing/2014/main" id="{AF062030-6E0E-5379-8EA5-7B0EC3786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71766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07065-5998-7B3E-7900-B32ADD960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956203"/>
            <a:ext cx="9384447" cy="28777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D41B4-3443-55BA-8BF5-6BCEE3A8C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3032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FF1A276-37F3-0134-14BC-12A419A01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7487" y="947737"/>
            <a:ext cx="667702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7212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4AD6-05D1-5200-8C78-F15835BE6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27D2C27-EB3B-737C-07D8-E363A5A30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6862" y="1042987"/>
            <a:ext cx="905827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6210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184B-E9CB-6659-96B3-24583FC9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4280D16-C922-04B1-5577-FB32EF0AD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64786" y="233055"/>
            <a:ext cx="772477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709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7E1C-3D15-1C7C-F5BD-3CDACAAB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Key layers </a:t>
            </a:r>
            <a:endParaRPr lang="en-PK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A143E4-F472-D863-9FC6-977AF5512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743327"/>
              </p:ext>
            </p:extLst>
          </p:nvPr>
        </p:nvGraphicFramePr>
        <p:xfrm>
          <a:off x="588262" y="1532466"/>
          <a:ext cx="10933178" cy="508169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48538">
                  <a:extLst>
                    <a:ext uri="{9D8B030D-6E8A-4147-A177-3AD203B41FA5}">
                      <a16:colId xmlns:a16="http://schemas.microsoft.com/office/drawing/2014/main" val="333964315"/>
                    </a:ext>
                  </a:extLst>
                </a:gridCol>
                <a:gridCol w="9184640">
                  <a:extLst>
                    <a:ext uri="{9D8B030D-6E8A-4147-A177-3AD203B41FA5}">
                      <a16:colId xmlns:a16="http://schemas.microsoft.com/office/drawing/2014/main" val="719996062"/>
                    </a:ext>
                  </a:extLst>
                </a:gridCol>
              </a:tblGrid>
              <a:tr h="846949"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019268"/>
                  </a:ext>
                </a:extLst>
              </a:tr>
              <a:tr h="84694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PK" dirty="0"/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Collects data from environment or user input.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469661"/>
                  </a:ext>
                </a:extLst>
              </a:tr>
              <a:tr h="84694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PK" dirty="0"/>
                        <a:t>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Uses logic or LLM inference to interpret context.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076241"/>
                  </a:ext>
                </a:extLst>
              </a:tr>
              <a:tr h="84694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PK" dirty="0"/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Breaks goals into actionable steps.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771793"/>
                  </a:ext>
                </a:extLst>
              </a:tr>
              <a:tr h="84694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PK" dirty="0"/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Performs tasks via APIs, tools, or actuators.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06988"/>
                  </a:ext>
                </a:extLst>
              </a:tr>
              <a:tr h="84694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PK" dirty="0"/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50000"/>
                        </a:lnSpc>
                      </a:pPr>
                      <a:r>
                        <a:rPr lang="en-PK" dirty="0"/>
                        <a:t>Evaluates results and refines future actions.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237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2755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nse Think Plan Act Learn Diagram">
            <a:extLst>
              <a:ext uri="{FF2B5EF4-FFF2-40B4-BE49-F238E27FC236}">
                <a16:creationId xmlns:a16="http://schemas.microsoft.com/office/drawing/2014/main" id="{063C8242-7538-C14B-456D-7C3725524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680" y="699347"/>
            <a:ext cx="8910320" cy="594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08323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I Agents: Revolutionizing Automation and Efficiency">
            <a:extLst>
              <a:ext uri="{FF2B5EF4-FFF2-40B4-BE49-F238E27FC236}">
                <a16:creationId xmlns:a16="http://schemas.microsoft.com/office/drawing/2014/main" id="{CDC636F1-7A45-9C50-D3C0-49C590B89E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075" y="-86709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5" name="AutoShape 3" descr="Anatomy of an Agent: Observing the Full Lifecycle of AI Agents ...">
            <a:extLst>
              <a:ext uri="{FF2B5EF4-FFF2-40B4-BE49-F238E27FC236}">
                <a16:creationId xmlns:a16="http://schemas.microsoft.com/office/drawing/2014/main" id="{3CEDF130-5B4C-AF7F-78D7-D5D2449A11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375" y="-8382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6" name="AutoShape 4" descr="AI Agent Components Power Generative Engine Optimizations">
            <a:extLst>
              <a:ext uri="{FF2B5EF4-FFF2-40B4-BE49-F238E27FC236}">
                <a16:creationId xmlns:a16="http://schemas.microsoft.com/office/drawing/2014/main" id="{35314D37-9DDE-D0BE-F2C5-1497A46DB7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375" y="-8093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2053" name="Picture 5" descr="Agent vs Chatbot Flow Diagram">
            <a:extLst>
              <a:ext uri="{FF2B5EF4-FFF2-40B4-BE49-F238E27FC236}">
                <a16:creationId xmlns:a16="http://schemas.microsoft.com/office/drawing/2014/main" id="{389D4695-E31C-08B0-FAFE-61B9C5CEC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0" y="436880"/>
            <a:ext cx="9631680" cy="642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Leena AI Agentic AI Architecture - Leena AI Blog">
            <a:extLst>
              <a:ext uri="{FF2B5EF4-FFF2-40B4-BE49-F238E27FC236}">
                <a16:creationId xmlns:a16="http://schemas.microsoft.com/office/drawing/2014/main" id="{0062031B-A9E2-FFB7-9F84-39489AE801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075" y="103933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8" name="AutoShape 7" descr="Understanding Agentic AI Architecture - Swapan Rajdev">
            <a:extLst>
              <a:ext uri="{FF2B5EF4-FFF2-40B4-BE49-F238E27FC236}">
                <a16:creationId xmlns:a16="http://schemas.microsoft.com/office/drawing/2014/main" id="{2BB134D9-A4D8-B47F-3212-FCD463AC8E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375" y="10683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9" name="AutoShape 8" descr="AI Agent Technology Stack: Breakdown of the AI Agent Stack">
            <a:extLst>
              <a:ext uri="{FF2B5EF4-FFF2-40B4-BE49-F238E27FC236}">
                <a16:creationId xmlns:a16="http://schemas.microsoft.com/office/drawing/2014/main" id="{1EEE3454-B746-5114-70FE-6978DD490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375" y="10972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10" name="AutoShape 9" descr="𝐀𝐈 𝐀𝐠𝐞𝐧𝐭 𝐀𝐫𝐜𝐡𝐢𝐭𝐞𝐜𝐭𝐮𝐫𝐞 𝐒𝐭𝐲𝐥𝐞𝐬 𝐄𝐱𝐩𝐥𝐚𝐢𝐧𝐞𝐝 AI Agents come in many forms ...">
            <a:extLst>
              <a:ext uri="{FF2B5EF4-FFF2-40B4-BE49-F238E27FC236}">
                <a16:creationId xmlns:a16="http://schemas.microsoft.com/office/drawing/2014/main" id="{AAB4D10B-3F8D-0E58-677D-5877A14496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375" y="11261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9270011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E328-7AE2-244B-BCA7-472D0C27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AI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ECB83-8274-423E-BDDA-8C1D0662E22F}"/>
              </a:ext>
            </a:extLst>
          </p:cNvPr>
          <p:cNvSpPr txBox="1"/>
          <p:nvPr/>
        </p:nvSpPr>
        <p:spPr>
          <a:xfrm>
            <a:off x="584200" y="1117600"/>
            <a:ext cx="11023600" cy="5842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An agent runs a continuous loop: it perceives input, plans with an LLM, acts through tools, observes the result, and repeats — drawing on memory throughout.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FBCFA3-8E55-46C8-9E77-ACE688F5254B}"/>
              </a:ext>
            </a:extLst>
          </p:cNvPr>
          <p:cNvSpPr/>
          <p:nvPr/>
        </p:nvSpPr>
        <p:spPr bwMode="auto">
          <a:xfrm>
            <a:off x="4572000" y="1905000"/>
            <a:ext cx="3048000" cy="660400"/>
          </a:xfrm>
          <a:prstGeom prst="roundRect">
            <a:avLst/>
          </a:prstGeom>
          <a:solidFill>
            <a:srgbClr val="000041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Agent Core — LLM Reasoning</a:t>
            </a:r>
            <a:endParaRPr lang="en-PK" sz="15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B29B64-B25E-4018-AB85-80FF3C06619F}"/>
              </a:ext>
            </a:extLst>
          </p:cNvPr>
          <p:cNvSpPr/>
          <p:nvPr/>
        </p:nvSpPr>
        <p:spPr bwMode="auto">
          <a:xfrm>
            <a:off x="762000" y="3365500"/>
            <a:ext cx="2159000" cy="838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Perceive</a:t>
            </a:r>
            <a:endParaRPr lang="en-PK" sz="16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B9D19A-2A4B-4949-83EC-ABA6E1E52542}"/>
              </a:ext>
            </a:extLst>
          </p:cNvPr>
          <p:cNvSpPr/>
          <p:nvPr/>
        </p:nvSpPr>
        <p:spPr bwMode="auto">
          <a:xfrm>
            <a:off x="3683000" y="3365500"/>
            <a:ext cx="2159000" cy="838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Plan</a:t>
            </a:r>
            <a:endParaRPr lang="en-PK" sz="16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41B0D1-368F-4B93-B818-CCD9F9E09197}"/>
              </a:ext>
            </a:extLst>
          </p:cNvPr>
          <p:cNvSpPr/>
          <p:nvPr/>
        </p:nvSpPr>
        <p:spPr bwMode="auto">
          <a:xfrm>
            <a:off x="6604000" y="3365500"/>
            <a:ext cx="2159000" cy="838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Act</a:t>
            </a:r>
            <a:endParaRPr lang="en-PK" sz="16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846A7A-815B-4978-909E-EAB8A27B4EFE}"/>
              </a:ext>
            </a:extLst>
          </p:cNvPr>
          <p:cNvSpPr/>
          <p:nvPr/>
        </p:nvSpPr>
        <p:spPr bwMode="auto">
          <a:xfrm>
            <a:off x="9525000" y="3365500"/>
            <a:ext cx="2159000" cy="838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Observe</a:t>
            </a:r>
            <a:endParaRPr lang="en-PK" sz="16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FCE44CB-852D-49BA-95FD-66F0876A2BAD}"/>
              </a:ext>
            </a:extLst>
          </p:cNvPr>
          <p:cNvSpPr/>
          <p:nvPr/>
        </p:nvSpPr>
        <p:spPr bwMode="auto">
          <a:xfrm>
            <a:off x="3022600" y="3657600"/>
            <a:ext cx="609600" cy="254000"/>
          </a:xfrm>
          <a:prstGeom prst="right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FF29FEE-16F7-4488-9F6E-BFCB7FA98465}"/>
              </a:ext>
            </a:extLst>
          </p:cNvPr>
          <p:cNvSpPr/>
          <p:nvPr/>
        </p:nvSpPr>
        <p:spPr bwMode="auto">
          <a:xfrm>
            <a:off x="5943600" y="3657600"/>
            <a:ext cx="609600" cy="254000"/>
          </a:xfrm>
          <a:prstGeom prst="right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44722FA-0C07-4DCC-86F7-0B66066C75E2}"/>
              </a:ext>
            </a:extLst>
          </p:cNvPr>
          <p:cNvSpPr/>
          <p:nvPr/>
        </p:nvSpPr>
        <p:spPr bwMode="auto">
          <a:xfrm>
            <a:off x="8864600" y="3657600"/>
            <a:ext cx="609600" cy="254000"/>
          </a:xfrm>
          <a:prstGeom prst="right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197462C2-57FA-432C-9417-1D92A90E2FF2}"/>
              </a:ext>
            </a:extLst>
          </p:cNvPr>
          <p:cNvSpPr/>
          <p:nvPr/>
        </p:nvSpPr>
        <p:spPr bwMode="auto">
          <a:xfrm>
            <a:off x="762000" y="4584700"/>
            <a:ext cx="10541000" cy="279400"/>
          </a:xfrm>
          <a:prstGeom prst="leftArrow">
            <a:avLst/>
          </a:prstGeom>
          <a:solidFill>
            <a:srgbClr val="50E6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67242-D33A-4677-AE32-570EE69D3697}"/>
              </a:ext>
            </a:extLst>
          </p:cNvPr>
          <p:cNvSpPr txBox="1"/>
          <p:nvPr/>
        </p:nvSpPr>
        <p:spPr>
          <a:xfrm>
            <a:off x="762000" y="4584700"/>
            <a:ext cx="10541000" cy="279400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loop until the goal is met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D7BE9D-BD07-4310-9A09-6FB4CB0341A1}"/>
              </a:ext>
            </a:extLst>
          </p:cNvPr>
          <p:cNvSpPr/>
          <p:nvPr/>
        </p:nvSpPr>
        <p:spPr bwMode="auto">
          <a:xfrm>
            <a:off x="762000" y="5461000"/>
            <a:ext cx="5080000" cy="711200"/>
          </a:xfrm>
          <a:prstGeom prst="roundRect">
            <a:avLst/>
          </a:prstGeom>
          <a:solidFill>
            <a:srgbClr val="EBEBE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Memory  ·  retains context across steps &amp; sessions</a:t>
            </a:r>
            <a:endParaRPr lang="en-PK" sz="14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E602A3-F687-40AB-9C27-AA18BB5DE453}"/>
              </a:ext>
            </a:extLst>
          </p:cNvPr>
          <p:cNvSpPr/>
          <p:nvPr/>
        </p:nvSpPr>
        <p:spPr bwMode="auto">
          <a:xfrm>
            <a:off x="6223000" y="5461000"/>
            <a:ext cx="5080000" cy="711200"/>
          </a:xfrm>
          <a:prstGeom prst="roundRect">
            <a:avLst/>
          </a:prstGeom>
          <a:solidFill>
            <a:srgbClr val="EBEBE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Tools / Environment  ·  APIs, code, web, data</a:t>
            </a:r>
            <a:endParaRPr lang="en-PK" sz="14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961766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4F68-CB9F-6BE5-BE95-EB7ABE35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vs LLM Pipelines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0ECEA7-66A8-4C89-B4D0-44133AD810F3}"/>
              </a:ext>
            </a:extLst>
          </p:cNvPr>
          <p:cNvSpPr/>
          <p:nvPr/>
        </p:nvSpPr>
        <p:spPr bwMode="auto">
          <a:xfrm>
            <a:off x="584200" y="1905000"/>
            <a:ext cx="5232400" cy="3810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8D1E60-6E38-4633-B6FE-27D1177C2100}"/>
              </a:ext>
            </a:extLst>
          </p:cNvPr>
          <p:cNvSpPr/>
          <p:nvPr/>
        </p:nvSpPr>
        <p:spPr bwMode="auto">
          <a:xfrm>
            <a:off x="584200" y="1905000"/>
            <a:ext cx="5232400" cy="609600"/>
          </a:xfrm>
          <a:prstGeom prst="rect">
            <a:avLst/>
          </a:prstGeom>
          <a:solidFill>
            <a:srgbClr val="44474B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LLM Pipeline</a:t>
            </a:r>
            <a:endParaRPr lang="en-PK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61626A-7EA8-4FCD-BFBF-1587C2159D71}"/>
              </a:ext>
            </a:extLst>
          </p:cNvPr>
          <p:cNvSpPr/>
          <p:nvPr/>
        </p:nvSpPr>
        <p:spPr bwMode="auto">
          <a:xfrm>
            <a:off x="6375400" y="1905000"/>
            <a:ext cx="5232400" cy="3810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945A8-2172-44C4-9776-7DA6E1D918D8}"/>
              </a:ext>
            </a:extLst>
          </p:cNvPr>
          <p:cNvSpPr/>
          <p:nvPr/>
        </p:nvSpPr>
        <p:spPr bwMode="auto">
          <a:xfrm>
            <a:off x="6375400" y="1905000"/>
            <a:ext cx="5232400" cy="6096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AI Agent</a:t>
            </a:r>
            <a:endParaRPr lang="en-PK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LLMBody">
            <a:extLst>
              <a:ext uri="{FF2B5EF4-FFF2-40B4-BE49-F238E27FC236}">
                <a16:creationId xmlns:a16="http://schemas.microsoft.com/office/drawing/2014/main" id="{0DFF8683-2929-4B3B-9EDC-61CFD7765C14}"/>
              </a:ext>
            </a:extLst>
          </p:cNvPr>
          <p:cNvSpPr txBox="1"/>
          <p:nvPr/>
        </p:nvSpPr>
        <p:spPr>
          <a:xfrm>
            <a:off x="812800" y="2667000"/>
            <a:ext cx="4775200" cy="2011448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Fixed, predefined sequence of steps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Same path runs every time — no branching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No autonomous decisions; developer sets the flow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Single pass: input → prompt → output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Stateless between calls unless wired manually</a:t>
            </a:r>
          </a:p>
        </p:txBody>
      </p:sp>
      <p:sp>
        <p:nvSpPr>
          <p:cNvPr id="8" name="AgentBody">
            <a:extLst>
              <a:ext uri="{FF2B5EF4-FFF2-40B4-BE49-F238E27FC236}">
                <a16:creationId xmlns:a16="http://schemas.microsoft.com/office/drawing/2014/main" id="{D5840D13-46DB-4D82-AFB2-154615488D3B}"/>
              </a:ext>
            </a:extLst>
          </p:cNvPr>
          <p:cNvSpPr txBox="1"/>
          <p:nvPr/>
        </p:nvSpPr>
        <p:spPr>
          <a:xfrm>
            <a:off x="6604000" y="2667000"/>
            <a:ext cx="4775200" cy="1783822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Dynamic control flow chosen at runtime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Decides which steps and tools to use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Acts in a perceive–plan–act–observe loop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Calls tools, APIs and code to affect the world</a:t>
            </a:r>
          </a:p>
          <a:p>
            <a:pPr marL="228600" indent="-228600" algn="l">
              <a:lnSpc>
                <a:spcPct val="10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Maintains memory and adapts to results</a:t>
            </a:r>
          </a:p>
        </p:txBody>
      </p:sp>
      <p:sp>
        <p:nvSpPr>
          <p:cNvPr id="9" name="Takeaway">
            <a:extLst>
              <a:ext uri="{FF2B5EF4-FFF2-40B4-BE49-F238E27FC236}">
                <a16:creationId xmlns:a16="http://schemas.microsoft.com/office/drawing/2014/main" id="{73160765-FEEC-4F0E-8B3E-A4D0AA19CF56}"/>
              </a:ext>
            </a:extLst>
          </p:cNvPr>
          <p:cNvSpPr/>
          <p:nvPr/>
        </p:nvSpPr>
        <p:spPr bwMode="auto">
          <a:xfrm>
            <a:off x="584200" y="5918200"/>
            <a:ext cx="11023600" cy="5842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</a:rPr>
              <a:t>Bottom line: a pipeline follows a script; an agent decides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339817296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B80E-6B18-F120-CE01-BC1EAB0C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K" dirty="0"/>
              <a:t>Agents vs LLM Pipelines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8BE201-7739-4002-EBB8-2D1CA8F99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41740"/>
              </p:ext>
            </p:extLst>
          </p:nvPr>
        </p:nvGraphicFramePr>
        <p:xfrm>
          <a:off x="588264" y="1201478"/>
          <a:ext cx="11437158" cy="546513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12386">
                  <a:extLst>
                    <a:ext uri="{9D8B030D-6E8A-4147-A177-3AD203B41FA5}">
                      <a16:colId xmlns:a16="http://schemas.microsoft.com/office/drawing/2014/main" val="4273696982"/>
                    </a:ext>
                  </a:extLst>
                </a:gridCol>
                <a:gridCol w="3812386">
                  <a:extLst>
                    <a:ext uri="{9D8B030D-6E8A-4147-A177-3AD203B41FA5}">
                      <a16:colId xmlns:a16="http://schemas.microsoft.com/office/drawing/2014/main" val="2643945661"/>
                    </a:ext>
                  </a:extLst>
                </a:gridCol>
                <a:gridCol w="3812386">
                  <a:extLst>
                    <a:ext uri="{9D8B030D-6E8A-4147-A177-3AD203B41FA5}">
                      <a16:colId xmlns:a16="http://schemas.microsoft.com/office/drawing/2014/main" val="1093871097"/>
                    </a:ext>
                  </a:extLst>
                </a:gridCol>
              </a:tblGrid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AI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LLM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119713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Autonomy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Self-directed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User-driven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997581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Goal Handling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Multi-step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Single-turn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796884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Memory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Persistent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Stateless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938423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Tool Use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Dynamic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Predefined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641892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Learning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Model-fixed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686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62331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8219-C4E2-79C5-08B7-9ED6EE84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Planner, Executor &amp; Tool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1ABDE-4BB9-4FE7-BAD8-FD24941BE306}"/>
              </a:ext>
            </a:extLst>
          </p:cNvPr>
          <p:cNvSpPr txBox="1"/>
          <p:nvPr/>
        </p:nvSpPr>
        <p:spPr>
          <a:xfrm>
            <a:off x="584200" y="1117600"/>
            <a:ext cx="11023600" cy="381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A multi-agent system splits responsibility across specialized roles that hand work to one another.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E4456-1A6C-44E4-A8CB-3519AF502B66}"/>
              </a:ext>
            </a:extLst>
          </p:cNvPr>
          <p:cNvSpPr/>
          <p:nvPr/>
        </p:nvSpPr>
        <p:spPr bwMode="auto">
          <a:xfrm>
            <a:off x="584200" y="1905000"/>
            <a:ext cx="3429000" cy="266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D10E6-C7B4-4130-BF62-0F5FF6BD4575}"/>
              </a:ext>
            </a:extLst>
          </p:cNvPr>
          <p:cNvSpPr/>
          <p:nvPr/>
        </p:nvSpPr>
        <p:spPr bwMode="auto">
          <a:xfrm>
            <a:off x="584200" y="1905000"/>
            <a:ext cx="3429000" cy="584200"/>
          </a:xfrm>
          <a:prstGeom prst="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Planner</a:t>
            </a:r>
            <a:endParaRPr lang="en-PK" sz="17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747D2-DDE3-4103-ACA2-50E315DDFE5D}"/>
              </a:ext>
            </a:extLst>
          </p:cNvPr>
          <p:cNvSpPr txBox="1"/>
          <p:nvPr/>
        </p:nvSpPr>
        <p:spPr>
          <a:xfrm>
            <a:off x="762000" y="2641600"/>
            <a:ext cx="3073400" cy="17526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Breaks the goal into an ordered plan of sub-tasks. Reasons about what must happen and in what sequence. Re-plans when results change.</a:t>
            </a:r>
            <a:endParaRPr lang="en-PK" sz="14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FEE5B0-E7AD-43D2-B600-2CCB9E7B191B}"/>
              </a:ext>
            </a:extLst>
          </p:cNvPr>
          <p:cNvSpPr/>
          <p:nvPr/>
        </p:nvSpPr>
        <p:spPr bwMode="auto">
          <a:xfrm>
            <a:off x="4381500" y="1905000"/>
            <a:ext cx="3429000" cy="266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ED8590-75FE-46B8-ACFC-E20855DEE920}"/>
              </a:ext>
            </a:extLst>
          </p:cNvPr>
          <p:cNvSpPr/>
          <p:nvPr/>
        </p:nvSpPr>
        <p:spPr bwMode="auto">
          <a:xfrm>
            <a:off x="4381500" y="1905000"/>
            <a:ext cx="3429000" cy="5842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Executor</a:t>
            </a:r>
            <a:endParaRPr lang="en-PK" sz="17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59DFF1-AB76-4038-B47D-8A933DF11F59}"/>
              </a:ext>
            </a:extLst>
          </p:cNvPr>
          <p:cNvSpPr txBox="1"/>
          <p:nvPr/>
        </p:nvSpPr>
        <p:spPr>
          <a:xfrm>
            <a:off x="4559300" y="2641600"/>
            <a:ext cx="3073400" cy="17526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Carries out the plan step by step. Decides which tool to invoke for each step and passes the right inputs. Feeds results back to the planner.</a:t>
            </a:r>
            <a:endParaRPr lang="en-PK" sz="14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6684CF-230E-4A55-B221-6927F4155DE3}"/>
              </a:ext>
            </a:extLst>
          </p:cNvPr>
          <p:cNvSpPr/>
          <p:nvPr/>
        </p:nvSpPr>
        <p:spPr bwMode="auto">
          <a:xfrm>
            <a:off x="8178800" y="1905000"/>
            <a:ext cx="3429000" cy="266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819179-FA5A-45C2-A90E-0A8EC5DA0C09}"/>
              </a:ext>
            </a:extLst>
          </p:cNvPr>
          <p:cNvSpPr/>
          <p:nvPr/>
        </p:nvSpPr>
        <p:spPr bwMode="auto">
          <a:xfrm>
            <a:off x="8178800" y="1905000"/>
            <a:ext cx="3429000" cy="584200"/>
          </a:xfrm>
          <a:prstGeom prst="rect">
            <a:avLst/>
          </a:prstGeom>
          <a:solidFill>
            <a:srgbClr val="44474B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Tool Agents</a:t>
            </a:r>
            <a:endParaRPr lang="en-PK" sz="17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3F015-3559-44CE-AAE5-053E88EC5966}"/>
              </a:ext>
            </a:extLst>
          </p:cNvPr>
          <p:cNvSpPr txBox="1"/>
          <p:nvPr/>
        </p:nvSpPr>
        <p:spPr>
          <a:xfrm>
            <a:off x="8356600" y="2641600"/>
            <a:ext cx="3073400" cy="17526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Specialized workers: web search, code runner, database, calculator, file I/O. Each exposes a clear interface and returns a result.</a:t>
            </a:r>
            <a:endParaRPr lang="en-PK" sz="14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093928D-6C96-44B2-A6BD-85642D0A4887}"/>
              </a:ext>
            </a:extLst>
          </p:cNvPr>
          <p:cNvSpPr/>
          <p:nvPr/>
        </p:nvSpPr>
        <p:spPr bwMode="auto">
          <a:xfrm>
            <a:off x="3949700" y="3048000"/>
            <a:ext cx="406400" cy="330200"/>
          </a:xfrm>
          <a:prstGeom prst="right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C47BAA-1121-4173-B13B-89B2B2EA1150}"/>
              </a:ext>
            </a:extLst>
          </p:cNvPr>
          <p:cNvSpPr/>
          <p:nvPr/>
        </p:nvSpPr>
        <p:spPr bwMode="auto">
          <a:xfrm>
            <a:off x="7747000" y="3048000"/>
            <a:ext cx="406400" cy="330200"/>
          </a:xfrm>
          <a:prstGeom prst="right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21FE7B93-1897-475A-9896-C12883CFB487}"/>
              </a:ext>
            </a:extLst>
          </p:cNvPr>
          <p:cNvSpPr/>
          <p:nvPr/>
        </p:nvSpPr>
        <p:spPr bwMode="auto">
          <a:xfrm>
            <a:off x="762000" y="4800600"/>
            <a:ext cx="10668000" cy="254000"/>
          </a:xfrm>
          <a:prstGeom prst="leftArrow">
            <a:avLst/>
          </a:prstGeom>
          <a:solidFill>
            <a:srgbClr val="50E6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68A8C4-D373-43A6-817A-BD0DCEAEF6C9}"/>
              </a:ext>
            </a:extLst>
          </p:cNvPr>
          <p:cNvSpPr txBox="1"/>
          <p:nvPr/>
        </p:nvSpPr>
        <p:spPr>
          <a:xfrm>
            <a:off x="762000" y="4800600"/>
            <a:ext cx="10668000" cy="254000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ctr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results &amp; observations flow back — the planner adapts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668AD-FCB7-4FE0-BCEF-4F22533DE470}"/>
              </a:ext>
            </a:extLst>
          </p:cNvPr>
          <p:cNvSpPr txBox="1"/>
          <p:nvPr/>
        </p:nvSpPr>
        <p:spPr>
          <a:xfrm>
            <a:off x="584200" y="5461000"/>
            <a:ext cx="11023600" cy="762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i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In a single-agent setup, one LLM plays all three roles in turn; in multi-agent systems they are separate, coordinating agents.</a:t>
            </a:r>
            <a:endParaRPr lang="en-PK" sz="1400" i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7780021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FC56-24B4-5A04-5F7E-D91415E0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K" dirty="0"/>
              <a:t>Planner, Executor, and Tool Agents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50A58-D86B-B93A-44F2-E87AEF33F9A1}"/>
              </a:ext>
            </a:extLst>
          </p:cNvPr>
          <p:cNvSpPr txBox="1"/>
          <p:nvPr/>
        </p:nvSpPr>
        <p:spPr>
          <a:xfrm>
            <a:off x="588263" y="1997839"/>
            <a:ext cx="29452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K" b="1" dirty="0"/>
              <a:t>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K" b="1" dirty="0">
                <a:effectLst/>
              </a:rPr>
              <a:t>Planner Agent</a:t>
            </a:r>
            <a:r>
              <a:rPr lang="en-PK" dirty="0">
                <a:effectLst/>
              </a:rPr>
              <a:t> → Decomposes tasks into subtasks.</a:t>
            </a:r>
            <a:endParaRPr lang="en-PK" dirty="0"/>
          </a:p>
          <a:p>
            <a:pPr>
              <a:buFont typeface="Arial" panose="020B0604020202020204" pitchFamily="34" charset="0"/>
              <a:buChar char="•"/>
            </a:pPr>
            <a:r>
              <a:rPr lang="en-PK" b="1" dirty="0">
                <a:effectLst/>
              </a:rPr>
              <a:t>Executor Agent</a:t>
            </a:r>
            <a:r>
              <a:rPr lang="en-PK" dirty="0">
                <a:effectLst/>
              </a:rPr>
              <a:t> → Executes subtasks sequentially or in parallel.</a:t>
            </a:r>
            <a:endParaRPr lang="en-PK" dirty="0"/>
          </a:p>
          <a:p>
            <a:pPr>
              <a:buFont typeface="Arial" panose="020B0604020202020204" pitchFamily="34" charset="0"/>
              <a:buChar char="•"/>
            </a:pPr>
            <a:r>
              <a:rPr lang="en-PK" b="1" dirty="0">
                <a:effectLst/>
              </a:rPr>
              <a:t>Tool Agent</a:t>
            </a:r>
            <a:r>
              <a:rPr lang="en-PK" dirty="0">
                <a:effectLst/>
              </a:rPr>
              <a:t> → Interfaces with APIs, databases, or external systems.</a:t>
            </a:r>
            <a:endParaRPr lang="en-P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649FB8-A1A5-F9A1-2FCC-8C1B854CA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481" y="1545066"/>
            <a:ext cx="83058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0609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1818-D467-DF2B-CB16-A66D8AF6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Thought (CoT)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46592-A448-4E16-81EF-68CEBE13A67F}"/>
              </a:ext>
            </a:extLst>
          </p:cNvPr>
          <p:cNvSpPr txBox="1"/>
          <p:nvPr/>
        </p:nvSpPr>
        <p:spPr>
          <a:xfrm>
            <a:off x="584200" y="1117600"/>
            <a:ext cx="11023600" cy="508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CoT prompts the model to reason step by step before answering — making intermediate reasoning explicit improves accuracy on multi-step problems.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Concept">
            <a:extLst>
              <a:ext uri="{FF2B5EF4-FFF2-40B4-BE49-F238E27FC236}">
                <a16:creationId xmlns:a16="http://schemas.microsoft.com/office/drawing/2014/main" id="{02F43123-9FD1-46D7-8532-C545995D2B0D}"/>
              </a:ext>
            </a:extLst>
          </p:cNvPr>
          <p:cNvSpPr txBox="1"/>
          <p:nvPr/>
        </p:nvSpPr>
        <p:spPr>
          <a:xfrm>
            <a:off x="584200" y="1905000"/>
            <a:ext cx="5130800" cy="358611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78D3"/>
                </a:solidFill>
                <a:latin typeface="Open Sans" panose="020B0606030504020204" pitchFamily="34" charset="0"/>
              </a:rPr>
              <a:t>How it works</a:t>
            </a:r>
          </a:p>
          <a:p>
            <a:pPr marL="228600" indent="-22860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Ask the model to “think step by step” before giving the final answer</a:t>
            </a:r>
          </a:p>
          <a:p>
            <a:pPr marL="228600" indent="-22860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Each step builds on the previous one in a single linear chain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78D3"/>
                </a:solidFill>
                <a:latin typeface="Open Sans" panose="020B0606030504020204" pitchFamily="34" charset="0"/>
              </a:rPr>
              <a:t>Why it helps</a:t>
            </a:r>
          </a:p>
          <a:p>
            <a:pPr marL="228600" indent="-22860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Breaks hard problems into smaller, checkable steps</a:t>
            </a:r>
          </a:p>
          <a:p>
            <a:pPr marL="228600" indent="-22860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Improves accuracy on arithmetic, logic and multi-hop questions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78D3"/>
                </a:solidFill>
                <a:latin typeface="Open Sans" panose="020B0606030504020204" pitchFamily="34" charset="0"/>
              </a:rPr>
              <a:t>When to use</a:t>
            </a:r>
          </a:p>
          <a:p>
            <a:pPr marL="228600" indent="-22860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Tasks needing reasoning, not just recall</a:t>
            </a:r>
          </a:p>
          <a:p>
            <a:pPr marL="228600" indent="-228600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50" dirty="0">
                <a:solidFill>
                  <a:srgbClr val="000041"/>
                </a:solidFill>
                <a:latin typeface="Open Sans" panose="020B0606030504020204" pitchFamily="34" charset="0"/>
              </a:rPr>
              <a:t>When you want the reasoning to be auditable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F7D8F8-A01E-44D7-B2DD-2CDDD986EE8D}"/>
              </a:ext>
            </a:extLst>
          </p:cNvPr>
          <p:cNvSpPr/>
          <p:nvPr/>
        </p:nvSpPr>
        <p:spPr bwMode="auto">
          <a:xfrm>
            <a:off x="6096000" y="1905000"/>
            <a:ext cx="5511800" cy="4191000"/>
          </a:xfrm>
          <a:prstGeom prst="roundRect">
            <a:avLst/>
          </a:prstGeom>
          <a:solidFill>
            <a:srgbClr val="F4F8FB"/>
          </a:solidFill>
          <a:ln w="15875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E1AE3-DE58-4070-8906-235402CD7E43}"/>
              </a:ext>
            </a:extLst>
          </p:cNvPr>
          <p:cNvSpPr/>
          <p:nvPr/>
        </p:nvSpPr>
        <p:spPr bwMode="auto">
          <a:xfrm>
            <a:off x="6096000" y="1905000"/>
            <a:ext cx="5511800" cy="508000"/>
          </a:xfrm>
          <a:prstGeom prst="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Worked example</a:t>
            </a:r>
            <a:endParaRPr lang="en-PK" sz="15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Example">
            <a:extLst>
              <a:ext uri="{FF2B5EF4-FFF2-40B4-BE49-F238E27FC236}">
                <a16:creationId xmlns:a16="http://schemas.microsoft.com/office/drawing/2014/main" id="{D3395690-3786-443B-ACCC-0842CDF92D4F}"/>
              </a:ext>
            </a:extLst>
          </p:cNvPr>
          <p:cNvSpPr txBox="1"/>
          <p:nvPr/>
        </p:nvSpPr>
        <p:spPr>
          <a:xfrm>
            <a:off x="6324600" y="2540000"/>
            <a:ext cx="5054600" cy="183903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0041"/>
                </a:solidFill>
                <a:latin typeface="Consolas" pitchFamily="49" charset="0"/>
              </a:rPr>
              <a:t>Q: A shop has 23 apples. It sells 8, then a delivery adds 15. How many now?</a:t>
            </a:r>
          </a:p>
          <a:p>
            <a:pPr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350" b="0" dirty="0">
                <a:solidFill>
                  <a:srgbClr val="44474B"/>
                </a:solidFill>
                <a:latin typeface="Consolas" pitchFamily="49" charset="0"/>
              </a:rPr>
              <a:t>Step 1: Start with 23 apples.</a:t>
            </a:r>
          </a:p>
          <a:p>
            <a:pPr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350" b="0" dirty="0">
                <a:solidFill>
                  <a:srgbClr val="44474B"/>
                </a:solidFill>
                <a:latin typeface="Consolas" pitchFamily="49" charset="0"/>
              </a:rPr>
              <a:t>Step 2: Sell 8 → 23 − 8 = 15.</a:t>
            </a:r>
          </a:p>
          <a:p>
            <a:pPr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350" b="0" dirty="0">
                <a:solidFill>
                  <a:srgbClr val="44474B"/>
                </a:solidFill>
                <a:latin typeface="Consolas" pitchFamily="49" charset="0"/>
              </a:rPr>
              <a:t>Step 3: Delivery adds 15 → 15 + 15 = 30.</a:t>
            </a:r>
          </a:p>
          <a:p>
            <a:pPr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78D3"/>
                </a:solidFill>
                <a:latin typeface="Consolas" pitchFamily="49" charset="0"/>
              </a:rPr>
              <a:t>Answer: 30 apples.</a:t>
            </a:r>
          </a:p>
        </p:txBody>
      </p:sp>
    </p:spTree>
    <p:extLst>
      <p:ext uri="{BB962C8B-B14F-4D97-AF65-F5344CB8AC3E}">
        <p14:creationId xmlns:p14="http://schemas.microsoft.com/office/powerpoint/2010/main" val="425789245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A00A-BBE4-1AE6-F54A-120C6A6D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Apply Chain of Thought (</a:t>
            </a:r>
            <a:r>
              <a:rPr lang="en-PK" dirty="0" err="1"/>
              <a:t>CoT</a:t>
            </a:r>
            <a:r>
              <a:rPr lang="en-PK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A5FFF-2453-FF60-9C03-834C83944137}"/>
              </a:ext>
            </a:extLst>
          </p:cNvPr>
          <p:cNvSpPr txBox="1"/>
          <p:nvPr/>
        </p:nvSpPr>
        <p:spPr>
          <a:xfrm>
            <a:off x="818708" y="1275908"/>
            <a:ext cx="30409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K" dirty="0" err="1">
                <a:effectLst/>
              </a:rPr>
              <a:t>CoT</a:t>
            </a:r>
            <a:r>
              <a:rPr lang="en-PK" dirty="0">
                <a:effectLst/>
              </a:rPr>
              <a:t> enables step-by-step reasoning in LLMs, improving logical accuracy.</a:t>
            </a:r>
            <a:endParaRPr lang="en-PK" dirty="0"/>
          </a:p>
          <a:p>
            <a:pPr>
              <a:buNone/>
            </a:pPr>
            <a:r>
              <a:rPr lang="en-PK" b="1" dirty="0"/>
              <a:t>Example</a:t>
            </a:r>
          </a:p>
          <a:p>
            <a:pPr>
              <a:buNone/>
            </a:pPr>
            <a:r>
              <a:rPr lang="en-PK" b="1" dirty="0">
                <a:effectLst/>
              </a:rPr>
              <a:t>Prompt:</a:t>
            </a:r>
            <a:r>
              <a:rPr lang="en-PK" dirty="0">
                <a:effectLst/>
              </a:rPr>
              <a:t> “What’s 12% of 250?” </a:t>
            </a:r>
            <a:r>
              <a:rPr lang="en-PK" b="1" dirty="0" err="1">
                <a:effectLst/>
              </a:rPr>
              <a:t>CoT</a:t>
            </a:r>
            <a:r>
              <a:rPr lang="en-PK" b="1" dirty="0">
                <a:effectLst/>
              </a:rPr>
              <a:t> Reasoning:</a:t>
            </a:r>
            <a:endParaRPr lang="en-PK" dirty="0"/>
          </a:p>
          <a:p>
            <a:pPr>
              <a:buFont typeface="+mj-lt"/>
              <a:buAutoNum type="arabicPeriod"/>
            </a:pPr>
            <a:r>
              <a:rPr lang="en-PK" dirty="0">
                <a:effectLst/>
              </a:rPr>
              <a:t>10% of 250 = 25</a:t>
            </a:r>
            <a:endParaRPr lang="en-PK" dirty="0"/>
          </a:p>
          <a:p>
            <a:pPr>
              <a:buFont typeface="+mj-lt"/>
              <a:buAutoNum type="arabicPeriod"/>
            </a:pPr>
            <a:r>
              <a:rPr lang="en-PK" dirty="0">
                <a:effectLst/>
              </a:rPr>
              <a:t>2% of 250 = 5</a:t>
            </a:r>
            <a:endParaRPr lang="en-PK" dirty="0"/>
          </a:p>
          <a:p>
            <a:pPr>
              <a:buFont typeface="+mj-lt"/>
              <a:buAutoNum type="arabicPeriod"/>
            </a:pPr>
            <a:r>
              <a:rPr lang="en-PK" dirty="0">
                <a:effectLst/>
              </a:rPr>
              <a:t>25 + 5 = 30 → </a:t>
            </a:r>
            <a:r>
              <a:rPr lang="en-PK" b="1" dirty="0">
                <a:effectLst/>
              </a:rPr>
              <a:t>Answer: 30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70B9A-C49F-3224-2201-052FB8732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457" y="1119764"/>
            <a:ext cx="7275231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2464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67A0-BCAA-5244-378D-13CF0C21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n-PK" dirty="0"/>
          </a:p>
        </p:txBody>
      </p:sp>
      <p:pic>
        <p:nvPicPr>
          <p:cNvPr id="6146" name="Picture 2" descr="Prompt quality comparison diagram">
            <a:extLst>
              <a:ext uri="{FF2B5EF4-FFF2-40B4-BE49-F238E27FC236}">
                <a16:creationId xmlns:a16="http://schemas.microsoft.com/office/drawing/2014/main" id="{0FED9C57-52CD-3AF2-1649-716782E0E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188" y="1350335"/>
            <a:ext cx="7081282" cy="472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998ED5-8182-91F3-B8E4-0CC673FA6662}"/>
              </a:ext>
            </a:extLst>
          </p:cNvPr>
          <p:cNvSpPr txBox="1"/>
          <p:nvPr/>
        </p:nvSpPr>
        <p:spPr>
          <a:xfrm>
            <a:off x="404036" y="1859339"/>
            <a:ext cx="67197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K" dirty="0"/>
              <a:t>Example:</a:t>
            </a:r>
          </a:p>
          <a:p>
            <a:pPr>
              <a:buNone/>
            </a:pPr>
            <a:r>
              <a:rPr lang="en-PK" dirty="0"/>
              <a:t>Bad Prompt: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What is 15% of 250?</a:t>
            </a:r>
          </a:p>
          <a:p>
            <a:pPr>
              <a:buNone/>
            </a:pPr>
            <a:r>
              <a:rPr lang="en-PK" dirty="0"/>
              <a:t>Better: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Calculate step by step.</a:t>
            </a:r>
          </a:p>
          <a:p>
            <a:pPr>
              <a:buNone/>
            </a:pPr>
            <a:r>
              <a:rPr lang="en-PK" dirty="0"/>
              <a:t>Reasoning: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15% = 0.15</a:t>
            </a:r>
            <a:br>
              <a:rPr lang="en-PK" dirty="0">
                <a:latin typeface="Courier New" panose="02070309020205020404" pitchFamily="49" charset="0"/>
              </a:rPr>
            </a:br>
            <a:br>
              <a:rPr lang="en-PK" dirty="0">
                <a:latin typeface="Courier New" panose="02070309020205020404" pitchFamily="49" charset="0"/>
              </a:rPr>
            </a:br>
            <a:r>
              <a:rPr lang="en-PK" dirty="0">
                <a:latin typeface="Courier New" panose="02070309020205020404" pitchFamily="49" charset="0"/>
              </a:rPr>
              <a:t>250 × 0.15 = 37.5</a:t>
            </a:r>
          </a:p>
          <a:p>
            <a:pPr>
              <a:buNone/>
            </a:pPr>
            <a:r>
              <a:rPr lang="en-PK" dirty="0"/>
              <a:t>Answer:</a:t>
            </a:r>
            <a:r>
              <a:rPr lang="en-US" dirty="0"/>
              <a:t> </a:t>
            </a:r>
            <a:r>
              <a:rPr lang="en-PK" dirty="0">
                <a:latin typeface="Courier New" panose="02070309020205020404" pitchFamily="49" charset="0"/>
              </a:rPr>
              <a:t>37.5</a:t>
            </a:r>
          </a:p>
        </p:txBody>
      </p:sp>
    </p:spTree>
    <p:extLst>
      <p:ext uri="{BB962C8B-B14F-4D97-AF65-F5344CB8AC3E}">
        <p14:creationId xmlns:p14="http://schemas.microsoft.com/office/powerpoint/2010/main" val="204053753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77385EB-3BC8-4D1E-BA3F-A65AC64B09B4}"/>
              </a:ext>
            </a:extLst>
          </p:cNvPr>
          <p:cNvSpPr/>
          <p:nvPr/>
        </p:nvSpPr>
        <p:spPr bwMode="auto">
          <a:xfrm>
            <a:off x="8763000" y="3911600"/>
            <a:ext cx="25400" cy="508000"/>
          </a:xfrm>
          <a:prstGeom prst="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42D5BB-28D6-43F9-8CB5-E96757057622}"/>
              </a:ext>
            </a:extLst>
          </p:cNvPr>
          <p:cNvSpPr/>
          <p:nvPr/>
        </p:nvSpPr>
        <p:spPr bwMode="auto">
          <a:xfrm>
            <a:off x="6985000" y="2768600"/>
            <a:ext cx="3556000" cy="25400"/>
          </a:xfrm>
          <a:prstGeom prst="rect">
            <a:avLst/>
          </a:prstGeom>
          <a:solidFill>
            <a:srgbClr val="C9C9C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7CDCFD-9E9A-4B3F-BEB8-096325E4BB31}"/>
              </a:ext>
            </a:extLst>
          </p:cNvPr>
          <p:cNvSpPr/>
          <p:nvPr/>
        </p:nvSpPr>
        <p:spPr bwMode="auto">
          <a:xfrm>
            <a:off x="10541000" y="2768600"/>
            <a:ext cx="25400" cy="660400"/>
          </a:xfrm>
          <a:prstGeom prst="rect">
            <a:avLst/>
          </a:prstGeom>
          <a:solidFill>
            <a:srgbClr val="C9C9C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CC25F0-3591-4CDE-9DA3-550D4497EEEB}"/>
              </a:ext>
            </a:extLst>
          </p:cNvPr>
          <p:cNvSpPr/>
          <p:nvPr/>
        </p:nvSpPr>
        <p:spPr bwMode="auto">
          <a:xfrm>
            <a:off x="8763000" y="2768600"/>
            <a:ext cx="25400" cy="660400"/>
          </a:xfrm>
          <a:prstGeom prst="rect">
            <a:avLst/>
          </a:prstGeom>
          <a:solidFill>
            <a:srgbClr val="C9C9C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C8AA50-A9B7-4909-B6EB-6AB100293C6A}"/>
              </a:ext>
            </a:extLst>
          </p:cNvPr>
          <p:cNvSpPr/>
          <p:nvPr/>
        </p:nvSpPr>
        <p:spPr bwMode="auto">
          <a:xfrm>
            <a:off x="6985000" y="2768600"/>
            <a:ext cx="25400" cy="660400"/>
          </a:xfrm>
          <a:prstGeom prst="rect">
            <a:avLst/>
          </a:prstGeom>
          <a:solidFill>
            <a:srgbClr val="C9C9C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5FE3EA-3A0D-49AB-B7F4-16A9185FA105}"/>
              </a:ext>
            </a:extLst>
          </p:cNvPr>
          <p:cNvSpPr/>
          <p:nvPr/>
        </p:nvSpPr>
        <p:spPr bwMode="auto">
          <a:xfrm>
            <a:off x="1638300" y="4572000"/>
            <a:ext cx="25400" cy="381000"/>
          </a:xfrm>
          <a:prstGeom prst="rect">
            <a:avLst/>
          </a:prstGeom>
          <a:solidFill>
            <a:srgbClr val="C9C9C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F7BBB-1F41-42AC-997D-072511F65DA3}"/>
              </a:ext>
            </a:extLst>
          </p:cNvPr>
          <p:cNvSpPr/>
          <p:nvPr/>
        </p:nvSpPr>
        <p:spPr bwMode="auto">
          <a:xfrm>
            <a:off x="1638300" y="2540000"/>
            <a:ext cx="25400" cy="1574800"/>
          </a:xfrm>
          <a:prstGeom prst="rect">
            <a:avLst/>
          </a:prstGeom>
          <a:solidFill>
            <a:srgbClr val="C9C9C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AF03C-8E7F-0B6E-FCFD-6B3D7CE0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of Thoughts (ToT)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6246B-4F7B-4105-98F1-AA515840AEA6}"/>
              </a:ext>
            </a:extLst>
          </p:cNvPr>
          <p:cNvSpPr txBox="1"/>
          <p:nvPr/>
        </p:nvSpPr>
        <p:spPr>
          <a:xfrm>
            <a:off x="584200" y="1117600"/>
            <a:ext cx="11023600" cy="508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ToT generalizes CoT: instead of one chain, the model explores multiple reasoning branches, evaluates them, and keeps the most promising path.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B0D1A-CABA-499C-B822-A9648B740269}"/>
              </a:ext>
            </a:extLst>
          </p:cNvPr>
          <p:cNvSpPr txBox="1"/>
          <p:nvPr/>
        </p:nvSpPr>
        <p:spPr>
          <a:xfrm>
            <a:off x="635000" y="1905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CoT — single chain</a:t>
            </a:r>
            <a:endParaRPr lang="en-PK" sz="1400" b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20C1BE-7854-47FB-9F71-DC1E201BB246}"/>
              </a:ext>
            </a:extLst>
          </p:cNvPr>
          <p:cNvSpPr/>
          <p:nvPr/>
        </p:nvSpPr>
        <p:spPr bwMode="auto">
          <a:xfrm>
            <a:off x="889000" y="2286000"/>
            <a:ext cx="1574800" cy="508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Step 1</a:t>
            </a:r>
            <a:endParaRPr lang="en-PK" sz="13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A41277-F85A-4003-9012-06432163369E}"/>
              </a:ext>
            </a:extLst>
          </p:cNvPr>
          <p:cNvSpPr/>
          <p:nvPr/>
        </p:nvSpPr>
        <p:spPr bwMode="auto">
          <a:xfrm>
            <a:off x="889000" y="3175000"/>
            <a:ext cx="1574800" cy="508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Step 2</a:t>
            </a:r>
            <a:endParaRPr lang="en-PK" sz="13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2052A8-0757-4703-80A5-9526BA004C6C}"/>
              </a:ext>
            </a:extLst>
          </p:cNvPr>
          <p:cNvSpPr/>
          <p:nvPr/>
        </p:nvSpPr>
        <p:spPr bwMode="auto">
          <a:xfrm>
            <a:off x="889000" y="4064000"/>
            <a:ext cx="1574800" cy="508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Step 3</a:t>
            </a:r>
            <a:endParaRPr lang="en-PK" sz="13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8B5C4A-5971-494B-A3E1-6D948616AF2D}"/>
              </a:ext>
            </a:extLst>
          </p:cNvPr>
          <p:cNvSpPr/>
          <p:nvPr/>
        </p:nvSpPr>
        <p:spPr bwMode="auto">
          <a:xfrm>
            <a:off x="889000" y="4953000"/>
            <a:ext cx="1574800" cy="508000"/>
          </a:xfrm>
          <a:prstGeom prst="roundRect">
            <a:avLst/>
          </a:prstGeom>
          <a:solidFill>
            <a:srgbClr val="0078D3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Answer</a:t>
            </a:r>
            <a:endParaRPr lang="en-PK" sz="13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C1CA8-722D-4811-A454-C15A33EE982A}"/>
              </a:ext>
            </a:extLst>
          </p:cNvPr>
          <p:cNvSpPr txBox="1"/>
          <p:nvPr/>
        </p:nvSpPr>
        <p:spPr>
          <a:xfrm>
            <a:off x="6477000" y="1905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ToT — branch, evaluate, prune</a:t>
            </a:r>
            <a:endParaRPr lang="en-PK" sz="1400" b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637A56-9452-4064-BC4A-CF5E8053B547}"/>
              </a:ext>
            </a:extLst>
          </p:cNvPr>
          <p:cNvSpPr/>
          <p:nvPr/>
        </p:nvSpPr>
        <p:spPr bwMode="auto">
          <a:xfrm>
            <a:off x="7874000" y="2260600"/>
            <a:ext cx="1524000" cy="508000"/>
          </a:xfrm>
          <a:prstGeom prst="roundRect">
            <a:avLst/>
          </a:prstGeom>
          <a:solidFill>
            <a:srgbClr val="000041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Goal</a:t>
            </a:r>
            <a:endParaRPr lang="en-PK" sz="13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2C7E69-6B08-44CF-99FB-371BC7EC71D5}"/>
              </a:ext>
            </a:extLst>
          </p:cNvPr>
          <p:cNvSpPr/>
          <p:nvPr/>
        </p:nvSpPr>
        <p:spPr bwMode="auto">
          <a:xfrm>
            <a:off x="6350000" y="3429000"/>
            <a:ext cx="1270000" cy="482600"/>
          </a:xfrm>
          <a:prstGeom prst="roundRect">
            <a:avLst/>
          </a:prstGeom>
          <a:solidFill>
            <a:srgbClr val="C9C9CE"/>
          </a:solidFill>
          <a:ln w="12700" cap="flat" cmpd="sng" algn="ctr">
            <a:solidFill>
              <a:srgbClr val="C9C9CE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75757A"/>
                </a:solidFill>
                <a:latin typeface="Open Sans"/>
                <a:ea typeface="Open Sans"/>
                <a:cs typeface="Open Sans"/>
              </a:rPr>
              <a:t>Idea A</a:t>
            </a:r>
            <a:endParaRPr lang="en-PK" sz="1300" b="1" dirty="0" err="1">
              <a:solidFill>
                <a:srgbClr val="75757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269BDD-0503-4187-BF3A-F676D0A3F353}"/>
              </a:ext>
            </a:extLst>
          </p:cNvPr>
          <p:cNvSpPr/>
          <p:nvPr/>
        </p:nvSpPr>
        <p:spPr bwMode="auto">
          <a:xfrm>
            <a:off x="8128000" y="3429000"/>
            <a:ext cx="1270000" cy="482600"/>
          </a:xfrm>
          <a:prstGeom prst="roundRect">
            <a:avLst/>
          </a:prstGeom>
          <a:solidFill>
            <a:srgbClr val="0078D3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Idea B</a:t>
            </a:r>
            <a:endParaRPr lang="en-PK" sz="13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754EEC-7D24-4D6E-8B6A-12E2D62EF5CA}"/>
              </a:ext>
            </a:extLst>
          </p:cNvPr>
          <p:cNvSpPr/>
          <p:nvPr/>
        </p:nvSpPr>
        <p:spPr bwMode="auto">
          <a:xfrm>
            <a:off x="9906000" y="3429000"/>
            <a:ext cx="1270000" cy="482600"/>
          </a:xfrm>
          <a:prstGeom prst="roundRect">
            <a:avLst/>
          </a:prstGeom>
          <a:solidFill>
            <a:srgbClr val="C9C9CE"/>
          </a:solidFill>
          <a:ln w="12700" cap="flat" cmpd="sng" algn="ctr">
            <a:solidFill>
              <a:srgbClr val="C9C9CE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75757A"/>
                </a:solidFill>
                <a:latin typeface="Open Sans"/>
                <a:ea typeface="Open Sans"/>
                <a:cs typeface="Open Sans"/>
              </a:rPr>
              <a:t>Idea C</a:t>
            </a:r>
            <a:endParaRPr lang="en-PK" sz="1300" b="1" dirty="0" err="1">
              <a:solidFill>
                <a:srgbClr val="75757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075E23D-D7CF-4620-BD79-34373E26A83D}"/>
              </a:ext>
            </a:extLst>
          </p:cNvPr>
          <p:cNvSpPr/>
          <p:nvPr/>
        </p:nvSpPr>
        <p:spPr bwMode="auto">
          <a:xfrm>
            <a:off x="8318500" y="4419600"/>
            <a:ext cx="889000" cy="431800"/>
          </a:xfrm>
          <a:prstGeom prst="roundRect">
            <a:avLst/>
          </a:prstGeom>
          <a:solidFill>
            <a:srgbClr val="50E6FF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Best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5F3A02-9A79-49AD-B3CF-771796D23DC4}"/>
              </a:ext>
            </a:extLst>
          </p:cNvPr>
          <p:cNvSpPr/>
          <p:nvPr/>
        </p:nvSpPr>
        <p:spPr bwMode="auto">
          <a:xfrm>
            <a:off x="8318500" y="4419600"/>
            <a:ext cx="889000" cy="431800"/>
          </a:xfrm>
          <a:prstGeom prst="roundRect">
            <a:avLst/>
          </a:prstGeom>
          <a:solidFill>
            <a:srgbClr val="50E6FF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Best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7A168-8579-4C74-8473-85EF49CCE543}"/>
              </a:ext>
            </a:extLst>
          </p:cNvPr>
          <p:cNvSpPr txBox="1"/>
          <p:nvPr/>
        </p:nvSpPr>
        <p:spPr>
          <a:xfrm>
            <a:off x="6273800" y="3962400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A0A0A6"/>
                </a:solidFill>
                <a:latin typeface="Open Sans"/>
                <a:ea typeface="Open Sans"/>
                <a:cs typeface="Open Sans"/>
              </a:rPr>
              <a:t>✗ pruned</a:t>
            </a:r>
            <a:endParaRPr lang="en-PK" sz="1200" dirty="0" err="1">
              <a:solidFill>
                <a:srgbClr val="A0A0A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95D4AE-CA2A-4BFC-811C-03E50DB6E6FD}"/>
              </a:ext>
            </a:extLst>
          </p:cNvPr>
          <p:cNvSpPr txBox="1"/>
          <p:nvPr/>
        </p:nvSpPr>
        <p:spPr>
          <a:xfrm>
            <a:off x="9829800" y="3962400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A0A0A6"/>
                </a:solidFill>
                <a:latin typeface="Open Sans"/>
                <a:ea typeface="Open Sans"/>
                <a:cs typeface="Open Sans"/>
              </a:rPr>
              <a:t>✗ pruned</a:t>
            </a:r>
            <a:endParaRPr lang="en-PK" sz="1200" dirty="0" err="1">
              <a:solidFill>
                <a:srgbClr val="A0A0A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45A135-32FF-4305-8057-30F7159AF6A8}"/>
              </a:ext>
            </a:extLst>
          </p:cNvPr>
          <p:cNvSpPr txBox="1"/>
          <p:nvPr/>
        </p:nvSpPr>
        <p:spPr>
          <a:xfrm>
            <a:off x="584200" y="5486400"/>
            <a:ext cx="11023600" cy="635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i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ToT trades more compute for better answers on problems with many possible approaches (planning, puzzles, search).</a:t>
            </a:r>
            <a:endParaRPr lang="en-PK" sz="1400" i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8079050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F7B077-2B5D-EC98-F70A-2EBF89CD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2453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1536-9ABC-C70B-97F5-C69116F6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 err="1"/>
              <a:t>ToT</a:t>
            </a:r>
            <a:r>
              <a:rPr lang="en-PK" dirty="0"/>
              <a:t>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682B5-8196-1B6C-92AE-9903E06E264D}"/>
              </a:ext>
            </a:extLst>
          </p:cNvPr>
          <p:cNvSpPr txBox="1"/>
          <p:nvPr/>
        </p:nvSpPr>
        <p:spPr>
          <a:xfrm>
            <a:off x="414669" y="1582341"/>
            <a:ext cx="111921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K" dirty="0"/>
              <a:t>Goal: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Launch a startup.</a:t>
            </a:r>
          </a:p>
          <a:p>
            <a:pPr>
              <a:buNone/>
            </a:pPr>
            <a:r>
              <a:rPr lang="en-PK" dirty="0"/>
              <a:t>Path A: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AI SaaS</a:t>
            </a:r>
          </a:p>
          <a:p>
            <a:pPr>
              <a:buNone/>
            </a:pPr>
            <a:r>
              <a:rPr lang="en-PK" dirty="0"/>
              <a:t>Path B: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Consulting</a:t>
            </a:r>
          </a:p>
          <a:p>
            <a:pPr>
              <a:buNone/>
            </a:pPr>
            <a:r>
              <a:rPr lang="en-PK" dirty="0"/>
              <a:t>Path C: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Marketplace</a:t>
            </a:r>
          </a:p>
          <a:p>
            <a:pPr>
              <a:buNone/>
            </a:pPr>
            <a:r>
              <a:rPr lang="en-PK" dirty="0"/>
              <a:t>Evaluate:</a:t>
            </a:r>
          </a:p>
          <a:p>
            <a:pPr rtl="0">
              <a:buNone/>
            </a:pPr>
            <a:r>
              <a:rPr lang="en-PK" dirty="0">
                <a:latin typeface="Courier New" panose="02070309020205020404" pitchFamily="49" charset="0"/>
              </a:rPr>
              <a:t>Revenue</a:t>
            </a:r>
            <a:br>
              <a:rPr lang="en-PK" dirty="0">
                <a:latin typeface="Courier New" panose="02070309020205020404" pitchFamily="49" charset="0"/>
              </a:rPr>
            </a:br>
            <a:r>
              <a:rPr lang="en-PK" dirty="0">
                <a:latin typeface="Courier New" panose="02070309020205020404" pitchFamily="49" charset="0"/>
              </a:rPr>
              <a:t>Complexity</a:t>
            </a:r>
            <a:br>
              <a:rPr lang="en-PK" dirty="0">
                <a:latin typeface="Courier New" panose="02070309020205020404" pitchFamily="49" charset="0"/>
              </a:rPr>
            </a:br>
            <a:r>
              <a:rPr lang="en-PK" dirty="0">
                <a:latin typeface="Courier New" panose="02070309020205020404" pitchFamily="49" charset="0"/>
              </a:rPr>
              <a:t>Risk</a:t>
            </a:r>
          </a:p>
          <a:p>
            <a:pPr>
              <a:buNone/>
            </a:pPr>
            <a:r>
              <a:rPr lang="en-PK" dirty="0"/>
              <a:t>Select best 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EFC7E-F836-F882-FE7B-727784707203}"/>
              </a:ext>
            </a:extLst>
          </p:cNvPr>
          <p:cNvSpPr txBox="1"/>
          <p:nvPr/>
        </p:nvSpPr>
        <p:spPr>
          <a:xfrm>
            <a:off x="4887007" y="1028343"/>
            <a:ext cx="67197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/>
              <a:t> [ Launch a Startup ]</a:t>
            </a:r>
          </a:p>
          <a:p>
            <a:r>
              <a:rPr lang="en-PK" dirty="0"/>
              <a:t>                         |</a:t>
            </a:r>
          </a:p>
          <a:p>
            <a:r>
              <a:rPr lang="en-PK" dirty="0"/>
              <a:t>   -------------------------------------------------</a:t>
            </a:r>
          </a:p>
          <a:p>
            <a:r>
              <a:rPr lang="en-PK" dirty="0"/>
              <a:t>   |                       |                       |</a:t>
            </a:r>
          </a:p>
          <a:p>
            <a:r>
              <a:rPr lang="en-PK" dirty="0"/>
              <a:t>[ Path A ]             [ Path B ]             [ Path C ]</a:t>
            </a:r>
          </a:p>
          <a:p>
            <a:r>
              <a:rPr lang="en-PK" dirty="0"/>
              <a:t>  AI SaaS               Consulting             Marketplace</a:t>
            </a:r>
          </a:p>
          <a:p>
            <a:r>
              <a:rPr lang="en-PK" dirty="0"/>
              <a:t>   |                       |                       |</a:t>
            </a:r>
          </a:p>
          <a:p>
            <a:r>
              <a:rPr lang="en-PK" dirty="0"/>
              <a:t>   |                       |                       |</a:t>
            </a:r>
          </a:p>
          <a:p>
            <a:r>
              <a:rPr lang="en-PK" dirty="0"/>
              <a:t>   |                       |                       |</a:t>
            </a:r>
          </a:p>
          <a:p>
            <a:r>
              <a:rPr lang="en-PK" dirty="0"/>
              <a:t>   v                       </a:t>
            </a:r>
            <a:r>
              <a:rPr lang="en-PK" dirty="0" err="1"/>
              <a:t>v</a:t>
            </a:r>
            <a:r>
              <a:rPr lang="en-PK" dirty="0"/>
              <a:t>                       </a:t>
            </a:r>
            <a:r>
              <a:rPr lang="en-PK" dirty="0" err="1"/>
              <a:t>v</a:t>
            </a:r>
            <a:endParaRPr lang="en-PK" dirty="0"/>
          </a:p>
          <a:p>
            <a:r>
              <a:rPr lang="en-PK" dirty="0"/>
              <a:t>[ Revenue ]            [ Revenue ]            [ Revenue ]</a:t>
            </a:r>
          </a:p>
          <a:p>
            <a:r>
              <a:rPr lang="en-PK" dirty="0"/>
              <a:t>[ Complexity ]          [ Complexity ]         [ Complexity ]</a:t>
            </a:r>
          </a:p>
          <a:p>
            <a:r>
              <a:rPr lang="en-PK" dirty="0"/>
              <a:t>[ Risk ]                [ Risk ]               [ Risk ]</a:t>
            </a:r>
          </a:p>
          <a:p>
            <a:r>
              <a:rPr lang="en-PK" dirty="0"/>
              <a:t>   |                       |                       |</a:t>
            </a:r>
          </a:p>
          <a:p>
            <a:r>
              <a:rPr lang="en-PK" dirty="0"/>
              <a:t>   ------------------- Evaluation ------------------</a:t>
            </a:r>
          </a:p>
          <a:p>
            <a:r>
              <a:rPr lang="en-PK" dirty="0"/>
              <a:t>                         |</a:t>
            </a:r>
          </a:p>
          <a:p>
            <a:r>
              <a:rPr lang="en-PK" dirty="0"/>
              <a:t>                  [ Best Option ]</a:t>
            </a:r>
          </a:p>
        </p:txBody>
      </p:sp>
    </p:spTree>
    <p:extLst>
      <p:ext uri="{BB962C8B-B14F-4D97-AF65-F5344CB8AC3E}">
        <p14:creationId xmlns:p14="http://schemas.microsoft.com/office/powerpoint/2010/main" val="25113846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AD04-9452-97D6-8CB3-8F7815A7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Custom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43DD0-45DD-4CE8-830D-077CB42DDAA2}"/>
              </a:ext>
            </a:extLst>
          </p:cNvPr>
          <p:cNvSpPr txBox="1"/>
          <p:nvPr/>
        </p:nvSpPr>
        <p:spPr>
          <a:xfrm>
            <a:off x="584200" y="1117600"/>
            <a:ext cx="11023600" cy="533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A tool is a function the agent can call. Four parts let the LLM decide when and how to use it — the description and schema are what the model actually reads.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43AB52-2828-452A-960A-0ABA68CE6A13}"/>
              </a:ext>
            </a:extLst>
          </p:cNvPr>
          <p:cNvSpPr/>
          <p:nvPr/>
        </p:nvSpPr>
        <p:spPr bwMode="auto">
          <a:xfrm>
            <a:off x="584200" y="18034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99F03-0000-4E10-BB9E-615886BD8C5D}"/>
              </a:ext>
            </a:extLst>
          </p:cNvPr>
          <p:cNvSpPr txBox="1"/>
          <p:nvPr/>
        </p:nvSpPr>
        <p:spPr>
          <a:xfrm>
            <a:off x="762000" y="19304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1  Name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8DFA5-5F10-41BE-8390-2085C5435E54}"/>
              </a:ext>
            </a:extLst>
          </p:cNvPr>
          <p:cNvSpPr txBox="1"/>
          <p:nvPr/>
        </p:nvSpPr>
        <p:spPr>
          <a:xfrm>
            <a:off x="762000" y="22098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A short, unique identifier the model uses to call it (e.g. get_weather).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309510-BE51-4EF7-84AD-83E1E197D5AC}"/>
              </a:ext>
            </a:extLst>
          </p:cNvPr>
          <p:cNvSpPr/>
          <p:nvPr/>
        </p:nvSpPr>
        <p:spPr bwMode="auto">
          <a:xfrm>
            <a:off x="584200" y="28702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E5DB0-BA68-4B31-A023-5607D1982E78}"/>
              </a:ext>
            </a:extLst>
          </p:cNvPr>
          <p:cNvSpPr txBox="1"/>
          <p:nvPr/>
        </p:nvSpPr>
        <p:spPr>
          <a:xfrm>
            <a:off x="762000" y="29972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2  Description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768AD-CEA5-4171-BF7D-66B14B297E8E}"/>
              </a:ext>
            </a:extLst>
          </p:cNvPr>
          <p:cNvSpPr txBox="1"/>
          <p:nvPr/>
        </p:nvSpPr>
        <p:spPr>
          <a:xfrm>
            <a:off x="762000" y="32766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Plain-language purpose. The LLM reads this to decide when to use the tool.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732103-01E5-4643-9E11-6238A02F3396}"/>
              </a:ext>
            </a:extLst>
          </p:cNvPr>
          <p:cNvSpPr/>
          <p:nvPr/>
        </p:nvSpPr>
        <p:spPr bwMode="auto">
          <a:xfrm>
            <a:off x="584200" y="39370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2BED7-DD5F-4327-8296-1E688E7705EF}"/>
              </a:ext>
            </a:extLst>
          </p:cNvPr>
          <p:cNvSpPr txBox="1"/>
          <p:nvPr/>
        </p:nvSpPr>
        <p:spPr>
          <a:xfrm>
            <a:off x="762000" y="40640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3  Input schema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EA0B5-C292-40E4-8F79-9338BF0DF8F7}"/>
              </a:ext>
            </a:extLst>
          </p:cNvPr>
          <p:cNvSpPr txBox="1"/>
          <p:nvPr/>
        </p:nvSpPr>
        <p:spPr>
          <a:xfrm>
            <a:off x="762000" y="43434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Typed parameters (JSON schema) so the model knows what arguments to pass.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80C194-1D14-4625-94C9-7689E997F8F7}"/>
              </a:ext>
            </a:extLst>
          </p:cNvPr>
          <p:cNvSpPr/>
          <p:nvPr/>
        </p:nvSpPr>
        <p:spPr bwMode="auto">
          <a:xfrm>
            <a:off x="584200" y="50038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8E6A6-6071-4AE4-8D75-B0A849ED5D19}"/>
              </a:ext>
            </a:extLst>
          </p:cNvPr>
          <p:cNvSpPr txBox="1"/>
          <p:nvPr/>
        </p:nvSpPr>
        <p:spPr>
          <a:xfrm>
            <a:off x="762000" y="51308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4  Function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7CB614-C11C-4BB1-9059-FDDC2D05E48D}"/>
              </a:ext>
            </a:extLst>
          </p:cNvPr>
          <p:cNvSpPr txBox="1"/>
          <p:nvPr/>
        </p:nvSpPr>
        <p:spPr>
          <a:xfrm>
            <a:off x="762000" y="54102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The actual code that runs and returns a result back to the agent.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5745C1-E977-404A-A8E1-B6951F414F9D}"/>
              </a:ext>
            </a:extLst>
          </p:cNvPr>
          <p:cNvSpPr/>
          <p:nvPr/>
        </p:nvSpPr>
        <p:spPr bwMode="auto">
          <a:xfrm>
            <a:off x="6146800" y="1854200"/>
            <a:ext cx="5511800" cy="36576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B06A8-A7C6-49E1-83A2-8CA6AA85710B}"/>
              </a:ext>
            </a:extLst>
          </p:cNvPr>
          <p:cNvSpPr txBox="1"/>
          <p:nvPr/>
        </p:nvSpPr>
        <p:spPr>
          <a:xfrm>
            <a:off x="6350000" y="1981200"/>
            <a:ext cx="5105400" cy="47551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Python  ·  LangChain @tool</a:t>
            </a:r>
            <a:endParaRPr lang="en-PK" sz="13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B06580-5295-44AC-B1B3-C3F55EA6DE2E}"/>
              </a:ext>
            </a:extLst>
          </p:cNvPr>
          <p:cNvSpPr txBox="1"/>
          <p:nvPr/>
        </p:nvSpPr>
        <p:spPr>
          <a:xfrm>
            <a:off x="6350000" y="2286000"/>
            <a:ext cx="4115550" cy="3302443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EBEBEB"/>
                </a:solidFill>
                <a:latin typeface="Consolas"/>
              </a:rPr>
              <a:t>from langchain.tools import tool
@tool
def get_weather(city: str) -&gt; str:
    """Get current weather for a city."""
    data = api.fetch(city)
    return f"{data.temp}°C, {data.sky}"
# the agent now sees:
#  name   = get_weather
#  desc   = Get current weather...
#  schema = { city: string }</a:t>
            </a:r>
            <a:endParaRPr lang="en-PK" sz="1300" dirty="0" err="1">
              <a:solidFill>
                <a:srgbClr val="EBEBE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4939505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881D-C867-7D11-6810-7996CC2A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OpenRouter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D5869-CBFD-4710-958C-8D97A6F8BEC3}"/>
              </a:ext>
            </a:extLst>
          </p:cNvPr>
          <p:cNvSpPr txBox="1"/>
          <p:nvPr/>
        </p:nvSpPr>
        <p:spPr>
          <a:xfrm>
            <a:off x="584200" y="1117600"/>
            <a:ext cx="11023600" cy="533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OpenRouter is a single API gateway to hundreds of models (OpenAI, Anthropic, Qwen, Llama...). One key, one endpoint, OpenAI-compatible.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CD6046-F59E-4E15-9B58-B4035F762598}"/>
              </a:ext>
            </a:extLst>
          </p:cNvPr>
          <p:cNvSpPr/>
          <p:nvPr/>
        </p:nvSpPr>
        <p:spPr bwMode="auto">
          <a:xfrm>
            <a:off x="584200" y="18034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77356-783D-432C-B2C3-2738E5A41DD5}"/>
              </a:ext>
            </a:extLst>
          </p:cNvPr>
          <p:cNvSpPr txBox="1"/>
          <p:nvPr/>
        </p:nvSpPr>
        <p:spPr>
          <a:xfrm>
            <a:off x="762000" y="19304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One API, many models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2E13E-AA28-47D4-99B3-03EEF20E3643}"/>
              </a:ext>
            </a:extLst>
          </p:cNvPr>
          <p:cNvSpPr txBox="1"/>
          <p:nvPr/>
        </p:nvSpPr>
        <p:spPr>
          <a:xfrm>
            <a:off x="762000" y="2209800"/>
            <a:ext cx="4851400" cy="47551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Swap models by changing one string — no SDK rewrites.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1C0FF7-A6BA-4553-A79B-C11426BBED13}"/>
              </a:ext>
            </a:extLst>
          </p:cNvPr>
          <p:cNvSpPr/>
          <p:nvPr/>
        </p:nvSpPr>
        <p:spPr bwMode="auto">
          <a:xfrm>
            <a:off x="584200" y="28702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18988-9ADC-4A56-9ADA-E7A492539166}"/>
              </a:ext>
            </a:extLst>
          </p:cNvPr>
          <p:cNvSpPr txBox="1"/>
          <p:nvPr/>
        </p:nvSpPr>
        <p:spPr>
          <a:xfrm>
            <a:off x="762000" y="29972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OpenAI-compatible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83EF9-2B3A-4601-A6A7-918ED07CA524}"/>
              </a:ext>
            </a:extLst>
          </p:cNvPr>
          <p:cNvSpPr txBox="1"/>
          <p:nvPr/>
        </p:nvSpPr>
        <p:spPr>
          <a:xfrm>
            <a:off x="762000" y="32766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Use the existing openai client; just change base_url and key.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FF6C19-657B-48B7-A6FA-86AC078A8559}"/>
              </a:ext>
            </a:extLst>
          </p:cNvPr>
          <p:cNvSpPr/>
          <p:nvPr/>
        </p:nvSpPr>
        <p:spPr bwMode="auto">
          <a:xfrm>
            <a:off x="584200" y="39370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13B05-2A35-4AAB-8A5A-4CD19B1A9D57}"/>
              </a:ext>
            </a:extLst>
          </p:cNvPr>
          <p:cNvSpPr txBox="1"/>
          <p:nvPr/>
        </p:nvSpPr>
        <p:spPr>
          <a:xfrm>
            <a:off x="762000" y="40640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Unified billing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21DF75-B565-4350-9441-2C87BD05BE39}"/>
              </a:ext>
            </a:extLst>
          </p:cNvPr>
          <p:cNvSpPr txBox="1"/>
          <p:nvPr/>
        </p:nvSpPr>
        <p:spPr>
          <a:xfrm>
            <a:off x="762000" y="43434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One account and key across all providers; transparent per-token pricing.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016650-79E1-4A74-8D8D-00838C8FABDF}"/>
              </a:ext>
            </a:extLst>
          </p:cNvPr>
          <p:cNvSpPr/>
          <p:nvPr/>
        </p:nvSpPr>
        <p:spPr bwMode="auto">
          <a:xfrm>
            <a:off x="584200" y="5003800"/>
            <a:ext cx="5207000" cy="9906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C90B26-E31E-47C6-BEFF-0F704F3FF673}"/>
              </a:ext>
            </a:extLst>
          </p:cNvPr>
          <p:cNvSpPr txBox="1"/>
          <p:nvPr/>
        </p:nvSpPr>
        <p:spPr>
          <a:xfrm>
            <a:off x="762000" y="51308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Fallbacks &amp; routing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FE492D-545A-4020-A78F-BCAF5FA9D0ED}"/>
              </a:ext>
            </a:extLst>
          </p:cNvPr>
          <p:cNvSpPr txBox="1"/>
          <p:nvPr/>
        </p:nvSpPr>
        <p:spPr>
          <a:xfrm>
            <a:off x="762000" y="54102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Auto-route to backups on rate limits or outages for reliability.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E36801-DF98-4B29-8E21-E1F8F1DBF263}"/>
              </a:ext>
            </a:extLst>
          </p:cNvPr>
          <p:cNvSpPr/>
          <p:nvPr/>
        </p:nvSpPr>
        <p:spPr bwMode="auto">
          <a:xfrm>
            <a:off x="7632700" y="1803400"/>
            <a:ext cx="2540000" cy="533400"/>
          </a:xfrm>
          <a:prstGeom prst="roundRect">
            <a:avLst/>
          </a:prstGeom>
          <a:solidFill>
            <a:srgbClr val="000041"/>
          </a:solidFill>
          <a:ln w="12700" cap="flat" cmpd="sng" algn="ctr">
            <a:solidFill>
              <a:srgbClr val="00004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Your app / agent</a:t>
            </a:r>
            <a:endParaRPr lang="en-PK" sz="13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651C63A-189D-4607-8CA8-4C11C6ABF840}"/>
              </a:ext>
            </a:extLst>
          </p:cNvPr>
          <p:cNvSpPr/>
          <p:nvPr/>
        </p:nvSpPr>
        <p:spPr bwMode="auto">
          <a:xfrm>
            <a:off x="8763000" y="2362200"/>
            <a:ext cx="279400" cy="2540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3A1658-D05C-4099-BD48-4DB1D0CD8B00}"/>
              </a:ext>
            </a:extLst>
          </p:cNvPr>
          <p:cNvSpPr/>
          <p:nvPr/>
        </p:nvSpPr>
        <p:spPr bwMode="auto">
          <a:xfrm>
            <a:off x="7632700" y="2641600"/>
            <a:ext cx="2540000" cy="533400"/>
          </a:xfrm>
          <a:prstGeom prst="roundRect">
            <a:avLst/>
          </a:prstGeom>
          <a:solidFill>
            <a:srgbClr val="0078D3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OpenRouter gateway</a:t>
            </a:r>
            <a:endParaRPr lang="en-PK" sz="13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DF073EEB-8F10-4E81-B44B-F68203924CB7}"/>
              </a:ext>
            </a:extLst>
          </p:cNvPr>
          <p:cNvSpPr/>
          <p:nvPr/>
        </p:nvSpPr>
        <p:spPr bwMode="auto">
          <a:xfrm>
            <a:off x="8763000" y="3200400"/>
            <a:ext cx="279400" cy="2540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EDBFD4E-55B6-44A2-9290-657DBE6F4776}"/>
              </a:ext>
            </a:extLst>
          </p:cNvPr>
          <p:cNvSpPr/>
          <p:nvPr/>
        </p:nvSpPr>
        <p:spPr bwMode="auto">
          <a:xfrm>
            <a:off x="6146800" y="3479800"/>
            <a:ext cx="1752600" cy="508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OpenAI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A88D6A-E70F-4950-BC60-7A9EE979B26A}"/>
              </a:ext>
            </a:extLst>
          </p:cNvPr>
          <p:cNvSpPr/>
          <p:nvPr/>
        </p:nvSpPr>
        <p:spPr bwMode="auto">
          <a:xfrm>
            <a:off x="8026400" y="3479800"/>
            <a:ext cx="1752600" cy="508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Anthropic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DCBDA3-8163-437C-924F-9A95F5A12801}"/>
              </a:ext>
            </a:extLst>
          </p:cNvPr>
          <p:cNvSpPr/>
          <p:nvPr/>
        </p:nvSpPr>
        <p:spPr bwMode="auto">
          <a:xfrm>
            <a:off x="9906000" y="3479800"/>
            <a:ext cx="1752600" cy="508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Qwen / Llama</a:t>
            </a:r>
            <a:endParaRPr lang="en-PK" sz="12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38DAB8-1160-479F-958C-75AE8AE56E55}"/>
              </a:ext>
            </a:extLst>
          </p:cNvPr>
          <p:cNvSpPr/>
          <p:nvPr/>
        </p:nvSpPr>
        <p:spPr bwMode="auto">
          <a:xfrm>
            <a:off x="6146800" y="4191000"/>
            <a:ext cx="5511800" cy="13208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8C8637-9973-4E67-B15C-14C27BBDB43B}"/>
              </a:ext>
            </a:extLst>
          </p:cNvPr>
          <p:cNvSpPr txBox="1"/>
          <p:nvPr/>
        </p:nvSpPr>
        <p:spPr>
          <a:xfrm>
            <a:off x="6324600" y="4343400"/>
            <a:ext cx="4513095" cy="1218795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EBEBEB"/>
                </a:solidFill>
                <a:latin typeface="Consolas"/>
              </a:rPr>
              <a:t>base_url = "https://openrouter.ai/api/v1"
client = OpenAI(base_url=base_url, api_key=KEY)
client.chat.completions.create(
    model="qwen/qwen-2.5-72b-instruct", ...)</a:t>
            </a:r>
            <a:endParaRPr lang="en-PK" sz="1250" dirty="0" err="1">
              <a:solidFill>
                <a:srgbClr val="EBEBE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40604861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06D5-AF15-48F5-5522-D6531373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Qwen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1CD25-E143-4C77-9300-D1AD19ED7C0F}"/>
              </a:ext>
            </a:extLst>
          </p:cNvPr>
          <p:cNvSpPr txBox="1"/>
          <p:nvPr/>
        </p:nvSpPr>
        <p:spPr>
          <a:xfrm>
            <a:off x="584200" y="1117600"/>
            <a:ext cx="11023600" cy="7109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Qwen (Alibaba) is an open-weight model family with strong reasoning and native tool/function-calling — a solid, low-cost backbone for agents. Reach it through OpenRouter's OpenAI-compatible API.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EBD5A1-3B02-498B-AFBA-1B1C889EE8A9}"/>
              </a:ext>
            </a:extLst>
          </p:cNvPr>
          <p:cNvSpPr/>
          <p:nvPr/>
        </p:nvSpPr>
        <p:spPr bwMode="auto">
          <a:xfrm>
            <a:off x="584200" y="18034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EFD37-2FDD-42CC-8D39-533617B0794C}"/>
              </a:ext>
            </a:extLst>
          </p:cNvPr>
          <p:cNvSpPr txBox="1"/>
          <p:nvPr/>
        </p:nvSpPr>
        <p:spPr>
          <a:xfrm>
            <a:off x="762000" y="19177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Strong function-calling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9FB48-E236-4049-8FE8-3DD745A7D7D7}"/>
              </a:ext>
            </a:extLst>
          </p:cNvPr>
          <p:cNvSpPr txBox="1"/>
          <p:nvPr/>
        </p:nvSpPr>
        <p:spPr>
          <a:xfrm>
            <a:off x="762000" y="21971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Reliably emits structured tool calls — ideal for executor agents.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D6A3D2-9A87-4430-A4D1-DA97593EDB1B}"/>
              </a:ext>
            </a:extLst>
          </p:cNvPr>
          <p:cNvSpPr/>
          <p:nvPr/>
        </p:nvSpPr>
        <p:spPr bwMode="auto">
          <a:xfrm>
            <a:off x="584200" y="28448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BB795-2AFF-43E9-93C1-8D45B5913B46}"/>
              </a:ext>
            </a:extLst>
          </p:cNvPr>
          <p:cNvSpPr txBox="1"/>
          <p:nvPr/>
        </p:nvSpPr>
        <p:spPr>
          <a:xfrm>
            <a:off x="762000" y="29591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Open weights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D6C1D-B7EC-468D-9AA1-84F3ECB65103}"/>
              </a:ext>
            </a:extLst>
          </p:cNvPr>
          <p:cNvSpPr txBox="1"/>
          <p:nvPr/>
        </p:nvSpPr>
        <p:spPr>
          <a:xfrm>
            <a:off x="762000" y="32385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Self-host or use hosted; no vendor lock-in, transparent licensing.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1A1AAA-B64B-4AF9-8FE2-23F2C34D693F}"/>
              </a:ext>
            </a:extLst>
          </p:cNvPr>
          <p:cNvSpPr/>
          <p:nvPr/>
        </p:nvSpPr>
        <p:spPr bwMode="auto">
          <a:xfrm>
            <a:off x="584200" y="38862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2212C-D330-414F-93C9-D5178EA726C6}"/>
              </a:ext>
            </a:extLst>
          </p:cNvPr>
          <p:cNvSpPr txBox="1"/>
          <p:nvPr/>
        </p:nvSpPr>
        <p:spPr>
          <a:xfrm>
            <a:off x="762000" y="40005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Long context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23C1F-98A2-4973-9187-931B66C71F13}"/>
              </a:ext>
            </a:extLst>
          </p:cNvPr>
          <p:cNvSpPr txBox="1"/>
          <p:nvPr/>
        </p:nvSpPr>
        <p:spPr>
          <a:xfrm>
            <a:off x="762000" y="42799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Handles large prompts, tool outputs and memory in one window.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93CC55-680C-4BBE-A795-A071ACE34B05}"/>
              </a:ext>
            </a:extLst>
          </p:cNvPr>
          <p:cNvSpPr/>
          <p:nvPr/>
        </p:nvSpPr>
        <p:spPr bwMode="auto">
          <a:xfrm>
            <a:off x="584200" y="49276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95425-9CB4-4678-BBA0-0BD433B61AA9}"/>
              </a:ext>
            </a:extLst>
          </p:cNvPr>
          <p:cNvSpPr txBox="1"/>
          <p:nvPr/>
        </p:nvSpPr>
        <p:spPr>
          <a:xfrm>
            <a:off x="762000" y="5041900"/>
            <a:ext cx="48514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Cost-effective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002EE8-BA8E-4DF9-B92B-3D1E75575503}"/>
              </a:ext>
            </a:extLst>
          </p:cNvPr>
          <p:cNvSpPr txBox="1"/>
          <p:nvPr/>
        </p:nvSpPr>
        <p:spPr>
          <a:xfrm>
            <a:off x="762000" y="5321300"/>
            <a:ext cx="4851400" cy="655564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Competitive per-token pricing for high-volume agent loops.</a:t>
            </a:r>
            <a:endParaRPr lang="en-PK" sz="13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C69BE-D6DB-4E2E-8577-38973CB48231}"/>
              </a:ext>
            </a:extLst>
          </p:cNvPr>
          <p:cNvSpPr txBox="1"/>
          <p:nvPr/>
        </p:nvSpPr>
        <p:spPr>
          <a:xfrm>
            <a:off x="6146800" y="1752600"/>
            <a:ext cx="5511800" cy="4893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Common variants</a:t>
            </a:r>
            <a:endParaRPr lang="en-PK" sz="14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7172C1-2110-4082-8CA2-944FC0FE67BE}"/>
              </a:ext>
            </a:extLst>
          </p:cNvPr>
          <p:cNvSpPr/>
          <p:nvPr/>
        </p:nvSpPr>
        <p:spPr bwMode="auto">
          <a:xfrm>
            <a:off x="6146800" y="2057400"/>
            <a:ext cx="5511800" cy="4318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3CF89-EFAC-4885-9B43-F480F067A04B}"/>
              </a:ext>
            </a:extLst>
          </p:cNvPr>
          <p:cNvSpPr txBox="1"/>
          <p:nvPr/>
        </p:nvSpPr>
        <p:spPr>
          <a:xfrm>
            <a:off x="6299200" y="2146300"/>
            <a:ext cx="2667000" cy="46859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0078D3"/>
                </a:solidFill>
                <a:latin typeface="Consolas"/>
              </a:rPr>
              <a:t>qwen-2.5-72b-instruct</a:t>
            </a:r>
            <a:endParaRPr lang="en-PK" sz="1250" b="1" dirty="0" err="1">
              <a:solidFill>
                <a:srgbClr val="0078D3"/>
              </a:solidFill>
              <a:latin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014BDE-9AE8-4DF2-B9BA-F2AE5BD53184}"/>
              </a:ext>
            </a:extLst>
          </p:cNvPr>
          <p:cNvSpPr txBox="1"/>
          <p:nvPr/>
        </p:nvSpPr>
        <p:spPr>
          <a:xfrm>
            <a:off x="8991600" y="2146300"/>
            <a:ext cx="2514600" cy="4616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Flagship general + tool use</a:t>
            </a:r>
            <a:endParaRPr lang="en-PK" sz="12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FF2544-8D15-4CDC-AFCB-F8FCF1DCF6D1}"/>
              </a:ext>
            </a:extLst>
          </p:cNvPr>
          <p:cNvSpPr/>
          <p:nvPr/>
        </p:nvSpPr>
        <p:spPr bwMode="auto">
          <a:xfrm>
            <a:off x="6146800" y="2565400"/>
            <a:ext cx="5511800" cy="4318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FEA1C0-00AF-4B0F-980A-596A86459573}"/>
              </a:ext>
            </a:extLst>
          </p:cNvPr>
          <p:cNvSpPr txBox="1"/>
          <p:nvPr/>
        </p:nvSpPr>
        <p:spPr>
          <a:xfrm>
            <a:off x="6299200" y="2654300"/>
            <a:ext cx="2667000" cy="46859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0078D3"/>
                </a:solidFill>
                <a:latin typeface="Consolas"/>
              </a:rPr>
              <a:t>qwen-2.5-coder</a:t>
            </a:r>
            <a:endParaRPr lang="en-PK" sz="1250" b="1" dirty="0" err="1">
              <a:solidFill>
                <a:srgbClr val="0078D3"/>
              </a:solidFill>
              <a:latin typeface="Consola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A1E467-1BD5-49C6-B4DB-05416F112C8E}"/>
              </a:ext>
            </a:extLst>
          </p:cNvPr>
          <p:cNvSpPr txBox="1"/>
          <p:nvPr/>
        </p:nvSpPr>
        <p:spPr>
          <a:xfrm>
            <a:off x="8991600" y="2654300"/>
            <a:ext cx="2514600" cy="4616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Code &amp; tool generation</a:t>
            </a:r>
            <a:endParaRPr lang="en-PK" sz="12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2753C51-363E-46B3-BDF8-25B133B58681}"/>
              </a:ext>
            </a:extLst>
          </p:cNvPr>
          <p:cNvSpPr/>
          <p:nvPr/>
        </p:nvSpPr>
        <p:spPr bwMode="auto">
          <a:xfrm>
            <a:off x="6146800" y="3073400"/>
            <a:ext cx="5511800" cy="4318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333FCB-777E-4150-A6E3-FB9CD10E0935}"/>
              </a:ext>
            </a:extLst>
          </p:cNvPr>
          <p:cNvSpPr txBox="1"/>
          <p:nvPr/>
        </p:nvSpPr>
        <p:spPr>
          <a:xfrm>
            <a:off x="6299200" y="3162300"/>
            <a:ext cx="2667000" cy="46859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0078D3"/>
                </a:solidFill>
                <a:latin typeface="Consolas"/>
              </a:rPr>
              <a:t>qwq-32b</a:t>
            </a:r>
            <a:endParaRPr lang="en-PK" sz="1250" b="1" dirty="0" err="1">
              <a:solidFill>
                <a:srgbClr val="0078D3"/>
              </a:solidFill>
              <a:latin typeface="Consola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0CABD5-68FA-4AEA-A175-7BE73B088A50}"/>
              </a:ext>
            </a:extLst>
          </p:cNvPr>
          <p:cNvSpPr txBox="1"/>
          <p:nvPr/>
        </p:nvSpPr>
        <p:spPr>
          <a:xfrm>
            <a:off x="8991600" y="3162300"/>
            <a:ext cx="2514600" cy="461665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Reasoning-tuned (CoT/ToT)</a:t>
            </a:r>
            <a:endParaRPr lang="en-PK" sz="120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B8A3AC-BB45-466A-A591-1B26A3E277C5}"/>
              </a:ext>
            </a:extLst>
          </p:cNvPr>
          <p:cNvSpPr/>
          <p:nvPr/>
        </p:nvSpPr>
        <p:spPr bwMode="auto">
          <a:xfrm>
            <a:off x="6146800" y="3632200"/>
            <a:ext cx="5511800" cy="27432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0A2916-C1BF-40F1-87F1-3A36BF8E8743}"/>
              </a:ext>
            </a:extLst>
          </p:cNvPr>
          <p:cNvSpPr txBox="1"/>
          <p:nvPr/>
        </p:nvSpPr>
        <p:spPr>
          <a:xfrm>
            <a:off x="6324600" y="3810000"/>
            <a:ext cx="5181600" cy="46859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LangChain + Qwen via OpenRouter</a:t>
            </a:r>
            <a:endParaRPr lang="en-PK" sz="125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8B8D83-6D17-4F72-A8BB-A9BD8B08697B}"/>
              </a:ext>
            </a:extLst>
          </p:cNvPr>
          <p:cNvSpPr txBox="1"/>
          <p:nvPr/>
        </p:nvSpPr>
        <p:spPr>
          <a:xfrm>
            <a:off x="6324600" y="4038600"/>
            <a:ext cx="4248599" cy="2260600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EBEBEB"/>
                </a:solidFill>
                <a:latin typeface="Consolas"/>
              </a:rPr>
              <a:t>from langchain_openai import ChatOpenAI
llm = ChatOpenAI(
    model="qwen/qwen-2.5-72b-instruct",
    base_url="https://openrouter.ai/api/v1",
    api_key=OPENROUTER_KEY,
)
llm.invoke("Plan the next step...")</a:t>
            </a:r>
            <a:endParaRPr lang="en-PK" sz="1250" dirty="0" err="1">
              <a:solidFill>
                <a:srgbClr val="EBEBE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9410029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1F44-AB77-9FCB-3E22-90E03D14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5B68-C510-2333-773F-4B5B0B72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Integration Steps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04442D-522E-63BA-FB69-05493A23BBFF}"/>
              </a:ext>
            </a:extLst>
          </p:cNvPr>
          <p:cNvSpPr/>
          <p:nvPr/>
        </p:nvSpPr>
        <p:spPr bwMode="auto">
          <a:xfrm>
            <a:off x="2742615" y="18034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68F4-B9EF-A018-03EA-F786E260F2BC}"/>
              </a:ext>
            </a:extLst>
          </p:cNvPr>
          <p:cNvSpPr txBox="1"/>
          <p:nvPr/>
        </p:nvSpPr>
        <p:spPr>
          <a:xfrm>
            <a:off x="3098215" y="2021287"/>
            <a:ext cx="4851400" cy="510909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>
              <a:buFont typeface="+mj-lt"/>
              <a:buAutoNum type="arabicPeriod"/>
            </a:pPr>
            <a:r>
              <a:rPr lang="en-PK" sz="1400" dirty="0"/>
              <a:t>Obtain API key from </a:t>
            </a:r>
            <a:r>
              <a:rPr lang="en-PK" sz="1400" dirty="0" err="1"/>
              <a:t>OpenRouter</a:t>
            </a:r>
            <a:r>
              <a:rPr lang="en-PK" sz="1400" dirty="0"/>
              <a:t> or </a:t>
            </a:r>
            <a:r>
              <a:rPr lang="en-PK" sz="1400" dirty="0" err="1"/>
              <a:t>HuggingFace</a:t>
            </a:r>
            <a:r>
              <a:rPr lang="en-PK" sz="1400" dirty="0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2C2A9-6B19-848F-4714-98FFA4A97538}"/>
              </a:ext>
            </a:extLst>
          </p:cNvPr>
          <p:cNvSpPr/>
          <p:nvPr/>
        </p:nvSpPr>
        <p:spPr bwMode="auto">
          <a:xfrm>
            <a:off x="2742615" y="28448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B5D44-FA4E-0DB9-F34A-497B2CAD81F9}"/>
              </a:ext>
            </a:extLst>
          </p:cNvPr>
          <p:cNvSpPr txBox="1"/>
          <p:nvPr/>
        </p:nvSpPr>
        <p:spPr>
          <a:xfrm>
            <a:off x="3098215" y="3111448"/>
            <a:ext cx="4851400" cy="510909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r>
              <a:rPr lang="en-US" sz="1400" dirty="0"/>
              <a:t>2. </a:t>
            </a:r>
            <a:r>
              <a:rPr lang="en-PK" sz="1400" dirty="0"/>
              <a:t>Configure endpoint in agent framework.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0D5076-F4A4-2D97-D3D4-D22AA9BB4EBA}"/>
              </a:ext>
            </a:extLst>
          </p:cNvPr>
          <p:cNvSpPr/>
          <p:nvPr/>
        </p:nvSpPr>
        <p:spPr bwMode="auto">
          <a:xfrm>
            <a:off x="2742615" y="3886200"/>
            <a:ext cx="5207000" cy="9652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302C5-418B-DAA0-A6F3-55C228F237CF}"/>
              </a:ext>
            </a:extLst>
          </p:cNvPr>
          <p:cNvSpPr txBox="1"/>
          <p:nvPr/>
        </p:nvSpPr>
        <p:spPr>
          <a:xfrm>
            <a:off x="3218127" y="4279900"/>
            <a:ext cx="4851400" cy="510909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r>
              <a:rPr lang="en-US" sz="1400" dirty="0"/>
              <a:t>3.</a:t>
            </a:r>
            <a:r>
              <a:rPr lang="en-PK" sz="1400" dirty="0"/>
              <a:t>Test reasoning and tool-calling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117345668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27BC-AB6F-7192-6532-0C003C19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9218" name="Picture 2" descr="Qwen 2.5 Complete Guide: Alibaba's AI Model 2026 | Apatero Blog - Open ...">
            <a:extLst>
              <a:ext uri="{FF2B5EF4-FFF2-40B4-BE49-F238E27FC236}">
                <a16:creationId xmlns:a16="http://schemas.microsoft.com/office/drawing/2014/main" id="{9B9A4F7E-4559-D90B-3308-46B4D824F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0"/>
            <a:ext cx="12001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58355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2038-122E-B9A8-28DC-8A3AAD8F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3777F-79EE-476B-A5B8-E1F06B63B66A}"/>
              </a:ext>
            </a:extLst>
          </p:cNvPr>
          <p:cNvSpPr txBox="1"/>
          <p:nvPr/>
        </p:nvSpPr>
        <p:spPr>
          <a:xfrm>
            <a:off x="584200" y="1117600"/>
            <a:ext cx="11023600" cy="533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Function calling lets the model request a tool by emitting structured JSON instead of prose. Your code runs the function and returns the result, which the model uses to finish the answer.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80BA92-D33F-4EB9-B7E4-73A2D2F0C4C5}"/>
              </a:ext>
            </a:extLst>
          </p:cNvPr>
          <p:cNvSpPr/>
          <p:nvPr/>
        </p:nvSpPr>
        <p:spPr bwMode="auto">
          <a:xfrm>
            <a:off x="584200" y="1778000"/>
            <a:ext cx="5207000" cy="7366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3C3D2-4D9C-4916-94F9-1402624A0151}"/>
              </a:ext>
            </a:extLst>
          </p:cNvPr>
          <p:cNvSpPr txBox="1"/>
          <p:nvPr/>
        </p:nvSpPr>
        <p:spPr>
          <a:xfrm>
            <a:off x="762000" y="18669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1. User request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F6685-D1B1-414F-A0EE-281CB0F4B337}"/>
              </a:ext>
            </a:extLst>
          </p:cNvPr>
          <p:cNvSpPr txBox="1"/>
          <p:nvPr/>
        </p:nvSpPr>
        <p:spPr>
          <a:xfrm>
            <a:off x="762000" y="21336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“What’s the weather in Paris?”</a:t>
            </a:r>
            <a:endParaRPr lang="en-PK" sz="125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04EF35A-E498-4629-83AF-26C37C95B6D2}"/>
              </a:ext>
            </a:extLst>
          </p:cNvPr>
          <p:cNvSpPr/>
          <p:nvPr/>
        </p:nvSpPr>
        <p:spPr bwMode="auto">
          <a:xfrm>
            <a:off x="3060700" y="24892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65D6EB-E74A-4294-A9E4-6B60F8D1CE80}"/>
              </a:ext>
            </a:extLst>
          </p:cNvPr>
          <p:cNvSpPr/>
          <p:nvPr/>
        </p:nvSpPr>
        <p:spPr bwMode="auto">
          <a:xfrm>
            <a:off x="584200" y="2641600"/>
            <a:ext cx="5207000" cy="7366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00004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9DD66-D355-442F-8ABF-6CD48719A915}"/>
              </a:ext>
            </a:extLst>
          </p:cNvPr>
          <p:cNvSpPr txBox="1"/>
          <p:nvPr/>
        </p:nvSpPr>
        <p:spPr>
          <a:xfrm>
            <a:off x="762000" y="27305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2. Model emits tool_call</a:t>
            </a:r>
            <a:endParaRPr lang="en-PK" sz="14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3FE2F-5B30-4543-B967-F2BADE7C0219}"/>
              </a:ext>
            </a:extLst>
          </p:cNvPr>
          <p:cNvSpPr txBox="1"/>
          <p:nvPr/>
        </p:nvSpPr>
        <p:spPr>
          <a:xfrm>
            <a:off x="762000" y="29972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Returns JSON: name + arguments (no prose answer yet)</a:t>
            </a:r>
            <a:endParaRPr lang="en-PK" sz="125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47D7716-92E5-4B4A-B978-5E40DD43017C}"/>
              </a:ext>
            </a:extLst>
          </p:cNvPr>
          <p:cNvSpPr/>
          <p:nvPr/>
        </p:nvSpPr>
        <p:spPr bwMode="auto">
          <a:xfrm>
            <a:off x="3060700" y="33528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5D1C20-AD95-4A14-AE06-D3B216A12449}"/>
              </a:ext>
            </a:extLst>
          </p:cNvPr>
          <p:cNvSpPr/>
          <p:nvPr/>
        </p:nvSpPr>
        <p:spPr bwMode="auto">
          <a:xfrm>
            <a:off x="584200" y="3505200"/>
            <a:ext cx="5207000" cy="7366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44474B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07A3C-336D-4534-8181-8A9A0FA637C7}"/>
              </a:ext>
            </a:extLst>
          </p:cNvPr>
          <p:cNvSpPr txBox="1"/>
          <p:nvPr/>
        </p:nvSpPr>
        <p:spPr>
          <a:xfrm>
            <a:off x="762000" y="35941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3. App executes function</a:t>
            </a:r>
            <a:endParaRPr lang="en-PK" sz="1400" b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AF733F-48BD-443A-AB4B-1A203A662571}"/>
              </a:ext>
            </a:extLst>
          </p:cNvPr>
          <p:cNvSpPr txBox="1"/>
          <p:nvPr/>
        </p:nvSpPr>
        <p:spPr>
          <a:xfrm>
            <a:off x="762000" y="3860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Your code calls get_weather(“Paris”)</a:t>
            </a:r>
            <a:endParaRPr lang="en-PK" sz="125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3F494F9-3FF2-4543-B479-65D67780BDBB}"/>
              </a:ext>
            </a:extLst>
          </p:cNvPr>
          <p:cNvSpPr/>
          <p:nvPr/>
        </p:nvSpPr>
        <p:spPr bwMode="auto">
          <a:xfrm>
            <a:off x="3060700" y="42164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797A8A-1F59-480D-806E-E8A0B908E842}"/>
              </a:ext>
            </a:extLst>
          </p:cNvPr>
          <p:cNvSpPr/>
          <p:nvPr/>
        </p:nvSpPr>
        <p:spPr bwMode="auto">
          <a:xfrm>
            <a:off x="584200" y="4368800"/>
            <a:ext cx="5207000" cy="7366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00004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3594E4-7B99-45CF-9352-C9B280BB8C3F}"/>
              </a:ext>
            </a:extLst>
          </p:cNvPr>
          <p:cNvSpPr txBox="1"/>
          <p:nvPr/>
        </p:nvSpPr>
        <p:spPr>
          <a:xfrm>
            <a:off x="762000" y="44577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4. Result returned to model</a:t>
            </a:r>
            <a:endParaRPr lang="en-PK" sz="140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61949-9BAC-4B75-B084-A082EFFD755B}"/>
              </a:ext>
            </a:extLst>
          </p:cNvPr>
          <p:cNvSpPr txBox="1"/>
          <p:nvPr/>
        </p:nvSpPr>
        <p:spPr>
          <a:xfrm>
            <a:off x="762000" y="47244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Tool output appended to the message history</a:t>
            </a:r>
            <a:endParaRPr lang="en-PK" sz="125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D59B99F7-4058-4381-B0F6-ADBE7CA1D0D9}"/>
              </a:ext>
            </a:extLst>
          </p:cNvPr>
          <p:cNvSpPr/>
          <p:nvPr/>
        </p:nvSpPr>
        <p:spPr bwMode="auto">
          <a:xfrm>
            <a:off x="3060700" y="50800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F45C20-3BEF-45DB-A97A-3702028C4F0B}"/>
              </a:ext>
            </a:extLst>
          </p:cNvPr>
          <p:cNvSpPr/>
          <p:nvPr/>
        </p:nvSpPr>
        <p:spPr bwMode="auto">
          <a:xfrm>
            <a:off x="584200" y="5232400"/>
            <a:ext cx="5207000" cy="7366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C43E3-CBCE-47A2-9617-DAADFD5CC422}"/>
              </a:ext>
            </a:extLst>
          </p:cNvPr>
          <p:cNvSpPr txBox="1"/>
          <p:nvPr/>
        </p:nvSpPr>
        <p:spPr>
          <a:xfrm>
            <a:off x="762000" y="53213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solidFill>
                  <a:srgbClr val="0078D3"/>
                </a:solidFill>
                <a:latin typeface="Open Sans"/>
                <a:ea typeface="Open Sans"/>
                <a:cs typeface="Open Sans"/>
              </a:rPr>
              <a:t>5. Model composes answer</a:t>
            </a:r>
            <a:endParaRPr lang="en-PK" sz="1400" b="1" dirty="0" err="1">
              <a:solidFill>
                <a:srgbClr val="0078D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AFAD1-E2B4-46D5-A26C-C60F312E66B3}"/>
              </a:ext>
            </a:extLst>
          </p:cNvPr>
          <p:cNvSpPr txBox="1"/>
          <p:nvPr/>
        </p:nvSpPr>
        <p:spPr>
          <a:xfrm>
            <a:off x="762000" y="55880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000041"/>
                </a:solidFill>
                <a:latin typeface="Open Sans"/>
                <a:ea typeface="Open Sans"/>
                <a:cs typeface="Open Sans"/>
              </a:rPr>
              <a:t>“It’s 18°C and clear in Paris.”</a:t>
            </a:r>
            <a:endParaRPr lang="en-PK" sz="1250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BE1001-06A3-4E60-A539-2F81548B5B3F}"/>
              </a:ext>
            </a:extLst>
          </p:cNvPr>
          <p:cNvSpPr/>
          <p:nvPr/>
        </p:nvSpPr>
        <p:spPr bwMode="auto">
          <a:xfrm>
            <a:off x="6146800" y="1778000"/>
            <a:ext cx="5511800" cy="23368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D5ABA1-518E-410E-8AB0-428002B83A38}"/>
              </a:ext>
            </a:extLst>
          </p:cNvPr>
          <p:cNvSpPr txBox="1"/>
          <p:nvPr/>
        </p:nvSpPr>
        <p:spPr>
          <a:xfrm>
            <a:off x="6324600" y="1905000"/>
            <a:ext cx="5181600" cy="2286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1  Tool definition (JSON schema)</a:t>
            </a:r>
            <a:endParaRPr lang="en-PK" sz="125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754B5-6430-478B-8580-A81C7A0C3C4D}"/>
              </a:ext>
            </a:extLst>
          </p:cNvPr>
          <p:cNvSpPr txBox="1"/>
          <p:nvPr/>
        </p:nvSpPr>
        <p:spPr>
          <a:xfrm>
            <a:off x="6324600" y="2184400"/>
            <a:ext cx="5181600" cy="1727200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{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"name": "get_weather",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"description": "Get current weather",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"parameters": {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  "type": "object",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  "properties": {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    "city": {"type": "string"}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  },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  "required": ["city"]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  }</a:t>
            </a:r>
          </a:p>
          <a:p>
            <a:pPr algn="l"/>
            <a:r>
              <a:rPr lang="en-US" sz="1100" dirty="0">
                <a:solidFill>
                  <a:srgbClr val="EBEBEB"/>
                </a:solidFill>
                <a:latin typeface="Consolas"/>
              </a:rPr>
              <a:t>}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31BD22-9CA0-44E4-8E13-E99115309F0A}"/>
              </a:ext>
            </a:extLst>
          </p:cNvPr>
          <p:cNvSpPr/>
          <p:nvPr/>
        </p:nvSpPr>
        <p:spPr bwMode="auto">
          <a:xfrm>
            <a:off x="6146800" y="4140200"/>
            <a:ext cx="5511800" cy="1981200"/>
          </a:xfrm>
          <a:prstGeom prst="round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F1F922-7EAD-477E-86D0-6AD198934B1F}"/>
              </a:ext>
            </a:extLst>
          </p:cNvPr>
          <p:cNvSpPr txBox="1"/>
          <p:nvPr/>
        </p:nvSpPr>
        <p:spPr>
          <a:xfrm>
            <a:off x="6324600" y="4267200"/>
            <a:ext cx="5181600" cy="2286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  Model returns a tool_call</a:t>
            </a:r>
            <a:endParaRPr lang="en-PK" sz="125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428E78-6742-46B9-AA2E-2BC8A393CD4B}"/>
              </a:ext>
            </a:extLst>
          </p:cNvPr>
          <p:cNvSpPr txBox="1"/>
          <p:nvPr/>
        </p:nvSpPr>
        <p:spPr>
          <a:xfrm>
            <a:off x="6324600" y="4546600"/>
            <a:ext cx="5181600" cy="1447800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FFFFFF"/>
                </a:solidFill>
                <a:latin typeface="Consolas"/>
              </a:rPr>
              <a:t>"tool_calls": [{
  "function": {
    "name": "get_weather",
    "arguments":
      "{\"city\": \"Paris\"}"
  }
}]</a:t>
            </a:r>
            <a:endParaRPr lang="en-PK" sz="1200" dirty="0" err="1">
              <a:solidFill>
                <a:srgbClr val="FFFFFF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63784931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3555-C27A-51DF-6607-C70BA1B2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10242" name="Picture 2" descr="AI Concepts :: Spring AI Reference">
            <a:extLst>
              <a:ext uri="{FF2B5EF4-FFF2-40B4-BE49-F238E27FC236}">
                <a16:creationId xmlns:a16="http://schemas.microsoft.com/office/drawing/2014/main" id="{9F4BB87C-7E85-74F2-28F6-56F82257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88"/>
            <a:ext cx="12192000" cy="675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621720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 Comprehensive Guide to Function Calling in LLMs - The New Stack">
            <a:extLst>
              <a:ext uri="{FF2B5EF4-FFF2-40B4-BE49-F238E27FC236}">
                <a16:creationId xmlns:a16="http://schemas.microsoft.com/office/drawing/2014/main" id="{FC51AD4F-6D3C-1234-AD32-6A3419CD2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2" y="0"/>
            <a:ext cx="8410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19909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24A1-C9B5-5DAA-8FDF-22E0FACA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9DA7A-2D5C-91BA-0434-CA5F918D5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41874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EBA3-7D44-8CE2-4A25-52C526D7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3FD8-D54C-0312-5075-AB123625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383DD-D6B1-57B8-D89B-5473057BA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3854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FD7B-A648-ED03-E5D7-FAD2CAF0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Reasoning Agent with LangChain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9A2BA-CA17-458D-949B-8124F286D4B8}"/>
              </a:ext>
            </a:extLst>
          </p:cNvPr>
          <p:cNvSpPr txBox="1"/>
          <p:nvPr/>
        </p:nvSpPr>
        <p:spPr>
          <a:xfrm>
            <a:off x="584200" y="1117600"/>
            <a:ext cx="11023600" cy="533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LangChain wires an LLM, a set of tools, and an AgentExecutor into a ReAct loop — the model reasons, picks a tool, observes the result, and repeats until it produces a final answer.</a:t>
            </a:r>
            <a:endParaRPr lang="en-PK" sz="150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5FBFBC-A69B-4787-B8D3-9ED00CD291CD}"/>
              </a:ext>
            </a:extLst>
          </p:cNvPr>
          <p:cNvSpPr/>
          <p:nvPr/>
        </p:nvSpPr>
        <p:spPr bwMode="auto">
          <a:xfrm>
            <a:off x="584200" y="1778000"/>
            <a:ext cx="5207000" cy="7112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483CA-2AFE-4415-885D-34DC6715F900}"/>
              </a:ext>
            </a:extLst>
          </p:cNvPr>
          <p:cNvSpPr txBox="1"/>
          <p:nvPr/>
        </p:nvSpPr>
        <p:spPr>
          <a:xfrm>
            <a:off x="787400" y="18923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  LLM reasons (Thought)</a:t>
            </a:r>
            <a:endParaRPr lang="en-PK" sz="145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E05FA-1963-47D6-A7CB-91DB80E5C8DB}"/>
              </a:ext>
            </a:extLst>
          </p:cNvPr>
          <p:cNvSpPr txBox="1"/>
          <p:nvPr/>
        </p:nvSpPr>
        <p:spPr>
          <a:xfrm>
            <a:off x="787400" y="2159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EBEBEB"/>
                </a:solidFill>
                <a:latin typeface="Open Sans"/>
                <a:ea typeface="Open Sans"/>
                <a:cs typeface="Open Sans"/>
              </a:rPr>
              <a:t>Decides what to do next based on the goal</a:t>
            </a:r>
            <a:endParaRPr lang="en-PK" sz="1250" dirty="0" err="1">
              <a:solidFill>
                <a:srgbClr val="EBEBE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22AFFAB-5999-47EC-B02A-77E01F23A274}"/>
              </a:ext>
            </a:extLst>
          </p:cNvPr>
          <p:cNvSpPr/>
          <p:nvPr/>
        </p:nvSpPr>
        <p:spPr bwMode="auto">
          <a:xfrm>
            <a:off x="3073400" y="25146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D024CD-6A81-4D4C-AA45-607B5BCDE0FD}"/>
              </a:ext>
            </a:extLst>
          </p:cNvPr>
          <p:cNvSpPr/>
          <p:nvPr/>
        </p:nvSpPr>
        <p:spPr bwMode="auto">
          <a:xfrm>
            <a:off x="584200" y="2717800"/>
            <a:ext cx="5207000" cy="711200"/>
          </a:xfrm>
          <a:prstGeom prst="round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5F534E-7951-4B89-86B3-ADB2B8DBB61C}"/>
              </a:ext>
            </a:extLst>
          </p:cNvPr>
          <p:cNvSpPr txBox="1"/>
          <p:nvPr/>
        </p:nvSpPr>
        <p:spPr>
          <a:xfrm>
            <a:off x="787400" y="28321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  Selects an action (Tool)</a:t>
            </a:r>
            <a:endParaRPr lang="en-PK" sz="145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74DF14-FEA2-406D-B5EA-312E4038C294}"/>
              </a:ext>
            </a:extLst>
          </p:cNvPr>
          <p:cNvSpPr txBox="1"/>
          <p:nvPr/>
        </p:nvSpPr>
        <p:spPr>
          <a:xfrm>
            <a:off x="787400" y="30988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EBEBEB"/>
                </a:solidFill>
                <a:latin typeface="Open Sans"/>
                <a:ea typeface="Open Sans"/>
                <a:cs typeface="Open Sans"/>
              </a:rPr>
              <a:t>Chooses a tool + arguments to call</a:t>
            </a:r>
            <a:endParaRPr lang="en-PK" sz="1250" dirty="0" err="1">
              <a:solidFill>
                <a:srgbClr val="EBEBE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FF2C9CE-0E21-4E75-BC54-62D9125FC8AE}"/>
              </a:ext>
            </a:extLst>
          </p:cNvPr>
          <p:cNvSpPr/>
          <p:nvPr/>
        </p:nvSpPr>
        <p:spPr bwMode="auto">
          <a:xfrm>
            <a:off x="3073400" y="34544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A58B90-A21B-4FC9-9130-67941C23F8E8}"/>
              </a:ext>
            </a:extLst>
          </p:cNvPr>
          <p:cNvSpPr/>
          <p:nvPr/>
        </p:nvSpPr>
        <p:spPr bwMode="auto">
          <a:xfrm>
            <a:off x="584200" y="3657600"/>
            <a:ext cx="5207000" cy="711200"/>
          </a:xfrm>
          <a:prstGeom prst="roundRect">
            <a:avLst/>
          </a:prstGeom>
          <a:solidFill>
            <a:srgbClr val="44474B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2CA40-D30B-4AAA-B493-37D2DAEC3864}"/>
              </a:ext>
            </a:extLst>
          </p:cNvPr>
          <p:cNvSpPr txBox="1"/>
          <p:nvPr/>
        </p:nvSpPr>
        <p:spPr>
          <a:xfrm>
            <a:off x="787400" y="37719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  AgentExecutor runs the tool</a:t>
            </a:r>
            <a:endParaRPr lang="en-PK" sz="145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04A1D-22CE-49E1-BC48-7107DD6A4F56}"/>
              </a:ext>
            </a:extLst>
          </p:cNvPr>
          <p:cNvSpPr txBox="1"/>
          <p:nvPr/>
        </p:nvSpPr>
        <p:spPr>
          <a:xfrm>
            <a:off x="787400" y="40386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EBEBEB"/>
                </a:solidFill>
                <a:latin typeface="Open Sans"/>
                <a:ea typeface="Open Sans"/>
                <a:cs typeface="Open Sans"/>
              </a:rPr>
              <a:t>Executes the call, captures the output</a:t>
            </a:r>
            <a:endParaRPr lang="en-PK" sz="1250" dirty="0" err="1">
              <a:solidFill>
                <a:srgbClr val="EBEBE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89CFE1D-5B93-461F-89FA-C0D67A039492}"/>
              </a:ext>
            </a:extLst>
          </p:cNvPr>
          <p:cNvSpPr/>
          <p:nvPr/>
        </p:nvSpPr>
        <p:spPr bwMode="auto">
          <a:xfrm>
            <a:off x="3073400" y="4394200"/>
            <a:ext cx="228600" cy="177800"/>
          </a:xfrm>
          <a:prstGeom prst="downArrow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C7AF2C-DA49-4AA5-8A93-01656BC81F92}"/>
              </a:ext>
            </a:extLst>
          </p:cNvPr>
          <p:cNvSpPr/>
          <p:nvPr/>
        </p:nvSpPr>
        <p:spPr bwMode="auto">
          <a:xfrm>
            <a:off x="584200" y="4597400"/>
            <a:ext cx="5207000" cy="711200"/>
          </a:xfrm>
          <a:prstGeom prst="roundRect">
            <a:avLst/>
          </a:prstGeom>
          <a:solidFill>
            <a:srgbClr val="75757A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BDDFB-7CA1-4BD6-AFBD-4859852D0DA6}"/>
              </a:ext>
            </a:extLst>
          </p:cNvPr>
          <p:cNvSpPr txBox="1"/>
          <p:nvPr/>
        </p:nvSpPr>
        <p:spPr>
          <a:xfrm>
            <a:off x="787400" y="4711700"/>
            <a:ext cx="4826000" cy="49629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  Observation feeds back</a:t>
            </a:r>
            <a:endParaRPr lang="en-PK" sz="1450" b="1" dirty="0" err="1">
              <a:solidFill>
                <a:srgbClr val="00004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2ABC1E-7E07-4225-B8D6-9A0078361F1A}"/>
              </a:ext>
            </a:extLst>
          </p:cNvPr>
          <p:cNvSpPr txBox="1"/>
          <p:nvPr/>
        </p:nvSpPr>
        <p:spPr>
          <a:xfrm>
            <a:off x="787400" y="4978400"/>
            <a:ext cx="4826000" cy="46859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5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Result returned to the LLM as context</a:t>
            </a:r>
            <a:endParaRPr lang="en-PK" sz="1250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79830CA5-4D49-497C-AEF3-8C0F2ABE99D6}"/>
              </a:ext>
            </a:extLst>
          </p:cNvPr>
          <p:cNvSpPr/>
          <p:nvPr/>
        </p:nvSpPr>
        <p:spPr bwMode="auto">
          <a:xfrm>
            <a:off x="5892800" y="1778000"/>
            <a:ext cx="228600" cy="3530600"/>
          </a:xfrm>
          <a:prstGeom prst="upArrow">
            <a:avLst/>
          </a:prstGeom>
          <a:solidFill>
            <a:srgbClr val="50E6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16B561-8EB5-4F6E-B05C-AEA8E7A76257}"/>
              </a:ext>
            </a:extLst>
          </p:cNvPr>
          <p:cNvSpPr txBox="1"/>
          <p:nvPr/>
        </p:nvSpPr>
        <p:spPr>
          <a:xfrm>
            <a:off x="5740400" y="54610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i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loop until
final answer</a:t>
            </a:r>
            <a:endParaRPr lang="en-PK" sz="1100" i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961568-029F-426F-8503-C3C4713B1827}"/>
              </a:ext>
            </a:extLst>
          </p:cNvPr>
          <p:cNvSpPr/>
          <p:nvPr/>
        </p:nvSpPr>
        <p:spPr bwMode="auto">
          <a:xfrm>
            <a:off x="584200" y="5511800"/>
            <a:ext cx="5207000" cy="5334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896B8C-7C82-4EC0-A3B7-809B88B5CA75}"/>
              </a:ext>
            </a:extLst>
          </p:cNvPr>
          <p:cNvSpPr txBox="1"/>
          <p:nvPr/>
        </p:nvSpPr>
        <p:spPr>
          <a:xfrm>
            <a:off x="787400" y="56261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✓  Final answer returned to user</a:t>
            </a:r>
            <a:endParaRPr lang="en-PK" sz="145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6508C5F-1B0F-429D-943B-13D334FDD475}"/>
              </a:ext>
            </a:extLst>
          </p:cNvPr>
          <p:cNvSpPr/>
          <p:nvPr/>
        </p:nvSpPr>
        <p:spPr bwMode="auto">
          <a:xfrm>
            <a:off x="7112000" y="1778000"/>
            <a:ext cx="4546600" cy="42672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F7793-6151-4130-B1FB-72ACD2331B81}"/>
              </a:ext>
            </a:extLst>
          </p:cNvPr>
          <p:cNvSpPr txBox="1"/>
          <p:nvPr/>
        </p:nvSpPr>
        <p:spPr>
          <a:xfrm>
            <a:off x="7315200" y="1905000"/>
            <a:ext cx="4165600" cy="2286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5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agent.py</a:t>
            </a:r>
            <a:endParaRPr lang="en-PK" sz="125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ABA5D3-E438-40FC-B7B3-BF255B0B55AB}"/>
              </a:ext>
            </a:extLst>
          </p:cNvPr>
          <p:cNvSpPr txBox="1"/>
          <p:nvPr/>
        </p:nvSpPr>
        <p:spPr>
          <a:xfrm>
            <a:off x="7315200" y="2209800"/>
            <a:ext cx="3761286" cy="3198824"/>
          </a:xfrm>
          <a:prstGeom prst="rect">
            <a:avLst/>
          </a:prstGeom>
          <a:noFill/>
        </p:spPr>
        <p:txBody>
          <a:bodyPr vertOverflow="overflow" vert="horz" wrap="none" lIns="182880" tIns="146304" rIns="182880" bIns="146304" rtlCol="0" anchor="t">
            <a:sp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from langchain.agents import \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  create_react_agent, AgentExecutor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from langchain_openai import ChatOpenAI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from langchain import hub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05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llm = ChatOpenAI(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    model="qwen/qwen-2.5-72b",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    base_url=OPENROUTER_URL, api_key=KEY)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05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tools = [get_weather, search]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prompt = hub.pull("hwchase17/react")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05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agent = create_react_agent(llm, tools, prompt)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executor = AgentExecutor(agent=agent,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                         tools=tools)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05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BEB"/>
                </a:solidFill>
                <a:latin typeface="Consolas"/>
              </a:rPr>
              <a:t>executor.invoke({"input": question})</a:t>
            </a:r>
          </a:p>
        </p:txBody>
      </p:sp>
    </p:spTree>
    <p:extLst>
      <p:ext uri="{BB962C8B-B14F-4D97-AF65-F5344CB8AC3E}">
        <p14:creationId xmlns:p14="http://schemas.microsoft.com/office/powerpoint/2010/main" val="680767696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9356-13AC-223E-7609-EF880181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Architecture</a:t>
            </a:r>
            <a:br>
              <a:rPr lang="en-PK" b="1" dirty="0"/>
            </a:br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D6CD5B-987B-58F7-CBCE-4D5F04438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093357"/>
              </p:ext>
            </p:extLst>
          </p:nvPr>
        </p:nvGraphicFramePr>
        <p:xfrm>
          <a:off x="588263" y="1499191"/>
          <a:ext cx="11018520" cy="41892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509260">
                  <a:extLst>
                    <a:ext uri="{9D8B030D-6E8A-4147-A177-3AD203B41FA5}">
                      <a16:colId xmlns:a16="http://schemas.microsoft.com/office/drawing/2014/main" val="4108826023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753263072"/>
                    </a:ext>
                  </a:extLst>
                </a:gridCol>
              </a:tblGrid>
              <a:tr h="837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095240"/>
                  </a:ext>
                </a:extLst>
              </a:tr>
              <a:tr h="837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LLMChain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Connects prompts and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445472"/>
                  </a:ext>
                </a:extLst>
              </a:tr>
              <a:tr h="837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Memory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Stores context across turns.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743408"/>
                  </a:ext>
                </a:extLst>
              </a:tr>
              <a:tr h="837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Tools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Executes external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326951"/>
                  </a:ext>
                </a:extLst>
              </a:tr>
              <a:tr h="837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Agents</a:t>
                      </a:r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Orchestrates reasoning and tool use.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2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00661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23238-4CE0-54B2-D57E-2CD364F5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⚙️ Top 5 Local Agent Frameworks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9924FE-74B5-375E-8BF8-3497C1B10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18327"/>
              </p:ext>
            </p:extLst>
          </p:nvPr>
        </p:nvGraphicFramePr>
        <p:xfrm>
          <a:off x="1012723" y="2230640"/>
          <a:ext cx="10038735" cy="3727708"/>
        </p:xfrm>
        <a:graphic>
          <a:graphicData uri="http://schemas.openxmlformats.org/drawingml/2006/table">
            <a:tbl>
              <a:tblPr/>
              <a:tblGrid>
                <a:gridCol w="3346245">
                  <a:extLst>
                    <a:ext uri="{9D8B030D-6E8A-4147-A177-3AD203B41FA5}">
                      <a16:colId xmlns:a16="http://schemas.microsoft.com/office/drawing/2014/main" val="1979762894"/>
                    </a:ext>
                  </a:extLst>
                </a:gridCol>
                <a:gridCol w="3346245">
                  <a:extLst>
                    <a:ext uri="{9D8B030D-6E8A-4147-A177-3AD203B41FA5}">
                      <a16:colId xmlns:a16="http://schemas.microsoft.com/office/drawing/2014/main" val="4001627897"/>
                    </a:ext>
                  </a:extLst>
                </a:gridCol>
                <a:gridCol w="3346245">
                  <a:extLst>
                    <a:ext uri="{9D8B030D-6E8A-4147-A177-3AD203B41FA5}">
                      <a16:colId xmlns:a16="http://schemas.microsoft.com/office/drawing/2014/main" val="586490928"/>
                    </a:ext>
                  </a:extLst>
                </a:gridCol>
              </a:tblGrid>
              <a:tr h="414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Framework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Key Strength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Offline Compatibility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679256"/>
                  </a:ext>
                </a:extLst>
              </a:tr>
              <a:tr h="724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LangGraph</a:t>
                      </a:r>
                      <a:endParaRPr lang="en-US" sz="1100"/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Graph-based orchestration, multi-agent loops, tool calling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Fully local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344021"/>
                  </a:ext>
                </a:extLst>
              </a:tr>
              <a:tr h="724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CrewAI</a:t>
                      </a:r>
                      <a:endParaRPr lang="en-US" sz="1100"/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Multi-agent collaboration, simple YAML config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Local via Ollama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181379"/>
                  </a:ext>
                </a:extLst>
              </a:tr>
              <a:tr h="724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Autogen (Microsoft)</a:t>
                      </a:r>
                      <a:endParaRPr lang="en-US" sz="1100"/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Multi-agent coordination, Pythonic design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Local with custom LLM endpoints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100070"/>
                  </a:ext>
                </a:extLst>
              </a:tr>
              <a:tr h="414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SmolAgents</a:t>
                      </a:r>
                      <a:endParaRPr lang="en-US" sz="1100"/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Lightweight, minimal dependencies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Runs on local models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550823"/>
                  </a:ext>
                </a:extLst>
              </a:tr>
              <a:tr h="724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OpenDevin</a:t>
                      </a:r>
                      <a:endParaRPr lang="en-US" sz="1100"/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Developer-focused autonomous agents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 Local Docker setup</a:t>
                      </a:r>
                    </a:p>
                  </a:txBody>
                  <a:tcPr marL="57105" marR="57105" marT="28553" marB="285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66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365232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C3AD-B203-C4BF-E12A-E896850D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7437-E03F-EB0F-2919-86B3D458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Observability Tools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7E8048-E639-4377-3D11-F3CA4A455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18798"/>
              </p:ext>
            </p:extLst>
          </p:nvPr>
        </p:nvGraphicFramePr>
        <p:xfrm>
          <a:off x="796413" y="1572056"/>
          <a:ext cx="10550013" cy="4061826"/>
        </p:xfrm>
        <a:graphic>
          <a:graphicData uri="http://schemas.openxmlformats.org/drawingml/2006/table">
            <a:tbl>
              <a:tblPr/>
              <a:tblGrid>
                <a:gridCol w="3516671">
                  <a:extLst>
                    <a:ext uri="{9D8B030D-6E8A-4147-A177-3AD203B41FA5}">
                      <a16:colId xmlns:a16="http://schemas.microsoft.com/office/drawing/2014/main" val="1831701206"/>
                    </a:ext>
                  </a:extLst>
                </a:gridCol>
                <a:gridCol w="3516671">
                  <a:extLst>
                    <a:ext uri="{9D8B030D-6E8A-4147-A177-3AD203B41FA5}">
                      <a16:colId xmlns:a16="http://schemas.microsoft.com/office/drawing/2014/main" val="833879897"/>
                    </a:ext>
                  </a:extLst>
                </a:gridCol>
                <a:gridCol w="3516671">
                  <a:extLst>
                    <a:ext uri="{9D8B030D-6E8A-4147-A177-3AD203B41FA5}">
                      <a16:colId xmlns:a16="http://schemas.microsoft.com/office/drawing/2014/main" val="1193269916"/>
                    </a:ext>
                  </a:extLst>
                </a:gridCol>
              </a:tblGrid>
              <a:tr h="492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Tool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Focus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Local Mode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620634"/>
                  </a:ext>
                </a:extLst>
              </a:tr>
              <a:tr h="861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Langfuse</a:t>
                      </a:r>
                      <a:endParaRPr lang="en-US" sz="1500"/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Tracing, spans, metrics, token usage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Self-host via Docker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109312"/>
                  </a:ext>
                </a:extLst>
              </a:tr>
              <a:tr h="492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TruLens</a:t>
                      </a:r>
                      <a:endParaRPr lang="en-US" sz="1500"/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Evaluation and feedback tracking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Local Python integration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57131"/>
                  </a:ext>
                </a:extLst>
              </a:tr>
              <a:tr h="861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Opik</a:t>
                      </a:r>
                      <a:endParaRPr lang="en-US" sz="1500"/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Agent performance and dataset tracking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Local SQLite mode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75485"/>
                  </a:ext>
                </a:extLst>
              </a:tr>
              <a:tr h="861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OpenLLMetry</a:t>
                      </a:r>
                      <a:endParaRPr lang="en-US" sz="1500"/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OpenTelemetry-based observability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100% local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032976"/>
                  </a:ext>
                </a:extLst>
              </a:tr>
              <a:tr h="492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PostHog</a:t>
                      </a:r>
                      <a:endParaRPr lang="en-US" sz="1500"/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Analytics and event tracking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✅ Self-hosted option</a:t>
                      </a:r>
                    </a:p>
                  </a:txBody>
                  <a:tcPr marL="76057" marR="76057" marT="38028" marB="38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462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023626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9CEC-B354-23D7-203D-94273FB8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E17D-E1BA-25ED-699B-CD4A95FD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Memory Managers</a:t>
            </a:r>
            <a:br>
              <a:rPr lang="en-US" b="1" dirty="0"/>
            </a:b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CF8EFA-B86A-6600-3574-B890517C1FE8}"/>
              </a:ext>
            </a:extLst>
          </p:cNvPr>
          <p:cNvGraphicFramePr>
            <a:graphicFrameLocks noGrp="1"/>
          </p:cNvGraphicFramePr>
          <p:nvPr/>
        </p:nvGraphicFramePr>
        <p:xfrm>
          <a:off x="819379" y="1795138"/>
          <a:ext cx="10504029" cy="2067576"/>
        </p:xfrm>
        <a:graphic>
          <a:graphicData uri="http://schemas.openxmlformats.org/drawingml/2006/table">
            <a:tbl>
              <a:tblPr/>
              <a:tblGrid>
                <a:gridCol w="3501343">
                  <a:extLst>
                    <a:ext uri="{9D8B030D-6E8A-4147-A177-3AD203B41FA5}">
                      <a16:colId xmlns:a16="http://schemas.microsoft.com/office/drawing/2014/main" val="86970807"/>
                    </a:ext>
                  </a:extLst>
                </a:gridCol>
                <a:gridCol w="3501343">
                  <a:extLst>
                    <a:ext uri="{9D8B030D-6E8A-4147-A177-3AD203B41FA5}">
                      <a16:colId xmlns:a16="http://schemas.microsoft.com/office/drawing/2014/main" val="3105797774"/>
                    </a:ext>
                  </a:extLst>
                </a:gridCol>
                <a:gridCol w="3501343">
                  <a:extLst>
                    <a:ext uri="{9D8B030D-6E8A-4147-A177-3AD203B41FA5}">
                      <a16:colId xmlns:a16="http://schemas.microsoft.com/office/drawing/2014/main" val="2341034133"/>
                    </a:ext>
                  </a:extLst>
                </a:gridCol>
              </a:tblGrid>
              <a:tr h="33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Tool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Type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Local Storage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87707"/>
                  </a:ext>
                </a:extLst>
              </a:tr>
              <a:tr h="33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LangChain Memory</a:t>
                      </a:r>
                      <a:endParaRPr lang="en-US" sz="1700"/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Conversation + vector memory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✅ Local JSON/SQLite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419588"/>
                  </a:ext>
                </a:extLst>
              </a:tr>
              <a:tr h="33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MemGPT</a:t>
                      </a:r>
                      <a:endParaRPr lang="en-US" sz="1700"/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Hierarchical memory system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✅ Local file-based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672097"/>
                  </a:ext>
                </a:extLst>
              </a:tr>
              <a:tr h="33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LlamaIndex</a:t>
                      </a:r>
                      <a:endParaRPr lang="en-US" sz="1700"/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Document + vector memory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✅ Local embeddings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6283"/>
                  </a:ext>
                </a:extLst>
              </a:tr>
              <a:tr h="33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ChromaDB</a:t>
                      </a:r>
                      <a:endParaRPr lang="en-US" sz="1700"/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Vector store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✅ Local persistent DB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07081"/>
                  </a:ext>
                </a:extLst>
              </a:tr>
              <a:tr h="33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FAISS</a:t>
                      </a:r>
                      <a:endParaRPr lang="en-US" sz="1700"/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High-speed similarity search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✅ Local binary index</a:t>
                      </a:r>
                    </a:p>
                  </a:txBody>
                  <a:tcPr marL="85517" marR="85517" marT="42758" marB="427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245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18236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B5A6-6292-2472-8BA5-CC0B0AC0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angGraph basic infographic">
            <a:extLst>
              <a:ext uri="{FF2B5EF4-FFF2-40B4-BE49-F238E27FC236}">
                <a16:creationId xmlns:a16="http://schemas.microsoft.com/office/drawing/2014/main" id="{D72274F9-DA7C-D2E8-95B4-89FBAB1B5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747" y="105696"/>
            <a:ext cx="9656506" cy="643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799509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1413-E10D-31BD-E9C5-907D347C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B2823-F1D0-EFBF-FDCE-196556C31D4A}"/>
              </a:ext>
            </a:extLst>
          </p:cNvPr>
          <p:cNvSpPr txBox="1"/>
          <p:nvPr/>
        </p:nvSpPr>
        <p:spPr>
          <a:xfrm>
            <a:off x="371168" y="2038436"/>
            <a:ext cx="61672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LLM Nodes</a:t>
            </a:r>
          </a:p>
          <a:p>
            <a:pPr>
              <a:buNone/>
            </a:pPr>
            <a:r>
              <a:rPr lang="en-US" dirty="0">
                <a:effectLst/>
              </a:rPr>
              <a:t>These are the core units that represent </a:t>
            </a:r>
            <a:r>
              <a:rPr lang="en-US" b="1" dirty="0">
                <a:effectLst/>
              </a:rPr>
              <a:t>language model operations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Each node handles a specific task, like generating text, summarizing, or answering questions.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You can connect multiple nodes to form a logical flow of AI reasoning.</a:t>
            </a:r>
            <a:endParaRPr lang="en-US" dirty="0"/>
          </a:p>
          <a:p>
            <a:pPr>
              <a:buNone/>
            </a:pPr>
            <a:r>
              <a:rPr lang="en-US" b="1" dirty="0"/>
              <a:t>🧰 Tools &amp; Functions</a:t>
            </a:r>
          </a:p>
          <a:p>
            <a:pPr>
              <a:buNone/>
            </a:pPr>
            <a:r>
              <a:rPr lang="en-US" dirty="0">
                <a:effectLst/>
              </a:rPr>
              <a:t>This layer integrates </a:t>
            </a:r>
            <a:r>
              <a:rPr lang="en-US" b="1" dirty="0">
                <a:effectLst/>
              </a:rPr>
              <a:t>external capabilities</a:t>
            </a:r>
            <a:r>
              <a:rPr lang="en-US" dirty="0">
                <a:effectLst/>
              </a:rPr>
              <a:t> into your graph.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Tools can be APIs, Python functions, or database queries.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They extend the LLM’s power by letting it perform actions beyond text generation — for example, calling a weather API or running a calculation.</a:t>
            </a:r>
            <a:r>
              <a:rPr lang="en-US" dirty="0"/>
              <a:t> </a:t>
            </a:r>
            <a:r>
              <a:rPr lang="en-US" dirty="0">
                <a:effectLst/>
              </a:rPr>
              <a:t>LLM applications.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E4E91-1695-2492-ABD0-DC29616CEC39}"/>
              </a:ext>
            </a:extLst>
          </p:cNvPr>
          <p:cNvSpPr txBox="1"/>
          <p:nvPr/>
        </p:nvSpPr>
        <p:spPr>
          <a:xfrm>
            <a:off x="6666271" y="1616838"/>
            <a:ext cx="51545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🗂️ State Management</a:t>
            </a:r>
          </a:p>
          <a:p>
            <a:pPr>
              <a:buNone/>
            </a:pPr>
            <a:r>
              <a:rPr lang="en-US" dirty="0" err="1">
                <a:effectLst/>
              </a:rPr>
              <a:t>LangGraph</a:t>
            </a:r>
            <a:r>
              <a:rPr lang="en-US" dirty="0">
                <a:effectLst/>
              </a:rPr>
              <a:t> keeps track of </a:t>
            </a:r>
            <a:r>
              <a:rPr lang="en-US" b="1" dirty="0">
                <a:effectLst/>
              </a:rPr>
              <a:t>conversation and workflow state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 stores variables, user inputs, and intermediate results.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This ensures consistency and context retention across multiple steps or turns.</a:t>
            </a:r>
            <a:endParaRPr lang="en-US" dirty="0"/>
          </a:p>
          <a:p>
            <a:pPr>
              <a:buNone/>
            </a:pPr>
            <a:r>
              <a:rPr lang="en-US" b="1" dirty="0"/>
              <a:t>🔗 Graph-Based Workflow</a:t>
            </a:r>
          </a:p>
          <a:p>
            <a:pPr>
              <a:buNone/>
            </a:pPr>
            <a:r>
              <a:rPr lang="en-US" dirty="0">
                <a:effectLst/>
              </a:rPr>
              <a:t>The entire system is structured as a </a:t>
            </a:r>
            <a:r>
              <a:rPr lang="en-US" b="1" dirty="0">
                <a:effectLst/>
              </a:rPr>
              <a:t>graph of connected nodes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Each node passes data to the next, forming a directed flow.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This design makes it easy to visualize, debug, and scale complex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08311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Understanding LangChain Agents: create_react_agent vs create_tool ...">
            <a:extLst>
              <a:ext uri="{FF2B5EF4-FFF2-40B4-BE49-F238E27FC236}">
                <a16:creationId xmlns:a16="http://schemas.microsoft.com/office/drawing/2014/main" id="{85FCFC59-3CB2-914D-BE75-4C2538ED3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50" y="0"/>
            <a:ext cx="9993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46119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E87C-CA7D-8600-64F7-24910FB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n8n Fundamentals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9A8544-DAE6-90F2-3FE1-78C299A6D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110" y="2793888"/>
            <a:ext cx="2171700" cy="1143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AAE6EF-DFEA-5084-E12F-80B382FD1823}"/>
              </a:ext>
            </a:extLst>
          </p:cNvPr>
          <p:cNvSpPr txBox="1"/>
          <p:nvPr/>
        </p:nvSpPr>
        <p:spPr>
          <a:xfrm>
            <a:off x="751398" y="2077567"/>
            <a:ext cx="67188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200000"/>
              </a:lnSpc>
              <a:buNone/>
            </a:pPr>
            <a:r>
              <a:rPr lang="en-US" b="1" dirty="0">
                <a:effectLst/>
              </a:rPr>
              <a:t>What is n8n?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Open-source workflow automation tool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Connect apps, APIs, and services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Visual, node-based workflow builder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Alternative to Zapier, Make (</a:t>
            </a:r>
            <a:r>
              <a:rPr lang="en-US" b="0" dirty="0" err="1">
                <a:effectLst/>
              </a:rPr>
              <a:t>Integromat</a:t>
            </a:r>
            <a:r>
              <a:rPr lang="en-US" b="0" dirty="0">
                <a:effectLst/>
              </a:rPr>
              <a:t>)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Self-hosted &amp; cloud options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397292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BE80-DB74-0425-ABBE-3EB7B1E8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92C3-BE77-235D-B717-BD3F29C7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n8n Fundamentals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A47E751-2E62-78AE-EC80-EE95EC382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110" y="2793888"/>
            <a:ext cx="2171700" cy="1143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1873A-7EEA-5E17-2B02-44AED275A9D1}"/>
              </a:ext>
            </a:extLst>
          </p:cNvPr>
          <p:cNvSpPr txBox="1"/>
          <p:nvPr/>
        </p:nvSpPr>
        <p:spPr>
          <a:xfrm>
            <a:off x="588263" y="1552782"/>
            <a:ext cx="67188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20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Key Concepts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Workflow = automated process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Node = individual task/action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Connection = flow between nodes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Execution = running the workflow</a:t>
            </a:r>
          </a:p>
          <a:p>
            <a:pPr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Data flows as JSON between nodes</a:t>
            </a:r>
          </a:p>
        </p:txBody>
      </p:sp>
    </p:spTree>
    <p:extLst>
      <p:ext uri="{BB962C8B-B14F-4D97-AF65-F5344CB8AC3E}">
        <p14:creationId xmlns:p14="http://schemas.microsoft.com/office/powerpoint/2010/main" val="718704740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4448-EC6B-949B-6C3E-DB190E04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D26F-272B-3A17-B760-824A58D6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n8n Fundamentals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AF589D-1FCE-BF04-52A8-4353CFC68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110" y="2793888"/>
            <a:ext cx="2171700" cy="114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1ADF23-01F5-065B-E887-36CA43C7C39D}"/>
              </a:ext>
            </a:extLst>
          </p:cNvPr>
          <p:cNvSpPr txBox="1"/>
          <p:nvPr/>
        </p:nvSpPr>
        <p:spPr>
          <a:xfrm>
            <a:off x="1117158" y="1932915"/>
            <a:ext cx="67188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Trigger Nodes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Start a workflow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Wait for an event or condition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Examples: </a:t>
            </a:r>
          </a:p>
          <a:p>
            <a:pPr marL="742950" lvl="1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Webhook Trigger</a:t>
            </a:r>
          </a:p>
          <a:p>
            <a:pPr marL="742950" lvl="1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Cron (scheduled trigger)</a:t>
            </a:r>
          </a:p>
          <a:p>
            <a:pPr marL="742950" lvl="1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App triggers (e.g., Gmail, Slack)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Only one trigger is typically required</a:t>
            </a:r>
          </a:p>
        </p:txBody>
      </p:sp>
    </p:spTree>
    <p:extLst>
      <p:ext uri="{BB962C8B-B14F-4D97-AF65-F5344CB8AC3E}">
        <p14:creationId xmlns:p14="http://schemas.microsoft.com/office/powerpoint/2010/main" val="135591089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5FBD-A745-4C5B-938B-D849E695E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AE77-4BEF-E52D-D482-89ECCA60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n8n Fundamentals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714451-58C0-76D4-3055-5D2BE6E72C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110" y="2793888"/>
            <a:ext cx="2171700" cy="114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1F5C54-17D1-5A9C-FE11-F1D1FA9FD339}"/>
              </a:ext>
            </a:extLst>
          </p:cNvPr>
          <p:cNvSpPr txBox="1"/>
          <p:nvPr/>
        </p:nvSpPr>
        <p:spPr>
          <a:xfrm>
            <a:off x="1117158" y="1932915"/>
            <a:ext cx="671885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Action Nodes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Perform tasks after trigger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Examples: 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Send email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Create database record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Call API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Can have multiple action steps</a:t>
            </a:r>
          </a:p>
        </p:txBody>
      </p:sp>
    </p:spTree>
    <p:extLst>
      <p:ext uri="{BB962C8B-B14F-4D97-AF65-F5344CB8AC3E}">
        <p14:creationId xmlns:p14="http://schemas.microsoft.com/office/powerpoint/2010/main" val="242890345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9DAF-EAEC-8BCE-3CD0-B3836B57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Recap: From Concept to Working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E60FE-6CE1-499F-9F98-EB250FF94EC2}"/>
              </a:ext>
            </a:extLst>
          </p:cNvPr>
          <p:cNvSpPr txBox="1"/>
          <p:nvPr/>
        </p:nvSpPr>
        <p:spPr>
          <a:xfrm>
            <a:off x="584200" y="1066800"/>
            <a:ext cx="11023600" cy="3302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500" i="1">
                <a:solidFill>
                  <a:srgbClr val="44474B"/>
                </a:solidFill>
                <a:latin typeface="Open Sans"/>
                <a:ea typeface="Open Sans"/>
                <a:cs typeface="Open Sans"/>
              </a:rPr>
              <a:t>Ten objectives, four themes — the foundations you can now build on.</a:t>
            </a:r>
            <a:endParaRPr lang="en-PK" sz="1500" i="1" dirty="0" err="1">
              <a:solidFill>
                <a:srgbClr val="4447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80D2BC-0665-4DF3-B8CF-CA5405760DA1}"/>
              </a:ext>
            </a:extLst>
          </p:cNvPr>
          <p:cNvSpPr/>
          <p:nvPr/>
        </p:nvSpPr>
        <p:spPr bwMode="auto">
          <a:xfrm>
            <a:off x="584200" y="1600200"/>
            <a:ext cx="2692400" cy="3810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E109A0-BFA6-4728-BFF6-7A2E722FD363}"/>
              </a:ext>
            </a:extLst>
          </p:cNvPr>
          <p:cNvSpPr/>
          <p:nvPr/>
        </p:nvSpPr>
        <p:spPr bwMode="auto">
          <a:xfrm>
            <a:off x="584200" y="1600200"/>
            <a:ext cx="2692400" cy="685800"/>
          </a:xfrm>
          <a:prstGeom prst="round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558800" tIns="146304" rIns="4572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</a:rPr>
              <a:t>Foundations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7BC436-E447-4C45-8C9D-89D4635A3A1E}"/>
              </a:ext>
            </a:extLst>
          </p:cNvPr>
          <p:cNvSpPr/>
          <p:nvPr/>
        </p:nvSpPr>
        <p:spPr bwMode="auto">
          <a:xfrm>
            <a:off x="685800" y="1752600"/>
            <a:ext cx="381000" cy="3810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4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1</a:t>
            </a:r>
            <a:endParaRPr lang="en-PK" sz="14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cluster_body_0">
            <a:extLst>
              <a:ext uri="{FF2B5EF4-FFF2-40B4-BE49-F238E27FC236}">
                <a16:creationId xmlns:a16="http://schemas.microsoft.com/office/drawing/2014/main" id="{D8EDADED-0AEC-48C4-A849-6017B39F56A6}"/>
              </a:ext>
            </a:extLst>
          </p:cNvPr>
          <p:cNvSpPr txBox="1"/>
          <p:nvPr/>
        </p:nvSpPr>
        <p:spPr>
          <a:xfrm>
            <a:off x="762000" y="2438400"/>
            <a:ext cx="2362200" cy="281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Agentic AI architecture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Agents vs LLM pipelines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Planner, Executor &amp; Tool agents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D314B5-86B5-4A5C-AAF7-44CB155A4824}"/>
              </a:ext>
            </a:extLst>
          </p:cNvPr>
          <p:cNvSpPr/>
          <p:nvPr/>
        </p:nvSpPr>
        <p:spPr bwMode="auto">
          <a:xfrm>
            <a:off x="3429000" y="1600200"/>
            <a:ext cx="2692400" cy="3810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632424-A4E2-4853-831D-275D0B28EA0B}"/>
              </a:ext>
            </a:extLst>
          </p:cNvPr>
          <p:cNvSpPr/>
          <p:nvPr/>
        </p:nvSpPr>
        <p:spPr bwMode="auto">
          <a:xfrm>
            <a:off x="3429000" y="1600200"/>
            <a:ext cx="2692400" cy="685800"/>
          </a:xfrm>
          <a:prstGeom prst="round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558800" tIns="146304" rIns="4572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</a:rPr>
              <a:t>Reasoning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F71D9-466E-4FF8-BC63-89CA51ABA442}"/>
              </a:ext>
            </a:extLst>
          </p:cNvPr>
          <p:cNvSpPr/>
          <p:nvPr/>
        </p:nvSpPr>
        <p:spPr bwMode="auto">
          <a:xfrm>
            <a:off x="3530600" y="1752600"/>
            <a:ext cx="381000" cy="3810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4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2</a:t>
            </a:r>
            <a:endParaRPr lang="en-PK" sz="14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cluster_body_1">
            <a:extLst>
              <a:ext uri="{FF2B5EF4-FFF2-40B4-BE49-F238E27FC236}">
                <a16:creationId xmlns:a16="http://schemas.microsoft.com/office/drawing/2014/main" id="{93454A42-29C9-44D3-A9D3-84DE98DD57A6}"/>
              </a:ext>
            </a:extLst>
          </p:cNvPr>
          <p:cNvSpPr txBox="1"/>
          <p:nvPr/>
        </p:nvSpPr>
        <p:spPr>
          <a:xfrm>
            <a:off x="3606800" y="2438400"/>
            <a:ext cx="2362200" cy="281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Chain of Thought (CoT)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Tree of Thoughts (ToT)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924761-78F0-4FC1-9C0D-B95F8450B4EC}"/>
              </a:ext>
            </a:extLst>
          </p:cNvPr>
          <p:cNvSpPr/>
          <p:nvPr/>
        </p:nvSpPr>
        <p:spPr bwMode="auto">
          <a:xfrm>
            <a:off x="6273800" y="1600200"/>
            <a:ext cx="2692400" cy="3810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AE3A8B-5B41-4F31-BE2A-8F264EA8FA95}"/>
              </a:ext>
            </a:extLst>
          </p:cNvPr>
          <p:cNvSpPr/>
          <p:nvPr/>
        </p:nvSpPr>
        <p:spPr bwMode="auto">
          <a:xfrm>
            <a:off x="6273800" y="1600200"/>
            <a:ext cx="2692400" cy="685800"/>
          </a:xfrm>
          <a:prstGeom prst="round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558800" tIns="146304" rIns="4572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</a:rPr>
              <a:t>Tools &amp; models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38A7C5-BFFD-4B0A-B9BB-2A6EA0EE6091}"/>
              </a:ext>
            </a:extLst>
          </p:cNvPr>
          <p:cNvSpPr/>
          <p:nvPr/>
        </p:nvSpPr>
        <p:spPr bwMode="auto">
          <a:xfrm>
            <a:off x="6375400" y="1752600"/>
            <a:ext cx="381000" cy="3810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4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3</a:t>
            </a:r>
            <a:endParaRPr lang="en-PK" sz="14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cluster_body_2">
            <a:extLst>
              <a:ext uri="{FF2B5EF4-FFF2-40B4-BE49-F238E27FC236}">
                <a16:creationId xmlns:a16="http://schemas.microsoft.com/office/drawing/2014/main" id="{8013197C-2995-4B5F-A864-C446F78F94BD}"/>
              </a:ext>
            </a:extLst>
          </p:cNvPr>
          <p:cNvSpPr txBox="1"/>
          <p:nvPr/>
        </p:nvSpPr>
        <p:spPr>
          <a:xfrm>
            <a:off x="6451600" y="2438400"/>
            <a:ext cx="2362200" cy="281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Build custom tools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OpenRouter APIs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Integrate Qwen models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Function calling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A15552-A003-4FC6-BD48-B00CBEFB88D9}"/>
              </a:ext>
            </a:extLst>
          </p:cNvPr>
          <p:cNvSpPr/>
          <p:nvPr/>
        </p:nvSpPr>
        <p:spPr bwMode="auto">
          <a:xfrm>
            <a:off x="9118600" y="1600200"/>
            <a:ext cx="2692400" cy="3810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0078D3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PK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60EEA1-40A5-4772-A751-C8AED49C02A5}"/>
              </a:ext>
            </a:extLst>
          </p:cNvPr>
          <p:cNvSpPr/>
          <p:nvPr/>
        </p:nvSpPr>
        <p:spPr bwMode="auto">
          <a:xfrm>
            <a:off x="9118600" y="1600200"/>
            <a:ext cx="2692400" cy="685800"/>
          </a:xfrm>
          <a:prstGeom prst="roundRect">
            <a:avLst/>
          </a:prstGeom>
          <a:solidFill>
            <a:srgbClr val="0078D3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558800" tIns="146304" rIns="4572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</a:rPr>
              <a:t>Putting it together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87EE9C-7732-459B-AC5F-D043588ADAC8}"/>
              </a:ext>
            </a:extLst>
          </p:cNvPr>
          <p:cNvSpPr/>
          <p:nvPr/>
        </p:nvSpPr>
        <p:spPr bwMode="auto">
          <a:xfrm>
            <a:off x="9220200" y="1752600"/>
            <a:ext cx="381000" cy="381000"/>
          </a:xfrm>
          <a:prstGeom prst="ellipse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1400" b="1">
                <a:solidFill>
                  <a:srgbClr val="50E6FF"/>
                </a:solidFill>
                <a:latin typeface="Open Sans"/>
                <a:ea typeface="Open Sans"/>
                <a:cs typeface="Open Sans"/>
              </a:rPr>
              <a:t>4</a:t>
            </a:r>
            <a:endParaRPr lang="en-PK" sz="1400" b="1" dirty="0" err="1">
              <a:solidFill>
                <a:srgbClr val="50E6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cluster_body_3">
            <a:extLst>
              <a:ext uri="{FF2B5EF4-FFF2-40B4-BE49-F238E27FC236}">
                <a16:creationId xmlns:a16="http://schemas.microsoft.com/office/drawing/2014/main" id="{0A6E68AA-8B10-419A-82F1-C2273C925BC9}"/>
              </a:ext>
            </a:extLst>
          </p:cNvPr>
          <p:cNvSpPr txBox="1"/>
          <p:nvPr/>
        </p:nvSpPr>
        <p:spPr>
          <a:xfrm>
            <a:off x="9296400" y="2438400"/>
            <a:ext cx="2362200" cy="2819400"/>
          </a:xfrm>
          <a:prstGeom prst="rect">
            <a:avLst/>
          </a:prstGeom>
          <a:noFill/>
        </p:spPr>
        <p:txBody>
          <a:bodyPr vertOverflow="overflow" vert="horz" wrap="square" lIns="182880" tIns="146304" rIns="182880" bIns="146304" rtlCol="0" anchor="t" anchorCtr="0">
            <a:noAutofit/>
          </a:bodyPr>
          <a:lstStyle/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Reasoning-enabled agent</a:t>
            </a:r>
          </a:p>
          <a:p>
            <a:pPr marL="200025" indent="-200025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350" dirty="0">
                <a:solidFill>
                  <a:srgbClr val="000041"/>
                </a:solidFill>
                <a:latin typeface="Open Sans" panose="020B0606030504020204" pitchFamily="34" charset="0"/>
              </a:rPr>
              <a:t>Built with LangChain (ReAct)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CFF6F3-44E2-4648-B72D-9D018DFAA38F}"/>
              </a:ext>
            </a:extLst>
          </p:cNvPr>
          <p:cNvSpPr/>
          <p:nvPr/>
        </p:nvSpPr>
        <p:spPr bwMode="auto">
          <a:xfrm>
            <a:off x="584200" y="5588000"/>
            <a:ext cx="11023600" cy="584200"/>
          </a:xfrm>
          <a:prstGeom prst="roundRect">
            <a:avLst/>
          </a:prstGeom>
          <a:solidFill>
            <a:srgbClr val="00004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You can now explain how agents reason, plan, and act — and wire one up end-to-end.</a:t>
            </a:r>
            <a:endParaRPr lang="en-PK" sz="1500" b="1" dirty="0" err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72915411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1F00-8B44-4A12-BF67-A0DA62A4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Q &amp; 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4FBDA-1430-4DD9-96A6-66E240FF481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45782" y="4546721"/>
            <a:ext cx="5211763" cy="1633537"/>
          </a:xfrm>
        </p:spPr>
        <p:txBody>
          <a:bodyPr/>
          <a:lstStyle/>
          <a:p>
            <a:pPr defTabSz="914367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</a:rPr>
              <a:t>Usama Wahab Khan</a:t>
            </a:r>
          </a:p>
          <a:p>
            <a:pPr defTabSz="914367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</a:rPr>
              <a:t>Twitter : @usamawahabkhan</a:t>
            </a:r>
          </a:p>
          <a:p>
            <a:pPr defTabSz="914367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</a:rPr>
              <a:t>LinkedIn : Usamawahabkhan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61487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EBB6-6E0D-4D16-B77C-752C43AF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Thank you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5073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1">
  <a:themeElements>
    <a:clrScheme name="Custom 3">
      <a:dk1>
        <a:srgbClr val="000000"/>
      </a:dk1>
      <a:lt1>
        <a:srgbClr val="FFFFFF"/>
      </a:lt1>
      <a:dk2>
        <a:srgbClr val="0078D3"/>
      </a:dk2>
      <a:lt2>
        <a:srgbClr val="FFFFFF"/>
      </a:lt2>
      <a:accent1>
        <a:srgbClr val="EBEBEB"/>
      </a:accent1>
      <a:accent2>
        <a:srgbClr val="75757A"/>
      </a:accent2>
      <a:accent3>
        <a:srgbClr val="000041"/>
      </a:accent3>
      <a:accent4>
        <a:srgbClr val="0078D3"/>
      </a:accent4>
      <a:accent5>
        <a:srgbClr val="50E6FF"/>
      </a:accent5>
      <a:accent6>
        <a:srgbClr val="EBEBEB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TT_Azure_PowerPoint_Template_Dec19" id="{4D812253-AE16-49B7-9E8B-E155C396F1B1}" vid="{CDFF03D5-E879-4992-95FD-25D14F5B9F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79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0BFF967-03BB-4CB0-83C8-42E83247D52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81f349f-d079-40f6-b3c9-d12557c9f86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4C82FB4-FD46-4CC4-AC1B-46A94DDC80A7}">
  <we:reference id="wa200005566" version="3.0.1.2" store="en-US" storeType="OMEX"/>
  <we:alternateReferences>
    <we:reference id="WA200005566" version="3.0.1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3795</Words>
  <Application>Microsoft Office PowerPoint</Application>
  <PresentationFormat>Widescreen</PresentationFormat>
  <Paragraphs>579</Paragraphs>
  <Slides>59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Arial</vt:lpstr>
      <vt:lpstr>Calibri</vt:lpstr>
      <vt:lpstr>Consolas</vt:lpstr>
      <vt:lpstr>Courier New</vt:lpstr>
      <vt:lpstr>Open Sans</vt:lpstr>
      <vt:lpstr>Quattrocento Sans</vt:lpstr>
      <vt:lpstr>Segoe UI</vt:lpstr>
      <vt:lpstr>Segoe UI Light</vt:lpstr>
      <vt:lpstr>Segoe UI Semibold</vt:lpstr>
      <vt:lpstr>Wingdings</vt:lpstr>
      <vt:lpstr>Azure 1</vt:lpstr>
      <vt:lpstr>GENERATIVE AI IN DEPTH </vt:lpstr>
      <vt:lpstr>Usama Wahab Khan</vt:lpstr>
      <vt:lpstr>https://tinyurl.com/ailocaldxb</vt:lpstr>
      <vt:lpstr>PowerPoint Presentation</vt:lpstr>
      <vt:lpstr>Ollama</vt:lpstr>
      <vt:lpstr>What is an AI Agent?</vt:lpstr>
      <vt:lpstr>PowerPoint Presentation</vt:lpstr>
      <vt:lpstr>LLM for Agent</vt:lpstr>
      <vt:lpstr>PowerPoint Presentation</vt:lpstr>
      <vt:lpstr>example</vt:lpstr>
      <vt:lpstr>. Model Runtime Layer </vt:lpstr>
      <vt:lpstr>PowerPoint Presentation</vt:lpstr>
      <vt:lpstr>PowerPoint Presentation</vt:lpstr>
      <vt:lpstr>PowerPoint Presentation</vt:lpstr>
      <vt:lpstr>4. LM Studio Server Mode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layers </vt:lpstr>
      <vt:lpstr>PowerPoint Presentation</vt:lpstr>
      <vt:lpstr>PowerPoint Presentation</vt:lpstr>
      <vt:lpstr>Agentic AI Architecture</vt:lpstr>
      <vt:lpstr>Agents vs LLM Pipelines</vt:lpstr>
      <vt:lpstr>Agents vs LLM Pipelines</vt:lpstr>
      <vt:lpstr>Planner, Executor &amp; Tool Agents</vt:lpstr>
      <vt:lpstr>Planner, Executor, and Tool Agents</vt:lpstr>
      <vt:lpstr>Chain of Thought (CoT)</vt:lpstr>
      <vt:lpstr>Apply Chain of Thought (CoT)</vt:lpstr>
      <vt:lpstr>Example </vt:lpstr>
      <vt:lpstr>Tree of Thoughts (ToT)</vt:lpstr>
      <vt:lpstr>PowerPoint Presentation</vt:lpstr>
      <vt:lpstr>ToT Example</vt:lpstr>
      <vt:lpstr>Building Custom Tools</vt:lpstr>
      <vt:lpstr>OpenRouter APIs</vt:lpstr>
      <vt:lpstr>Integrating Qwen Models</vt:lpstr>
      <vt:lpstr>Integration Steps</vt:lpstr>
      <vt:lpstr>PowerPoint Presentation</vt:lpstr>
      <vt:lpstr>Function Calling</vt:lpstr>
      <vt:lpstr>PowerPoint Presentation</vt:lpstr>
      <vt:lpstr>PowerPoint Presentation</vt:lpstr>
      <vt:lpstr>PowerPoint Presentation</vt:lpstr>
      <vt:lpstr>PowerPoint Presentation</vt:lpstr>
      <vt:lpstr>Building a Reasoning Agent with LangChain</vt:lpstr>
      <vt:lpstr>Architecture </vt:lpstr>
      <vt:lpstr>⚙️ Top 5 Local Agent Frameworks  </vt:lpstr>
      <vt:lpstr>Top Observability Tools</vt:lpstr>
      <vt:lpstr>Top Memory Managers </vt:lpstr>
      <vt:lpstr>PowerPoint Presentation</vt:lpstr>
      <vt:lpstr>Langgraph</vt:lpstr>
      <vt:lpstr>PowerPoint Presentation</vt:lpstr>
      <vt:lpstr>n8n Fundamentals</vt:lpstr>
      <vt:lpstr>n8n Fundamentals</vt:lpstr>
      <vt:lpstr>n8n Fundamentals</vt:lpstr>
      <vt:lpstr>n8n Fundamentals</vt:lpstr>
      <vt:lpstr>Day 1 Recap: From Concept to Working Agent</vt:lpstr>
      <vt:lpstr>Q &amp; A</vt:lpstr>
      <vt:lpstr>Thank you 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Usama Wahab Khan</dc:title>
  <dc:creator>usama khan</dc:creator>
  <cp:lastModifiedBy>Usama Wahab Khan</cp:lastModifiedBy>
  <cp:revision>148</cp:revision>
  <dcterms:created xsi:type="dcterms:W3CDTF">2021-02-24T12:26:01Z</dcterms:created>
  <dcterms:modified xsi:type="dcterms:W3CDTF">2026-06-10T18:22:49Z</dcterms:modified>
</cp:coreProperties>
</file>