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1" r:id="rId2"/>
    <p:sldId id="2562" r:id="rId3"/>
    <p:sldId id="2563" r:id="rId4"/>
    <p:sldId id="2147479570" r:id="rId5"/>
    <p:sldId id="2147479562" r:id="rId6"/>
    <p:sldId id="2564" r:id="rId7"/>
    <p:sldId id="2565" r:id="rId8"/>
    <p:sldId id="2566" r:id="rId9"/>
    <p:sldId id="2147479557" r:id="rId10"/>
    <p:sldId id="2147479559" r:id="rId11"/>
    <p:sldId id="2567" r:id="rId12"/>
    <p:sldId id="2568" r:id="rId13"/>
    <p:sldId id="2569" r:id="rId14"/>
    <p:sldId id="2147479563" r:id="rId15"/>
    <p:sldId id="2570" r:id="rId16"/>
    <p:sldId id="2571" r:id="rId17"/>
    <p:sldId id="2572" r:id="rId18"/>
    <p:sldId id="2573" r:id="rId19"/>
    <p:sldId id="2574" r:id="rId20"/>
    <p:sldId id="2575" r:id="rId21"/>
    <p:sldId id="2576" r:id="rId22"/>
    <p:sldId id="2577" r:id="rId23"/>
    <p:sldId id="2578" r:id="rId24"/>
    <p:sldId id="2579" r:id="rId25"/>
    <p:sldId id="2582" r:id="rId26"/>
    <p:sldId id="2583" r:id="rId27"/>
    <p:sldId id="2584" r:id="rId28"/>
    <p:sldId id="2585" r:id="rId29"/>
    <p:sldId id="2586" r:id="rId30"/>
    <p:sldId id="2147479564" r:id="rId31"/>
    <p:sldId id="2147479565" r:id="rId32"/>
    <p:sldId id="2147479566" r:id="rId33"/>
    <p:sldId id="2147479567" r:id="rId34"/>
    <p:sldId id="2147479568" r:id="rId35"/>
    <p:sldId id="2147479569" r:id="rId36"/>
    <p:sldId id="2587" r:id="rId37"/>
    <p:sldId id="2588" r:id="rId38"/>
    <p:sldId id="2589" r:id="rId39"/>
    <p:sldId id="2590" r:id="rId40"/>
    <p:sldId id="2591"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trieval-Augmented Generation (RAG) and Local AI Architecture" id="{B62BBFF7-D356-4A36-AD6D-F05860AB925B}">
          <p14:sldIdLst>
            <p14:sldId id="2561"/>
          </p14:sldIdLst>
        </p14:section>
        <p14:section name="Foundations of RAG" id="{E9F5A0E8-386D-435F-9F4D-3BAF2544D053}">
          <p14:sldIdLst>
            <p14:sldId id="2562"/>
            <p14:sldId id="2563"/>
            <p14:sldId id="2147479570"/>
            <p14:sldId id="2147479562"/>
            <p14:sldId id="2564"/>
            <p14:sldId id="2565"/>
            <p14:sldId id="2566"/>
            <p14:sldId id="2147479557"/>
            <p14:sldId id="2147479559"/>
          </p14:sldIdLst>
        </p14:section>
        <p14:section name="Types of RAG Architectures" id="{FE216DCB-9FE8-450D-BCE8-6A64FF57E430}">
          <p14:sldIdLst>
            <p14:sldId id="2567"/>
            <p14:sldId id="2568"/>
            <p14:sldId id="2569"/>
            <p14:sldId id="2147479563"/>
            <p14:sldId id="2570"/>
          </p14:sldIdLst>
        </p14:section>
        <p14:section name="Alternatives to RAG" id="{FB4C0C0A-9FE9-4D29-AE2B-DCEEA917161F}">
          <p14:sldIdLst>
            <p14:sldId id="2571"/>
            <p14:sldId id="2572"/>
            <p14:sldId id="2573"/>
            <p14:sldId id="2574"/>
            <p14:sldId id="2575"/>
          </p14:sldIdLst>
        </p14:section>
        <p14:section name="Local RAG Tools and Stack" id="{35472F6C-5171-4670-8B00-B4EB13677A17}">
          <p14:sldIdLst>
            <p14:sldId id="2576"/>
            <p14:sldId id="2577"/>
            <p14:sldId id="2578"/>
            <p14:sldId id="2579"/>
            <p14:sldId id="2582"/>
            <p14:sldId id="2583"/>
            <p14:sldId id="2584"/>
            <p14:sldId id="2585"/>
            <p14:sldId id="2586"/>
            <p14:sldId id="2147479564"/>
            <p14:sldId id="2147479565"/>
            <p14:sldId id="2147479566"/>
            <p14:sldId id="2147479567"/>
            <p14:sldId id="2147479568"/>
            <p14:sldId id="2147479569"/>
            <p14:sldId id="2587"/>
            <p14:sldId id="2588"/>
            <p14:sldId id="2589"/>
            <p14:sldId id="2590"/>
            <p14:sldId id="25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6" d="100"/>
          <a:sy n="76" d="100"/>
        </p:scale>
        <p:origin x="116"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18F49D-C48D-4568-8A07-864E27352DCA}" type="doc">
      <dgm:prSet loTypeId="urn:microsoft.com/office/officeart/2009/3/layout/HorizontalOrganizationChart" loCatId="hierarchy" qsTypeId="urn:microsoft.com/office/officeart/2005/8/quickstyle/simple4" qsCatId="simple" csTypeId="urn:microsoft.com/office/officeart/2005/8/colors/accent2_2" csCatId="accent2" phldr="1"/>
      <dgm:spPr/>
      <dgm:t>
        <a:bodyPr/>
        <a:lstStyle/>
        <a:p>
          <a:endParaRPr lang="en-US"/>
        </a:p>
      </dgm:t>
    </dgm:pt>
    <dgm:pt modelId="{84047AF0-AEBE-4E6C-861F-8036A9E3DAA0}">
      <dgm:prSet phldrT="[Text]"/>
      <dgm:spPr/>
      <dgm:t>
        <a:bodyPr/>
        <a:lstStyle/>
        <a:p>
          <a:r>
            <a:rPr lang="en-US" b="1" dirty="0"/>
            <a:t>Question </a:t>
          </a:r>
          <a:r>
            <a:rPr lang="en-US" dirty="0"/>
            <a:t>:</a:t>
          </a:r>
          <a:br>
            <a:rPr lang="en-US" dirty="0"/>
          </a:br>
          <a:r>
            <a:rPr lang="en-US" dirty="0"/>
            <a:t> </a:t>
          </a:r>
          <a:r>
            <a:rPr lang="en-US" b="0" dirty="0"/>
            <a:t>What did Paul Graham do after RICS?</a:t>
          </a:r>
          <a:endParaRPr lang="en-US" dirty="0"/>
        </a:p>
      </dgm:t>
    </dgm:pt>
    <dgm:pt modelId="{1DC8CA46-773A-43B3-A55E-3E35DE1679F5}" type="parTrans" cxnId="{CE18213D-DECF-48AE-B982-5CE6040F98C2}">
      <dgm:prSet/>
      <dgm:spPr/>
      <dgm:t>
        <a:bodyPr/>
        <a:lstStyle/>
        <a:p>
          <a:endParaRPr lang="en-US"/>
        </a:p>
      </dgm:t>
    </dgm:pt>
    <dgm:pt modelId="{A45C1E7D-80A8-4C3B-98B8-44030C2BA6BE}" type="sibTrans" cxnId="{CE18213D-DECF-48AE-B982-5CE6040F98C2}">
      <dgm:prSet/>
      <dgm:spPr/>
      <dgm:t>
        <a:bodyPr/>
        <a:lstStyle/>
        <a:p>
          <a:endParaRPr lang="en-US"/>
        </a:p>
      </dgm:t>
    </dgm:pt>
    <dgm:pt modelId="{1CE9F5A0-0FD9-44EF-9DAD-F3905D267FB4}">
      <dgm:prSet phldrT="[Text]"/>
      <dgm:spPr/>
      <dgm:t>
        <a:bodyPr/>
        <a:lstStyle/>
        <a:p>
          <a:r>
            <a:rPr lang="en-US" dirty="0"/>
            <a:t>Router</a:t>
          </a:r>
        </a:p>
      </dgm:t>
    </dgm:pt>
    <dgm:pt modelId="{60B95E13-6157-44BD-B5FA-54BEDB113663}" type="parTrans" cxnId="{E08B5239-86A6-46E1-B334-2773BAFD584C}">
      <dgm:prSet/>
      <dgm:spPr/>
      <dgm:t>
        <a:bodyPr/>
        <a:lstStyle/>
        <a:p>
          <a:endParaRPr lang="en-US"/>
        </a:p>
      </dgm:t>
    </dgm:pt>
    <dgm:pt modelId="{58B09608-B8F8-4C60-97CC-74407D306E42}" type="sibTrans" cxnId="{E08B5239-86A6-46E1-B334-2773BAFD584C}">
      <dgm:prSet/>
      <dgm:spPr/>
      <dgm:t>
        <a:bodyPr/>
        <a:lstStyle/>
        <a:p>
          <a:endParaRPr lang="en-US"/>
        </a:p>
      </dgm:t>
    </dgm:pt>
    <dgm:pt modelId="{82D5E3BD-1786-44AE-A817-E0770204FEE1}">
      <dgm:prSet phldrT="[Text]"/>
      <dgm:spPr/>
      <dgm:t>
        <a:bodyPr/>
        <a:lstStyle/>
        <a:p>
          <a:r>
            <a:rPr lang="en-US" dirty="0"/>
            <a:t>Retrieve (multiple)</a:t>
          </a:r>
        </a:p>
      </dgm:t>
    </dgm:pt>
    <dgm:pt modelId="{4328A72B-70FB-41EC-95ED-8A7751BEC5B6}" type="parTrans" cxnId="{4F95937C-3AC5-47E1-8976-9860EB0AD94A}">
      <dgm:prSet/>
      <dgm:spPr/>
      <dgm:t>
        <a:bodyPr/>
        <a:lstStyle/>
        <a:p>
          <a:endParaRPr lang="en-US"/>
        </a:p>
      </dgm:t>
    </dgm:pt>
    <dgm:pt modelId="{3C59C1D8-BEAF-4FC2-9ED2-22F1B46A0AFC}" type="sibTrans" cxnId="{4F95937C-3AC5-47E1-8976-9860EB0AD94A}">
      <dgm:prSet/>
      <dgm:spPr/>
      <dgm:t>
        <a:bodyPr/>
        <a:lstStyle/>
        <a:p>
          <a:endParaRPr lang="en-US"/>
        </a:p>
      </dgm:t>
    </dgm:pt>
    <dgm:pt modelId="{D8296CCD-100E-4541-A601-04B03449C754}">
      <dgm:prSet phldrT="[Text]"/>
      <dgm:spPr/>
      <dgm:t>
        <a:bodyPr/>
        <a:lstStyle/>
        <a:p>
          <a:r>
            <a:rPr lang="en-US" dirty="0"/>
            <a:t>Summarize</a:t>
          </a:r>
        </a:p>
      </dgm:t>
    </dgm:pt>
    <dgm:pt modelId="{00CE3874-5D6B-402F-BA19-26B4A928BB4A}" type="parTrans" cxnId="{DA004805-B2E2-4FB6-A270-1EAB9333FF21}">
      <dgm:prSet/>
      <dgm:spPr/>
      <dgm:t>
        <a:bodyPr/>
        <a:lstStyle/>
        <a:p>
          <a:endParaRPr lang="en-US"/>
        </a:p>
      </dgm:t>
    </dgm:pt>
    <dgm:pt modelId="{B8251A03-8928-496E-9B27-0F67C7A9DFFF}" type="sibTrans" cxnId="{DA004805-B2E2-4FB6-A270-1EAB9333FF21}">
      <dgm:prSet/>
      <dgm:spPr/>
      <dgm:t>
        <a:bodyPr/>
        <a:lstStyle/>
        <a:p>
          <a:endParaRPr lang="en-US"/>
        </a:p>
      </dgm:t>
    </dgm:pt>
    <dgm:pt modelId="{F53F9E05-801A-49BA-B564-0F5F929D3571}">
      <dgm:prSet phldrT="[Text]"/>
      <dgm:spPr/>
      <dgm:t>
        <a:bodyPr/>
        <a:lstStyle/>
        <a:p>
          <a:r>
            <a:rPr lang="en-US" dirty="0"/>
            <a:t>Answer</a:t>
          </a:r>
        </a:p>
      </dgm:t>
    </dgm:pt>
    <dgm:pt modelId="{74D7AC25-C790-450E-A710-43638463AD0F}" type="parTrans" cxnId="{E4093211-8C14-4122-871D-E24997ACF52A}">
      <dgm:prSet/>
      <dgm:spPr/>
      <dgm:t>
        <a:bodyPr/>
        <a:lstStyle/>
        <a:p>
          <a:endParaRPr lang="en-US"/>
        </a:p>
      </dgm:t>
    </dgm:pt>
    <dgm:pt modelId="{AB7FCB17-65F5-4F76-9C73-995D78385319}" type="sibTrans" cxnId="{E4093211-8C14-4122-871D-E24997ACF52A}">
      <dgm:prSet/>
      <dgm:spPr/>
      <dgm:t>
        <a:bodyPr/>
        <a:lstStyle/>
        <a:p>
          <a:endParaRPr lang="en-US"/>
        </a:p>
      </dgm:t>
    </dgm:pt>
    <dgm:pt modelId="{3B6E6AD4-7B87-41AE-AD8C-CC7E1CD786C4}" type="asst">
      <dgm:prSet phldrT="[Text]"/>
      <dgm:spPr/>
      <dgm:t>
        <a:bodyPr/>
        <a:lstStyle/>
        <a:p>
          <a:r>
            <a:rPr lang="en-US" dirty="0"/>
            <a:t>Data store (index)</a:t>
          </a:r>
        </a:p>
      </dgm:t>
    </dgm:pt>
    <dgm:pt modelId="{47F694B0-CF4F-4001-962E-CA63C9507F61}" type="sibTrans" cxnId="{49533AEB-0FEE-4198-B1B7-ED340AF74097}">
      <dgm:prSet/>
      <dgm:spPr/>
      <dgm:t>
        <a:bodyPr/>
        <a:lstStyle/>
        <a:p>
          <a:endParaRPr lang="en-US"/>
        </a:p>
      </dgm:t>
    </dgm:pt>
    <dgm:pt modelId="{7DFFCEAF-FAFD-4E67-935B-511D747EF592}" type="parTrans" cxnId="{49533AEB-0FEE-4198-B1B7-ED340AF74097}">
      <dgm:prSet/>
      <dgm:spPr/>
      <dgm:t>
        <a:bodyPr/>
        <a:lstStyle/>
        <a:p>
          <a:endParaRPr lang="en-US"/>
        </a:p>
      </dgm:t>
    </dgm:pt>
    <dgm:pt modelId="{761C03EA-8149-4E66-9756-0645BB340C7B}">
      <dgm:prSet phldrT="[Text]"/>
      <dgm:spPr/>
      <dgm:t>
        <a:bodyPr/>
        <a:lstStyle/>
        <a:p>
          <a:r>
            <a:rPr lang="en-US" dirty="0"/>
            <a:t>Vector index</a:t>
          </a:r>
        </a:p>
      </dgm:t>
    </dgm:pt>
    <dgm:pt modelId="{E3C8B814-37EA-4F82-A684-46526AF78DC8}" type="parTrans" cxnId="{37720BE0-ACD5-4087-B5C3-B04359C8A808}">
      <dgm:prSet/>
      <dgm:spPr/>
      <dgm:t>
        <a:bodyPr/>
        <a:lstStyle/>
        <a:p>
          <a:endParaRPr lang="en-US"/>
        </a:p>
      </dgm:t>
    </dgm:pt>
    <dgm:pt modelId="{B750F229-0967-4A5E-AE7B-2D22222E1C18}" type="sibTrans" cxnId="{37720BE0-ACD5-4087-B5C3-B04359C8A808}">
      <dgm:prSet/>
      <dgm:spPr/>
      <dgm:t>
        <a:bodyPr/>
        <a:lstStyle/>
        <a:p>
          <a:endParaRPr lang="en-US"/>
        </a:p>
      </dgm:t>
    </dgm:pt>
    <dgm:pt modelId="{0FB06F0E-FBFA-445E-A0A1-4CBC57FE529A}">
      <dgm:prSet phldrT="[Text]"/>
      <dgm:spPr/>
      <dgm:t>
        <a:bodyPr/>
        <a:lstStyle/>
        <a:p>
          <a:r>
            <a:rPr lang="en-US" dirty="0"/>
            <a:t>Retrieve</a:t>
          </a:r>
        </a:p>
      </dgm:t>
    </dgm:pt>
    <dgm:pt modelId="{7578A8D2-F38B-4AD2-BB6A-5803F99BB499}" type="parTrans" cxnId="{3BC98291-DCFD-4328-A331-11CB87CC3851}">
      <dgm:prSet/>
      <dgm:spPr/>
      <dgm:t>
        <a:bodyPr/>
        <a:lstStyle/>
        <a:p>
          <a:endParaRPr lang="en-US"/>
        </a:p>
      </dgm:t>
    </dgm:pt>
    <dgm:pt modelId="{834CEFDC-0BB7-4B37-8196-A17F620E55E3}" type="sibTrans" cxnId="{3BC98291-DCFD-4328-A331-11CB87CC3851}">
      <dgm:prSet/>
      <dgm:spPr/>
      <dgm:t>
        <a:bodyPr/>
        <a:lstStyle/>
        <a:p>
          <a:endParaRPr lang="en-US"/>
        </a:p>
      </dgm:t>
    </dgm:pt>
    <dgm:pt modelId="{A997ABC0-E222-4561-B36E-F105B1A24B21}">
      <dgm:prSet phldrT="[Text]"/>
      <dgm:spPr/>
      <dgm:t>
        <a:bodyPr/>
        <a:lstStyle/>
        <a:p>
          <a:r>
            <a:rPr lang="en-US" dirty="0"/>
            <a:t>Answer</a:t>
          </a:r>
          <a:endParaRPr lang="en-US"/>
        </a:p>
      </dgm:t>
    </dgm:pt>
    <dgm:pt modelId="{A90BED89-0F3D-418D-8AB0-BB8D579D97D9}" type="parTrans" cxnId="{33DD5255-128B-4F93-8861-75F8B80B9DB5}">
      <dgm:prSet/>
      <dgm:spPr/>
      <dgm:t>
        <a:bodyPr/>
        <a:lstStyle/>
        <a:p>
          <a:endParaRPr lang="en-US"/>
        </a:p>
      </dgm:t>
    </dgm:pt>
    <dgm:pt modelId="{B8A354D5-34B2-4E38-B3C3-27DB9DB3B2A1}" type="sibTrans" cxnId="{33DD5255-128B-4F93-8861-75F8B80B9DB5}">
      <dgm:prSet/>
      <dgm:spPr/>
      <dgm:t>
        <a:bodyPr/>
        <a:lstStyle/>
        <a:p>
          <a:endParaRPr lang="en-US"/>
        </a:p>
      </dgm:t>
    </dgm:pt>
    <dgm:pt modelId="{3A76979C-5DE3-4206-B450-9B837A0A03A7}">
      <dgm:prSet phldrT="[Text]"/>
      <dgm:spPr/>
      <dgm:t>
        <a:bodyPr/>
        <a:lstStyle/>
        <a:p>
          <a:r>
            <a:rPr lang="en-US"/>
            <a:t>Summary </a:t>
          </a:r>
          <a:r>
            <a:rPr lang="en-US" dirty="0"/>
            <a:t>tree</a:t>
          </a:r>
        </a:p>
      </dgm:t>
    </dgm:pt>
    <dgm:pt modelId="{EBB194CE-C7CD-425C-9814-18EB939D654B}" type="parTrans" cxnId="{895650E5-F7F4-4994-BEF8-DD91C230118E}">
      <dgm:prSet/>
      <dgm:spPr/>
      <dgm:t>
        <a:bodyPr/>
        <a:lstStyle/>
        <a:p>
          <a:endParaRPr lang="en-US"/>
        </a:p>
      </dgm:t>
    </dgm:pt>
    <dgm:pt modelId="{D433C510-B0E9-441E-9836-90EEF86B82F3}" type="sibTrans" cxnId="{895650E5-F7F4-4994-BEF8-DD91C230118E}">
      <dgm:prSet/>
      <dgm:spPr/>
      <dgm:t>
        <a:bodyPr/>
        <a:lstStyle/>
        <a:p>
          <a:endParaRPr lang="en-US"/>
        </a:p>
      </dgm:t>
    </dgm:pt>
    <dgm:pt modelId="{53A6ECBD-83A3-4755-8550-AAB4898D0EBD}" type="pres">
      <dgm:prSet presAssocID="{6D18F49D-C48D-4568-8A07-864E27352DCA}" presName="hierChild1" presStyleCnt="0">
        <dgm:presLayoutVars>
          <dgm:orgChart val="1"/>
          <dgm:chPref val="1"/>
          <dgm:dir/>
          <dgm:animOne val="branch"/>
          <dgm:animLvl val="lvl"/>
          <dgm:resizeHandles/>
        </dgm:presLayoutVars>
      </dgm:prSet>
      <dgm:spPr/>
    </dgm:pt>
    <dgm:pt modelId="{573390ED-7368-4F38-967F-7EA9C684A348}" type="pres">
      <dgm:prSet presAssocID="{84047AF0-AEBE-4E6C-861F-8036A9E3DAA0}" presName="hierRoot1" presStyleCnt="0">
        <dgm:presLayoutVars>
          <dgm:hierBranch val="init"/>
        </dgm:presLayoutVars>
      </dgm:prSet>
      <dgm:spPr/>
    </dgm:pt>
    <dgm:pt modelId="{AB00CA16-5ADD-417E-B145-434DBFC2D17F}" type="pres">
      <dgm:prSet presAssocID="{84047AF0-AEBE-4E6C-861F-8036A9E3DAA0}" presName="rootComposite1" presStyleCnt="0"/>
      <dgm:spPr/>
    </dgm:pt>
    <dgm:pt modelId="{FB7BED7C-5FA5-4781-9B1F-C416F492FE5C}" type="pres">
      <dgm:prSet presAssocID="{84047AF0-AEBE-4E6C-861F-8036A9E3DAA0}" presName="rootText1" presStyleLbl="node0" presStyleIdx="0" presStyleCnt="1">
        <dgm:presLayoutVars>
          <dgm:chPref val="3"/>
        </dgm:presLayoutVars>
      </dgm:prSet>
      <dgm:spPr/>
    </dgm:pt>
    <dgm:pt modelId="{C3C96E18-ED99-489C-94D3-13781442C703}" type="pres">
      <dgm:prSet presAssocID="{84047AF0-AEBE-4E6C-861F-8036A9E3DAA0}" presName="rootConnector1" presStyleLbl="node1" presStyleIdx="0" presStyleCnt="0"/>
      <dgm:spPr/>
    </dgm:pt>
    <dgm:pt modelId="{42FC98CC-8958-4C24-B36F-E942E8724F81}" type="pres">
      <dgm:prSet presAssocID="{84047AF0-AEBE-4E6C-861F-8036A9E3DAA0}" presName="hierChild2" presStyleCnt="0"/>
      <dgm:spPr/>
    </dgm:pt>
    <dgm:pt modelId="{8F3EFA8D-23D4-4B33-A96F-155D61F10420}" type="pres">
      <dgm:prSet presAssocID="{60B95E13-6157-44BD-B5FA-54BEDB113663}" presName="Name64" presStyleLbl="parChTrans1D2" presStyleIdx="0" presStyleCnt="2"/>
      <dgm:spPr/>
    </dgm:pt>
    <dgm:pt modelId="{9DDC7766-85AF-4475-83E9-96850B18B345}" type="pres">
      <dgm:prSet presAssocID="{1CE9F5A0-0FD9-44EF-9DAD-F3905D267FB4}" presName="hierRoot2" presStyleCnt="0">
        <dgm:presLayoutVars>
          <dgm:hierBranch val="init"/>
        </dgm:presLayoutVars>
      </dgm:prSet>
      <dgm:spPr/>
    </dgm:pt>
    <dgm:pt modelId="{D4C00A12-B525-43E5-B063-62987D329C45}" type="pres">
      <dgm:prSet presAssocID="{1CE9F5A0-0FD9-44EF-9DAD-F3905D267FB4}" presName="rootComposite" presStyleCnt="0"/>
      <dgm:spPr/>
    </dgm:pt>
    <dgm:pt modelId="{AC9CAA2E-2916-494C-805E-E99CABEEC773}" type="pres">
      <dgm:prSet presAssocID="{1CE9F5A0-0FD9-44EF-9DAD-F3905D267FB4}" presName="rootText" presStyleLbl="node2" presStyleIdx="0" presStyleCnt="1">
        <dgm:presLayoutVars>
          <dgm:chPref val="3"/>
        </dgm:presLayoutVars>
      </dgm:prSet>
      <dgm:spPr/>
    </dgm:pt>
    <dgm:pt modelId="{30CEE3EA-174C-46E2-9F77-CAA12BED1639}" type="pres">
      <dgm:prSet presAssocID="{1CE9F5A0-0FD9-44EF-9DAD-F3905D267FB4}" presName="rootConnector" presStyleLbl="node2" presStyleIdx="0" presStyleCnt="1"/>
      <dgm:spPr/>
    </dgm:pt>
    <dgm:pt modelId="{6DA2CDDE-0E92-44F5-8237-0D689DB97FEF}" type="pres">
      <dgm:prSet presAssocID="{1CE9F5A0-0FD9-44EF-9DAD-F3905D267FB4}" presName="hierChild4" presStyleCnt="0"/>
      <dgm:spPr/>
    </dgm:pt>
    <dgm:pt modelId="{7EBC0F99-40D3-4F2A-B50C-EC1FCFA37909}" type="pres">
      <dgm:prSet presAssocID="{E3C8B814-37EA-4F82-A684-46526AF78DC8}" presName="Name64" presStyleLbl="parChTrans1D3" presStyleIdx="0" presStyleCnt="2"/>
      <dgm:spPr/>
    </dgm:pt>
    <dgm:pt modelId="{F4964200-AD23-4CC8-8261-1932EEF8C70A}" type="pres">
      <dgm:prSet presAssocID="{761C03EA-8149-4E66-9756-0645BB340C7B}" presName="hierRoot2" presStyleCnt="0">
        <dgm:presLayoutVars>
          <dgm:hierBranch val="init"/>
        </dgm:presLayoutVars>
      </dgm:prSet>
      <dgm:spPr/>
    </dgm:pt>
    <dgm:pt modelId="{0EF314C3-7B27-470A-BDF0-11AB5592F182}" type="pres">
      <dgm:prSet presAssocID="{761C03EA-8149-4E66-9756-0645BB340C7B}" presName="rootComposite" presStyleCnt="0"/>
      <dgm:spPr/>
    </dgm:pt>
    <dgm:pt modelId="{58E92068-03E1-4619-BFB0-E1899AD1CC9E}" type="pres">
      <dgm:prSet presAssocID="{761C03EA-8149-4E66-9756-0645BB340C7B}" presName="rootText" presStyleLbl="node3" presStyleIdx="0" presStyleCnt="2">
        <dgm:presLayoutVars>
          <dgm:chPref val="3"/>
        </dgm:presLayoutVars>
      </dgm:prSet>
      <dgm:spPr/>
    </dgm:pt>
    <dgm:pt modelId="{B521DCCB-474C-41DF-A129-899F63A854CF}" type="pres">
      <dgm:prSet presAssocID="{761C03EA-8149-4E66-9756-0645BB340C7B}" presName="rootConnector" presStyleLbl="node3" presStyleIdx="0" presStyleCnt="2"/>
      <dgm:spPr/>
    </dgm:pt>
    <dgm:pt modelId="{F529AAF3-9529-4905-B349-7CF858846FFF}" type="pres">
      <dgm:prSet presAssocID="{761C03EA-8149-4E66-9756-0645BB340C7B}" presName="hierChild4" presStyleCnt="0"/>
      <dgm:spPr/>
    </dgm:pt>
    <dgm:pt modelId="{CF13A996-356B-4C34-A79F-EE966D797991}" type="pres">
      <dgm:prSet presAssocID="{7578A8D2-F38B-4AD2-BB6A-5803F99BB499}" presName="Name64" presStyleLbl="parChTrans1D4" presStyleIdx="0" presStyleCnt="5"/>
      <dgm:spPr/>
    </dgm:pt>
    <dgm:pt modelId="{721E5C8D-81C8-4951-A959-03401F044350}" type="pres">
      <dgm:prSet presAssocID="{0FB06F0E-FBFA-445E-A0A1-4CBC57FE529A}" presName="hierRoot2" presStyleCnt="0">
        <dgm:presLayoutVars>
          <dgm:hierBranch val="init"/>
        </dgm:presLayoutVars>
      </dgm:prSet>
      <dgm:spPr/>
    </dgm:pt>
    <dgm:pt modelId="{63128F99-A988-4272-8587-8CC25600AD04}" type="pres">
      <dgm:prSet presAssocID="{0FB06F0E-FBFA-445E-A0A1-4CBC57FE529A}" presName="rootComposite" presStyleCnt="0"/>
      <dgm:spPr/>
    </dgm:pt>
    <dgm:pt modelId="{C17A25A3-CA0D-4B31-A330-5E10CBE3A7F0}" type="pres">
      <dgm:prSet presAssocID="{0FB06F0E-FBFA-445E-A0A1-4CBC57FE529A}" presName="rootText" presStyleLbl="node4" presStyleIdx="0" presStyleCnt="5">
        <dgm:presLayoutVars>
          <dgm:chPref val="3"/>
        </dgm:presLayoutVars>
      </dgm:prSet>
      <dgm:spPr/>
    </dgm:pt>
    <dgm:pt modelId="{25B69C4F-8896-45C0-91AA-A46E31C84316}" type="pres">
      <dgm:prSet presAssocID="{0FB06F0E-FBFA-445E-A0A1-4CBC57FE529A}" presName="rootConnector" presStyleLbl="node4" presStyleIdx="0" presStyleCnt="5"/>
      <dgm:spPr/>
    </dgm:pt>
    <dgm:pt modelId="{BB119939-1B0B-4D92-88D6-25261C02255E}" type="pres">
      <dgm:prSet presAssocID="{0FB06F0E-FBFA-445E-A0A1-4CBC57FE529A}" presName="hierChild4" presStyleCnt="0"/>
      <dgm:spPr/>
    </dgm:pt>
    <dgm:pt modelId="{1B9FD227-11A4-47DF-9498-5EF53B24F81D}" type="pres">
      <dgm:prSet presAssocID="{0FB06F0E-FBFA-445E-A0A1-4CBC57FE529A}" presName="hierChild5" presStyleCnt="0"/>
      <dgm:spPr/>
    </dgm:pt>
    <dgm:pt modelId="{D2AE7613-3C80-46C6-AEB5-914810406613}" type="pres">
      <dgm:prSet presAssocID="{A90BED89-0F3D-418D-8AB0-BB8D579D97D9}" presName="Name64" presStyleLbl="parChTrans1D4" presStyleIdx="1" presStyleCnt="5"/>
      <dgm:spPr/>
    </dgm:pt>
    <dgm:pt modelId="{CF4F71AA-CF20-43A3-90B1-18FD49751CD6}" type="pres">
      <dgm:prSet presAssocID="{A997ABC0-E222-4561-B36E-F105B1A24B21}" presName="hierRoot2" presStyleCnt="0">
        <dgm:presLayoutVars>
          <dgm:hierBranch val="init"/>
        </dgm:presLayoutVars>
      </dgm:prSet>
      <dgm:spPr/>
    </dgm:pt>
    <dgm:pt modelId="{BCBD8353-9FAE-4618-B6CF-280412BB6558}" type="pres">
      <dgm:prSet presAssocID="{A997ABC0-E222-4561-B36E-F105B1A24B21}" presName="rootComposite" presStyleCnt="0"/>
      <dgm:spPr/>
    </dgm:pt>
    <dgm:pt modelId="{D5E3504B-5173-4FFC-8C2C-6BE086B520F0}" type="pres">
      <dgm:prSet presAssocID="{A997ABC0-E222-4561-B36E-F105B1A24B21}" presName="rootText" presStyleLbl="node4" presStyleIdx="1" presStyleCnt="5">
        <dgm:presLayoutVars>
          <dgm:chPref val="3"/>
        </dgm:presLayoutVars>
      </dgm:prSet>
      <dgm:spPr/>
    </dgm:pt>
    <dgm:pt modelId="{0D3E30E5-2741-443F-8C17-FC343202FD7C}" type="pres">
      <dgm:prSet presAssocID="{A997ABC0-E222-4561-B36E-F105B1A24B21}" presName="rootConnector" presStyleLbl="node4" presStyleIdx="1" presStyleCnt="5"/>
      <dgm:spPr/>
    </dgm:pt>
    <dgm:pt modelId="{8AE17A48-2BC0-4B31-9895-6B4FCEF130A6}" type="pres">
      <dgm:prSet presAssocID="{A997ABC0-E222-4561-B36E-F105B1A24B21}" presName="hierChild4" presStyleCnt="0"/>
      <dgm:spPr/>
    </dgm:pt>
    <dgm:pt modelId="{2F177E23-9046-47B7-98C7-E8D438C68630}" type="pres">
      <dgm:prSet presAssocID="{A997ABC0-E222-4561-B36E-F105B1A24B21}" presName="hierChild5" presStyleCnt="0"/>
      <dgm:spPr/>
    </dgm:pt>
    <dgm:pt modelId="{4232A20B-ECA0-4BCE-9321-061588FC6C56}" type="pres">
      <dgm:prSet presAssocID="{761C03EA-8149-4E66-9756-0645BB340C7B}" presName="hierChild5" presStyleCnt="0"/>
      <dgm:spPr/>
    </dgm:pt>
    <dgm:pt modelId="{F6E3D06E-214A-4E59-9B5A-22B0B774835F}" type="pres">
      <dgm:prSet presAssocID="{EBB194CE-C7CD-425C-9814-18EB939D654B}" presName="Name64" presStyleLbl="parChTrans1D3" presStyleIdx="1" presStyleCnt="2"/>
      <dgm:spPr/>
    </dgm:pt>
    <dgm:pt modelId="{15F2DF12-6F79-4F47-8582-9B263B6799B1}" type="pres">
      <dgm:prSet presAssocID="{3A76979C-5DE3-4206-B450-9B837A0A03A7}" presName="hierRoot2" presStyleCnt="0">
        <dgm:presLayoutVars>
          <dgm:hierBranch val="init"/>
        </dgm:presLayoutVars>
      </dgm:prSet>
      <dgm:spPr/>
    </dgm:pt>
    <dgm:pt modelId="{55E4C3FB-EAEA-4718-8497-6D0738029660}" type="pres">
      <dgm:prSet presAssocID="{3A76979C-5DE3-4206-B450-9B837A0A03A7}" presName="rootComposite" presStyleCnt="0"/>
      <dgm:spPr/>
    </dgm:pt>
    <dgm:pt modelId="{ACBFACFA-79CE-4240-8FE3-4068A490A061}" type="pres">
      <dgm:prSet presAssocID="{3A76979C-5DE3-4206-B450-9B837A0A03A7}" presName="rootText" presStyleLbl="node3" presStyleIdx="1" presStyleCnt="2">
        <dgm:presLayoutVars>
          <dgm:chPref val="3"/>
        </dgm:presLayoutVars>
      </dgm:prSet>
      <dgm:spPr/>
    </dgm:pt>
    <dgm:pt modelId="{A8194F72-C60E-46C3-A8EA-602573CCEBE1}" type="pres">
      <dgm:prSet presAssocID="{3A76979C-5DE3-4206-B450-9B837A0A03A7}" presName="rootConnector" presStyleLbl="node3" presStyleIdx="1" presStyleCnt="2"/>
      <dgm:spPr/>
    </dgm:pt>
    <dgm:pt modelId="{09FAC914-7BEB-4B5F-A9CC-9ED7839E208C}" type="pres">
      <dgm:prSet presAssocID="{3A76979C-5DE3-4206-B450-9B837A0A03A7}" presName="hierChild4" presStyleCnt="0"/>
      <dgm:spPr/>
    </dgm:pt>
    <dgm:pt modelId="{8F728BF3-21DE-43AF-8837-8540464EC969}" type="pres">
      <dgm:prSet presAssocID="{4328A72B-70FB-41EC-95ED-8A7751BEC5B6}" presName="Name64" presStyleLbl="parChTrans1D4" presStyleIdx="2" presStyleCnt="5"/>
      <dgm:spPr/>
    </dgm:pt>
    <dgm:pt modelId="{AAD3EADF-E3E7-4225-A278-F92DC0978D95}" type="pres">
      <dgm:prSet presAssocID="{82D5E3BD-1786-44AE-A817-E0770204FEE1}" presName="hierRoot2" presStyleCnt="0">
        <dgm:presLayoutVars>
          <dgm:hierBranch val="init"/>
        </dgm:presLayoutVars>
      </dgm:prSet>
      <dgm:spPr/>
    </dgm:pt>
    <dgm:pt modelId="{06EF2C10-BC92-4797-A094-600EAC0241C5}" type="pres">
      <dgm:prSet presAssocID="{82D5E3BD-1786-44AE-A817-E0770204FEE1}" presName="rootComposite" presStyleCnt="0"/>
      <dgm:spPr/>
    </dgm:pt>
    <dgm:pt modelId="{CA32E1BB-A7D1-4681-AFCC-9C06A0CF4925}" type="pres">
      <dgm:prSet presAssocID="{82D5E3BD-1786-44AE-A817-E0770204FEE1}" presName="rootText" presStyleLbl="node4" presStyleIdx="2" presStyleCnt="5">
        <dgm:presLayoutVars>
          <dgm:chPref val="3"/>
        </dgm:presLayoutVars>
      </dgm:prSet>
      <dgm:spPr/>
    </dgm:pt>
    <dgm:pt modelId="{DC1BCCFB-14AD-4CE7-8ABE-438CAAB6181D}" type="pres">
      <dgm:prSet presAssocID="{82D5E3BD-1786-44AE-A817-E0770204FEE1}" presName="rootConnector" presStyleLbl="node4" presStyleIdx="2" presStyleCnt="5"/>
      <dgm:spPr/>
    </dgm:pt>
    <dgm:pt modelId="{0CB92EEA-A45E-4A08-A8B3-544CC47BA394}" type="pres">
      <dgm:prSet presAssocID="{82D5E3BD-1786-44AE-A817-E0770204FEE1}" presName="hierChild4" presStyleCnt="0"/>
      <dgm:spPr/>
    </dgm:pt>
    <dgm:pt modelId="{C7F867EB-5307-43A7-BD00-C3814343306B}" type="pres">
      <dgm:prSet presAssocID="{82D5E3BD-1786-44AE-A817-E0770204FEE1}" presName="hierChild5" presStyleCnt="0"/>
      <dgm:spPr/>
    </dgm:pt>
    <dgm:pt modelId="{659E654E-A9F6-4456-B637-B686AD7F302A}" type="pres">
      <dgm:prSet presAssocID="{00CE3874-5D6B-402F-BA19-26B4A928BB4A}" presName="Name64" presStyleLbl="parChTrans1D4" presStyleIdx="3" presStyleCnt="5"/>
      <dgm:spPr/>
    </dgm:pt>
    <dgm:pt modelId="{B3078831-9ECF-4D89-B13C-BC3143B79D3F}" type="pres">
      <dgm:prSet presAssocID="{D8296CCD-100E-4541-A601-04B03449C754}" presName="hierRoot2" presStyleCnt="0">
        <dgm:presLayoutVars>
          <dgm:hierBranch val="init"/>
        </dgm:presLayoutVars>
      </dgm:prSet>
      <dgm:spPr/>
    </dgm:pt>
    <dgm:pt modelId="{026208C7-6C81-4ED1-91E6-DB914BA559D5}" type="pres">
      <dgm:prSet presAssocID="{D8296CCD-100E-4541-A601-04B03449C754}" presName="rootComposite" presStyleCnt="0"/>
      <dgm:spPr/>
    </dgm:pt>
    <dgm:pt modelId="{5D1C96B3-C9AE-4C61-A3CE-96BA93BA35D2}" type="pres">
      <dgm:prSet presAssocID="{D8296CCD-100E-4541-A601-04B03449C754}" presName="rootText" presStyleLbl="node4" presStyleIdx="3" presStyleCnt="5">
        <dgm:presLayoutVars>
          <dgm:chPref val="3"/>
        </dgm:presLayoutVars>
      </dgm:prSet>
      <dgm:spPr/>
    </dgm:pt>
    <dgm:pt modelId="{37A613A6-8C88-4FCE-AAF7-71F5D4A89D6F}" type="pres">
      <dgm:prSet presAssocID="{D8296CCD-100E-4541-A601-04B03449C754}" presName="rootConnector" presStyleLbl="node4" presStyleIdx="3" presStyleCnt="5"/>
      <dgm:spPr/>
    </dgm:pt>
    <dgm:pt modelId="{F6FAAD90-9023-45C4-B931-53B9D40866DC}" type="pres">
      <dgm:prSet presAssocID="{D8296CCD-100E-4541-A601-04B03449C754}" presName="hierChild4" presStyleCnt="0"/>
      <dgm:spPr/>
    </dgm:pt>
    <dgm:pt modelId="{99CCEE5E-7A19-4DBA-A8A2-7AB377E78E23}" type="pres">
      <dgm:prSet presAssocID="{D8296CCD-100E-4541-A601-04B03449C754}" presName="hierChild5" presStyleCnt="0"/>
      <dgm:spPr/>
    </dgm:pt>
    <dgm:pt modelId="{14CAD866-257C-4CFC-B612-28721F791BC6}" type="pres">
      <dgm:prSet presAssocID="{74D7AC25-C790-450E-A710-43638463AD0F}" presName="Name64" presStyleLbl="parChTrans1D4" presStyleIdx="4" presStyleCnt="5"/>
      <dgm:spPr/>
    </dgm:pt>
    <dgm:pt modelId="{CAF5FD82-4DF9-4B43-86D4-7405BB04A7DE}" type="pres">
      <dgm:prSet presAssocID="{F53F9E05-801A-49BA-B564-0F5F929D3571}" presName="hierRoot2" presStyleCnt="0">
        <dgm:presLayoutVars>
          <dgm:hierBranch val="init"/>
        </dgm:presLayoutVars>
      </dgm:prSet>
      <dgm:spPr/>
    </dgm:pt>
    <dgm:pt modelId="{79CCBB65-A714-4008-BFB2-4AB0F205D50D}" type="pres">
      <dgm:prSet presAssocID="{F53F9E05-801A-49BA-B564-0F5F929D3571}" presName="rootComposite" presStyleCnt="0"/>
      <dgm:spPr/>
    </dgm:pt>
    <dgm:pt modelId="{D797A488-9595-4BE0-A30A-964C8989070E}" type="pres">
      <dgm:prSet presAssocID="{F53F9E05-801A-49BA-B564-0F5F929D3571}" presName="rootText" presStyleLbl="node4" presStyleIdx="4" presStyleCnt="5">
        <dgm:presLayoutVars>
          <dgm:chPref val="3"/>
        </dgm:presLayoutVars>
      </dgm:prSet>
      <dgm:spPr/>
    </dgm:pt>
    <dgm:pt modelId="{A4D697F4-A2A2-4322-BBCF-A49B349B17A8}" type="pres">
      <dgm:prSet presAssocID="{F53F9E05-801A-49BA-B564-0F5F929D3571}" presName="rootConnector" presStyleLbl="node4" presStyleIdx="4" presStyleCnt="5"/>
      <dgm:spPr/>
    </dgm:pt>
    <dgm:pt modelId="{0BA5D82B-D77F-4DA5-8487-692D3A00BE16}" type="pres">
      <dgm:prSet presAssocID="{F53F9E05-801A-49BA-B564-0F5F929D3571}" presName="hierChild4" presStyleCnt="0"/>
      <dgm:spPr/>
    </dgm:pt>
    <dgm:pt modelId="{AF94D6B6-9C2A-4EFB-A431-5E64C520CE85}" type="pres">
      <dgm:prSet presAssocID="{F53F9E05-801A-49BA-B564-0F5F929D3571}" presName="hierChild5" presStyleCnt="0"/>
      <dgm:spPr/>
    </dgm:pt>
    <dgm:pt modelId="{40FB7C63-1976-4ABA-98A4-07C76BEE9B6F}" type="pres">
      <dgm:prSet presAssocID="{3A76979C-5DE3-4206-B450-9B837A0A03A7}" presName="hierChild5" presStyleCnt="0"/>
      <dgm:spPr/>
    </dgm:pt>
    <dgm:pt modelId="{5ABAFD70-E1CE-49AA-A1C0-EBD7755F77F2}" type="pres">
      <dgm:prSet presAssocID="{1CE9F5A0-0FD9-44EF-9DAD-F3905D267FB4}" presName="hierChild5" presStyleCnt="0"/>
      <dgm:spPr/>
    </dgm:pt>
    <dgm:pt modelId="{2A81668F-3411-4306-8983-AC36DC69EB8E}" type="pres">
      <dgm:prSet presAssocID="{84047AF0-AEBE-4E6C-861F-8036A9E3DAA0}" presName="hierChild3" presStyleCnt="0"/>
      <dgm:spPr/>
    </dgm:pt>
    <dgm:pt modelId="{406411B0-3CD4-4A54-A0C5-1C1C399F91F1}" type="pres">
      <dgm:prSet presAssocID="{7DFFCEAF-FAFD-4E67-935B-511D747EF592}" presName="Name115" presStyleLbl="parChTrans1D2" presStyleIdx="1" presStyleCnt="2"/>
      <dgm:spPr/>
    </dgm:pt>
    <dgm:pt modelId="{C29FAFBA-6C68-490D-8B9F-23241A6B1E45}" type="pres">
      <dgm:prSet presAssocID="{3B6E6AD4-7B87-41AE-AD8C-CC7E1CD786C4}" presName="hierRoot3" presStyleCnt="0">
        <dgm:presLayoutVars>
          <dgm:hierBranch val="init"/>
        </dgm:presLayoutVars>
      </dgm:prSet>
      <dgm:spPr/>
    </dgm:pt>
    <dgm:pt modelId="{7020AD9F-A3E4-42AA-889C-C47EF33E8FD7}" type="pres">
      <dgm:prSet presAssocID="{3B6E6AD4-7B87-41AE-AD8C-CC7E1CD786C4}" presName="rootComposite3" presStyleCnt="0"/>
      <dgm:spPr/>
    </dgm:pt>
    <dgm:pt modelId="{1C91F63C-D6AF-4D45-A4E6-0E446A4749BD}" type="pres">
      <dgm:prSet presAssocID="{3B6E6AD4-7B87-41AE-AD8C-CC7E1CD786C4}" presName="rootText3" presStyleLbl="asst1" presStyleIdx="0" presStyleCnt="1">
        <dgm:presLayoutVars>
          <dgm:chPref val="3"/>
        </dgm:presLayoutVars>
      </dgm:prSet>
      <dgm:spPr/>
    </dgm:pt>
    <dgm:pt modelId="{50306C6E-93D6-47D7-8ADC-C73C29A184A8}" type="pres">
      <dgm:prSet presAssocID="{3B6E6AD4-7B87-41AE-AD8C-CC7E1CD786C4}" presName="rootConnector3" presStyleLbl="asst1" presStyleIdx="0" presStyleCnt="1"/>
      <dgm:spPr/>
    </dgm:pt>
    <dgm:pt modelId="{128587A7-BBF7-42BA-9665-105AF31F4933}" type="pres">
      <dgm:prSet presAssocID="{3B6E6AD4-7B87-41AE-AD8C-CC7E1CD786C4}" presName="hierChild6" presStyleCnt="0"/>
      <dgm:spPr/>
    </dgm:pt>
    <dgm:pt modelId="{C58E3B9B-4EEB-4C94-B77F-5EB5CE3CB416}" type="pres">
      <dgm:prSet presAssocID="{3B6E6AD4-7B87-41AE-AD8C-CC7E1CD786C4}" presName="hierChild7" presStyleCnt="0"/>
      <dgm:spPr/>
    </dgm:pt>
  </dgm:ptLst>
  <dgm:cxnLst>
    <dgm:cxn modelId="{94AAED00-BEDD-4B46-A914-E5034883F267}" type="presOf" srcId="{3B6E6AD4-7B87-41AE-AD8C-CC7E1CD786C4}" destId="{50306C6E-93D6-47D7-8ADC-C73C29A184A8}" srcOrd="1" destOrd="0" presId="urn:microsoft.com/office/officeart/2009/3/layout/HorizontalOrganizationChart"/>
    <dgm:cxn modelId="{5147D902-D028-419F-ACF5-190ACC8E2C1C}" type="presOf" srcId="{3A76979C-5DE3-4206-B450-9B837A0A03A7}" destId="{A8194F72-C60E-46C3-A8EA-602573CCEBE1}" srcOrd="1" destOrd="0" presId="urn:microsoft.com/office/officeart/2009/3/layout/HorizontalOrganizationChart"/>
    <dgm:cxn modelId="{DA004805-B2E2-4FB6-A270-1EAB9333FF21}" srcId="{3A76979C-5DE3-4206-B450-9B837A0A03A7}" destId="{D8296CCD-100E-4541-A601-04B03449C754}" srcOrd="1" destOrd="0" parTransId="{00CE3874-5D6B-402F-BA19-26B4A928BB4A}" sibTransId="{B8251A03-8928-496E-9B27-0F67C7A9DFFF}"/>
    <dgm:cxn modelId="{E4093211-8C14-4122-871D-E24997ACF52A}" srcId="{3A76979C-5DE3-4206-B450-9B837A0A03A7}" destId="{F53F9E05-801A-49BA-B564-0F5F929D3571}" srcOrd="2" destOrd="0" parTransId="{74D7AC25-C790-450E-A710-43638463AD0F}" sibTransId="{AB7FCB17-65F5-4F76-9C73-995D78385319}"/>
    <dgm:cxn modelId="{92221725-F008-4453-96A9-F31BDF307ED0}" type="presOf" srcId="{7578A8D2-F38B-4AD2-BB6A-5803F99BB499}" destId="{CF13A996-356B-4C34-A79F-EE966D797991}" srcOrd="0" destOrd="0" presId="urn:microsoft.com/office/officeart/2009/3/layout/HorizontalOrganizationChart"/>
    <dgm:cxn modelId="{0D64BD33-0CBA-4B3C-B5B4-A734848606AC}" type="presOf" srcId="{60B95E13-6157-44BD-B5FA-54BEDB113663}" destId="{8F3EFA8D-23D4-4B33-A96F-155D61F10420}" srcOrd="0" destOrd="0" presId="urn:microsoft.com/office/officeart/2009/3/layout/HorizontalOrganizationChart"/>
    <dgm:cxn modelId="{9097C133-6A13-4317-A993-C3E4D42B7A93}" type="presOf" srcId="{82D5E3BD-1786-44AE-A817-E0770204FEE1}" destId="{CA32E1BB-A7D1-4681-AFCC-9C06A0CF4925}" srcOrd="0" destOrd="0" presId="urn:microsoft.com/office/officeart/2009/3/layout/HorizontalOrganizationChart"/>
    <dgm:cxn modelId="{E08B5239-86A6-46E1-B334-2773BAFD584C}" srcId="{84047AF0-AEBE-4E6C-861F-8036A9E3DAA0}" destId="{1CE9F5A0-0FD9-44EF-9DAD-F3905D267FB4}" srcOrd="1" destOrd="0" parTransId="{60B95E13-6157-44BD-B5FA-54BEDB113663}" sibTransId="{58B09608-B8F8-4C60-97CC-74407D306E42}"/>
    <dgm:cxn modelId="{CE18213D-DECF-48AE-B982-5CE6040F98C2}" srcId="{6D18F49D-C48D-4568-8A07-864E27352DCA}" destId="{84047AF0-AEBE-4E6C-861F-8036A9E3DAA0}" srcOrd="0" destOrd="0" parTransId="{1DC8CA46-773A-43B3-A55E-3E35DE1679F5}" sibTransId="{A45C1E7D-80A8-4C3B-98B8-44030C2BA6BE}"/>
    <dgm:cxn modelId="{E120264D-C040-4673-B6D7-4F6BFF3C453C}" type="presOf" srcId="{E3C8B814-37EA-4F82-A684-46526AF78DC8}" destId="{7EBC0F99-40D3-4F2A-B50C-EC1FCFA37909}" srcOrd="0" destOrd="0" presId="urn:microsoft.com/office/officeart/2009/3/layout/HorizontalOrganizationChart"/>
    <dgm:cxn modelId="{2974E870-A689-45ED-8AA5-C33D29EC9084}" type="presOf" srcId="{A997ABC0-E222-4561-B36E-F105B1A24B21}" destId="{0D3E30E5-2741-443F-8C17-FC343202FD7C}" srcOrd="1" destOrd="0" presId="urn:microsoft.com/office/officeart/2009/3/layout/HorizontalOrganizationChart"/>
    <dgm:cxn modelId="{3DFF5373-64E3-49F4-8D30-8C41AE5F2774}" type="presOf" srcId="{6D18F49D-C48D-4568-8A07-864E27352DCA}" destId="{53A6ECBD-83A3-4755-8550-AAB4898D0EBD}" srcOrd="0" destOrd="0" presId="urn:microsoft.com/office/officeart/2009/3/layout/HorizontalOrganizationChart"/>
    <dgm:cxn modelId="{1084B673-F8A9-4796-B1E7-B92B65F63E3A}" type="presOf" srcId="{A997ABC0-E222-4561-B36E-F105B1A24B21}" destId="{D5E3504B-5173-4FFC-8C2C-6BE086B520F0}" srcOrd="0" destOrd="0" presId="urn:microsoft.com/office/officeart/2009/3/layout/HorizontalOrganizationChart"/>
    <dgm:cxn modelId="{9F548754-F885-4355-B28A-D260E28B021F}" type="presOf" srcId="{761C03EA-8149-4E66-9756-0645BB340C7B}" destId="{58E92068-03E1-4619-BFB0-E1899AD1CC9E}" srcOrd="0" destOrd="0" presId="urn:microsoft.com/office/officeart/2009/3/layout/HorizontalOrganizationChart"/>
    <dgm:cxn modelId="{33DD5255-128B-4F93-8861-75F8B80B9DB5}" srcId="{761C03EA-8149-4E66-9756-0645BB340C7B}" destId="{A997ABC0-E222-4561-B36E-F105B1A24B21}" srcOrd="1" destOrd="0" parTransId="{A90BED89-0F3D-418D-8AB0-BB8D579D97D9}" sibTransId="{B8A354D5-34B2-4E38-B3C3-27DB9DB3B2A1}"/>
    <dgm:cxn modelId="{BCF5F957-36D6-4FD3-946D-BE3BF36D3FA6}" type="presOf" srcId="{F53F9E05-801A-49BA-B564-0F5F929D3571}" destId="{A4D697F4-A2A2-4322-BBCF-A49B349B17A8}" srcOrd="1" destOrd="0" presId="urn:microsoft.com/office/officeart/2009/3/layout/HorizontalOrganizationChart"/>
    <dgm:cxn modelId="{4F95937C-3AC5-47E1-8976-9860EB0AD94A}" srcId="{3A76979C-5DE3-4206-B450-9B837A0A03A7}" destId="{82D5E3BD-1786-44AE-A817-E0770204FEE1}" srcOrd="0" destOrd="0" parTransId="{4328A72B-70FB-41EC-95ED-8A7751BEC5B6}" sibTransId="{3C59C1D8-BEAF-4FC2-9ED2-22F1B46A0AFC}"/>
    <dgm:cxn modelId="{6FB61F8F-80FF-4B08-9ABA-1067A3D573EE}" type="presOf" srcId="{1CE9F5A0-0FD9-44EF-9DAD-F3905D267FB4}" destId="{30CEE3EA-174C-46E2-9F77-CAA12BED1639}" srcOrd="1" destOrd="0" presId="urn:microsoft.com/office/officeart/2009/3/layout/HorizontalOrganizationChart"/>
    <dgm:cxn modelId="{3BC98291-DCFD-4328-A331-11CB87CC3851}" srcId="{761C03EA-8149-4E66-9756-0645BB340C7B}" destId="{0FB06F0E-FBFA-445E-A0A1-4CBC57FE529A}" srcOrd="0" destOrd="0" parTransId="{7578A8D2-F38B-4AD2-BB6A-5803F99BB499}" sibTransId="{834CEFDC-0BB7-4B37-8196-A17F620E55E3}"/>
    <dgm:cxn modelId="{DCEEBE93-6EDE-44F8-B780-2E17BABF7800}" type="presOf" srcId="{84047AF0-AEBE-4E6C-861F-8036A9E3DAA0}" destId="{FB7BED7C-5FA5-4781-9B1F-C416F492FE5C}" srcOrd="0" destOrd="0" presId="urn:microsoft.com/office/officeart/2009/3/layout/HorizontalOrganizationChart"/>
    <dgm:cxn modelId="{B4F6BA96-B8F2-40C5-95A7-999AD4712A0D}" type="presOf" srcId="{F53F9E05-801A-49BA-B564-0F5F929D3571}" destId="{D797A488-9595-4BE0-A30A-964C8989070E}" srcOrd="0" destOrd="0" presId="urn:microsoft.com/office/officeart/2009/3/layout/HorizontalOrganizationChart"/>
    <dgm:cxn modelId="{E0CBA698-8285-4460-AF91-42678C2EEF17}" type="presOf" srcId="{84047AF0-AEBE-4E6C-861F-8036A9E3DAA0}" destId="{C3C96E18-ED99-489C-94D3-13781442C703}" srcOrd="1" destOrd="0" presId="urn:microsoft.com/office/officeart/2009/3/layout/HorizontalOrganizationChart"/>
    <dgm:cxn modelId="{814B1D9A-7352-4233-9950-A3F66BF1BDB6}" type="presOf" srcId="{7DFFCEAF-FAFD-4E67-935B-511D747EF592}" destId="{406411B0-3CD4-4A54-A0C5-1C1C399F91F1}" srcOrd="0" destOrd="0" presId="urn:microsoft.com/office/officeart/2009/3/layout/HorizontalOrganizationChart"/>
    <dgm:cxn modelId="{42583D9D-855D-4271-BD2F-6075394EF968}" type="presOf" srcId="{D8296CCD-100E-4541-A601-04B03449C754}" destId="{37A613A6-8C88-4FCE-AAF7-71F5D4A89D6F}" srcOrd="1" destOrd="0" presId="urn:microsoft.com/office/officeart/2009/3/layout/HorizontalOrganizationChart"/>
    <dgm:cxn modelId="{017F5AA1-CDEC-43A0-89B8-EB026CE887F8}" type="presOf" srcId="{4328A72B-70FB-41EC-95ED-8A7751BEC5B6}" destId="{8F728BF3-21DE-43AF-8837-8540464EC969}" srcOrd="0" destOrd="0" presId="urn:microsoft.com/office/officeart/2009/3/layout/HorizontalOrganizationChart"/>
    <dgm:cxn modelId="{1D91E8A8-A362-4003-861A-6A6085121A8F}" type="presOf" srcId="{00CE3874-5D6B-402F-BA19-26B4A928BB4A}" destId="{659E654E-A9F6-4456-B637-B686AD7F302A}" srcOrd="0" destOrd="0" presId="urn:microsoft.com/office/officeart/2009/3/layout/HorizontalOrganizationChart"/>
    <dgm:cxn modelId="{4F9B02B4-CB78-4630-8D95-C0F9DCCFBF0D}" type="presOf" srcId="{3B6E6AD4-7B87-41AE-AD8C-CC7E1CD786C4}" destId="{1C91F63C-D6AF-4D45-A4E6-0E446A4749BD}" srcOrd="0" destOrd="0" presId="urn:microsoft.com/office/officeart/2009/3/layout/HorizontalOrganizationChart"/>
    <dgm:cxn modelId="{7F2618B8-F0D3-47E1-91AE-BED6982E3719}" type="presOf" srcId="{3A76979C-5DE3-4206-B450-9B837A0A03A7}" destId="{ACBFACFA-79CE-4240-8FE3-4068A490A061}" srcOrd="0" destOrd="0" presId="urn:microsoft.com/office/officeart/2009/3/layout/HorizontalOrganizationChart"/>
    <dgm:cxn modelId="{5E5E07BF-CE0F-4156-B699-01C91F99710D}" type="presOf" srcId="{82D5E3BD-1786-44AE-A817-E0770204FEE1}" destId="{DC1BCCFB-14AD-4CE7-8ABE-438CAAB6181D}" srcOrd="1" destOrd="0" presId="urn:microsoft.com/office/officeart/2009/3/layout/HorizontalOrganizationChart"/>
    <dgm:cxn modelId="{F64D72C4-FD50-4DEE-9E5F-0B8D74FBAECE}" type="presOf" srcId="{74D7AC25-C790-450E-A710-43638463AD0F}" destId="{14CAD866-257C-4CFC-B612-28721F791BC6}" srcOrd="0" destOrd="0" presId="urn:microsoft.com/office/officeart/2009/3/layout/HorizontalOrganizationChart"/>
    <dgm:cxn modelId="{388E00C7-FBB8-4AED-AEFA-D899E36B46D4}" type="presOf" srcId="{0FB06F0E-FBFA-445E-A0A1-4CBC57FE529A}" destId="{25B69C4F-8896-45C0-91AA-A46E31C84316}" srcOrd="1" destOrd="0" presId="urn:microsoft.com/office/officeart/2009/3/layout/HorizontalOrganizationChart"/>
    <dgm:cxn modelId="{14A1B2CB-5ED2-4580-A4BA-85B0034E52D3}" type="presOf" srcId="{EBB194CE-C7CD-425C-9814-18EB939D654B}" destId="{F6E3D06E-214A-4E59-9B5A-22B0B774835F}" srcOrd="0" destOrd="0" presId="urn:microsoft.com/office/officeart/2009/3/layout/HorizontalOrganizationChart"/>
    <dgm:cxn modelId="{C1D77BD5-1D3D-4CF5-B72C-265F427CB51C}" type="presOf" srcId="{A90BED89-0F3D-418D-8AB0-BB8D579D97D9}" destId="{D2AE7613-3C80-46C6-AEB5-914810406613}" srcOrd="0" destOrd="0" presId="urn:microsoft.com/office/officeart/2009/3/layout/HorizontalOrganizationChart"/>
    <dgm:cxn modelId="{DC4C7AD9-9850-4AE8-BB16-7C0331D8F23E}" type="presOf" srcId="{D8296CCD-100E-4541-A601-04B03449C754}" destId="{5D1C96B3-C9AE-4C61-A3CE-96BA93BA35D2}" srcOrd="0" destOrd="0" presId="urn:microsoft.com/office/officeart/2009/3/layout/HorizontalOrganizationChart"/>
    <dgm:cxn modelId="{80B7CDDA-1AD2-459E-B9C7-D0AF53E2D737}" type="presOf" srcId="{0FB06F0E-FBFA-445E-A0A1-4CBC57FE529A}" destId="{C17A25A3-CA0D-4B31-A330-5E10CBE3A7F0}" srcOrd="0" destOrd="0" presId="urn:microsoft.com/office/officeart/2009/3/layout/HorizontalOrganizationChart"/>
    <dgm:cxn modelId="{37720BE0-ACD5-4087-B5C3-B04359C8A808}" srcId="{1CE9F5A0-0FD9-44EF-9DAD-F3905D267FB4}" destId="{761C03EA-8149-4E66-9756-0645BB340C7B}" srcOrd="0" destOrd="0" parTransId="{E3C8B814-37EA-4F82-A684-46526AF78DC8}" sibTransId="{B750F229-0967-4A5E-AE7B-2D22222E1C18}"/>
    <dgm:cxn modelId="{895650E5-F7F4-4994-BEF8-DD91C230118E}" srcId="{1CE9F5A0-0FD9-44EF-9DAD-F3905D267FB4}" destId="{3A76979C-5DE3-4206-B450-9B837A0A03A7}" srcOrd="1" destOrd="0" parTransId="{EBB194CE-C7CD-425C-9814-18EB939D654B}" sibTransId="{D433C510-B0E9-441E-9836-90EEF86B82F3}"/>
    <dgm:cxn modelId="{49533AEB-0FEE-4198-B1B7-ED340AF74097}" srcId="{84047AF0-AEBE-4E6C-861F-8036A9E3DAA0}" destId="{3B6E6AD4-7B87-41AE-AD8C-CC7E1CD786C4}" srcOrd="0" destOrd="0" parTransId="{7DFFCEAF-FAFD-4E67-935B-511D747EF592}" sibTransId="{47F694B0-CF4F-4001-962E-CA63C9507F61}"/>
    <dgm:cxn modelId="{905CD5F4-91A6-4EEE-BBF0-696216E23605}" type="presOf" srcId="{1CE9F5A0-0FD9-44EF-9DAD-F3905D267FB4}" destId="{AC9CAA2E-2916-494C-805E-E99CABEEC773}" srcOrd="0" destOrd="0" presId="urn:microsoft.com/office/officeart/2009/3/layout/HorizontalOrganizationChart"/>
    <dgm:cxn modelId="{C094D2F5-4CBB-443D-A70C-018EFF53A35E}" type="presOf" srcId="{761C03EA-8149-4E66-9756-0645BB340C7B}" destId="{B521DCCB-474C-41DF-A129-899F63A854CF}" srcOrd="1" destOrd="0" presId="urn:microsoft.com/office/officeart/2009/3/layout/HorizontalOrganizationChart"/>
    <dgm:cxn modelId="{7EC8EA14-9F9D-492F-9AA5-FFB1367F46A0}" type="presParOf" srcId="{53A6ECBD-83A3-4755-8550-AAB4898D0EBD}" destId="{573390ED-7368-4F38-967F-7EA9C684A348}" srcOrd="0" destOrd="0" presId="urn:microsoft.com/office/officeart/2009/3/layout/HorizontalOrganizationChart"/>
    <dgm:cxn modelId="{7CBFD396-26A1-4E4D-BCCA-C2360FFB2126}" type="presParOf" srcId="{573390ED-7368-4F38-967F-7EA9C684A348}" destId="{AB00CA16-5ADD-417E-B145-434DBFC2D17F}" srcOrd="0" destOrd="0" presId="urn:microsoft.com/office/officeart/2009/3/layout/HorizontalOrganizationChart"/>
    <dgm:cxn modelId="{29AE0C7E-39A1-40CA-ADF4-D5E0C913E8D9}" type="presParOf" srcId="{AB00CA16-5ADD-417E-B145-434DBFC2D17F}" destId="{FB7BED7C-5FA5-4781-9B1F-C416F492FE5C}" srcOrd="0" destOrd="0" presId="urn:microsoft.com/office/officeart/2009/3/layout/HorizontalOrganizationChart"/>
    <dgm:cxn modelId="{60CCB909-7114-4C16-ADD7-365F1C016053}" type="presParOf" srcId="{AB00CA16-5ADD-417E-B145-434DBFC2D17F}" destId="{C3C96E18-ED99-489C-94D3-13781442C703}" srcOrd="1" destOrd="0" presId="urn:microsoft.com/office/officeart/2009/3/layout/HorizontalOrganizationChart"/>
    <dgm:cxn modelId="{CADE5FBC-F860-44AE-802E-8A68063C01B8}" type="presParOf" srcId="{573390ED-7368-4F38-967F-7EA9C684A348}" destId="{42FC98CC-8958-4C24-B36F-E942E8724F81}" srcOrd="1" destOrd="0" presId="urn:microsoft.com/office/officeart/2009/3/layout/HorizontalOrganizationChart"/>
    <dgm:cxn modelId="{A4603378-0340-4B9C-9B30-95F03BBBBAA9}" type="presParOf" srcId="{42FC98CC-8958-4C24-B36F-E942E8724F81}" destId="{8F3EFA8D-23D4-4B33-A96F-155D61F10420}" srcOrd="0" destOrd="0" presId="urn:microsoft.com/office/officeart/2009/3/layout/HorizontalOrganizationChart"/>
    <dgm:cxn modelId="{3D14FBA5-AE45-4D25-AD2A-1B60ADEA9320}" type="presParOf" srcId="{42FC98CC-8958-4C24-B36F-E942E8724F81}" destId="{9DDC7766-85AF-4475-83E9-96850B18B345}" srcOrd="1" destOrd="0" presId="urn:microsoft.com/office/officeart/2009/3/layout/HorizontalOrganizationChart"/>
    <dgm:cxn modelId="{A749FB7E-17BD-4491-9DD2-2E0B1A0463E0}" type="presParOf" srcId="{9DDC7766-85AF-4475-83E9-96850B18B345}" destId="{D4C00A12-B525-43E5-B063-62987D329C45}" srcOrd="0" destOrd="0" presId="urn:microsoft.com/office/officeart/2009/3/layout/HorizontalOrganizationChart"/>
    <dgm:cxn modelId="{DC6943DB-671A-4826-8E2F-004BF9E07D24}" type="presParOf" srcId="{D4C00A12-B525-43E5-B063-62987D329C45}" destId="{AC9CAA2E-2916-494C-805E-E99CABEEC773}" srcOrd="0" destOrd="0" presId="urn:microsoft.com/office/officeart/2009/3/layout/HorizontalOrganizationChart"/>
    <dgm:cxn modelId="{D298312F-F353-4CF1-8277-DE742C2B3674}" type="presParOf" srcId="{D4C00A12-B525-43E5-B063-62987D329C45}" destId="{30CEE3EA-174C-46E2-9F77-CAA12BED1639}" srcOrd="1" destOrd="0" presId="urn:microsoft.com/office/officeart/2009/3/layout/HorizontalOrganizationChart"/>
    <dgm:cxn modelId="{0E398F0A-216B-4E6B-B5CB-1B0DF1B87F30}" type="presParOf" srcId="{9DDC7766-85AF-4475-83E9-96850B18B345}" destId="{6DA2CDDE-0E92-44F5-8237-0D689DB97FEF}" srcOrd="1" destOrd="0" presId="urn:microsoft.com/office/officeart/2009/3/layout/HorizontalOrganizationChart"/>
    <dgm:cxn modelId="{958D7B68-5DBC-479B-831D-601468F685D3}" type="presParOf" srcId="{6DA2CDDE-0E92-44F5-8237-0D689DB97FEF}" destId="{7EBC0F99-40D3-4F2A-B50C-EC1FCFA37909}" srcOrd="0" destOrd="0" presId="urn:microsoft.com/office/officeart/2009/3/layout/HorizontalOrganizationChart"/>
    <dgm:cxn modelId="{2CA4550F-8D87-4984-AEF0-CB99E427C40D}" type="presParOf" srcId="{6DA2CDDE-0E92-44F5-8237-0D689DB97FEF}" destId="{F4964200-AD23-4CC8-8261-1932EEF8C70A}" srcOrd="1" destOrd="0" presId="urn:microsoft.com/office/officeart/2009/3/layout/HorizontalOrganizationChart"/>
    <dgm:cxn modelId="{425EB167-6395-4F16-8C7D-0E749C80C826}" type="presParOf" srcId="{F4964200-AD23-4CC8-8261-1932EEF8C70A}" destId="{0EF314C3-7B27-470A-BDF0-11AB5592F182}" srcOrd="0" destOrd="0" presId="urn:microsoft.com/office/officeart/2009/3/layout/HorizontalOrganizationChart"/>
    <dgm:cxn modelId="{F8ABDB5C-1BE9-4850-861D-7E39A09CA3BD}" type="presParOf" srcId="{0EF314C3-7B27-470A-BDF0-11AB5592F182}" destId="{58E92068-03E1-4619-BFB0-E1899AD1CC9E}" srcOrd="0" destOrd="0" presId="urn:microsoft.com/office/officeart/2009/3/layout/HorizontalOrganizationChart"/>
    <dgm:cxn modelId="{177F4F06-2022-4726-A4F9-315D86356505}" type="presParOf" srcId="{0EF314C3-7B27-470A-BDF0-11AB5592F182}" destId="{B521DCCB-474C-41DF-A129-899F63A854CF}" srcOrd="1" destOrd="0" presId="urn:microsoft.com/office/officeart/2009/3/layout/HorizontalOrganizationChart"/>
    <dgm:cxn modelId="{E571744E-1C85-4BFD-B304-AB6C552F92B3}" type="presParOf" srcId="{F4964200-AD23-4CC8-8261-1932EEF8C70A}" destId="{F529AAF3-9529-4905-B349-7CF858846FFF}" srcOrd="1" destOrd="0" presId="urn:microsoft.com/office/officeart/2009/3/layout/HorizontalOrganizationChart"/>
    <dgm:cxn modelId="{8E428EEC-F152-4398-8D79-639DA817CA9E}" type="presParOf" srcId="{F529AAF3-9529-4905-B349-7CF858846FFF}" destId="{CF13A996-356B-4C34-A79F-EE966D797991}" srcOrd="0" destOrd="0" presId="urn:microsoft.com/office/officeart/2009/3/layout/HorizontalOrganizationChart"/>
    <dgm:cxn modelId="{EA6B8987-C439-4B38-8886-A4603DE69743}" type="presParOf" srcId="{F529AAF3-9529-4905-B349-7CF858846FFF}" destId="{721E5C8D-81C8-4951-A959-03401F044350}" srcOrd="1" destOrd="0" presId="urn:microsoft.com/office/officeart/2009/3/layout/HorizontalOrganizationChart"/>
    <dgm:cxn modelId="{AF2CACB0-2D94-46C6-A359-EF5E0F131106}" type="presParOf" srcId="{721E5C8D-81C8-4951-A959-03401F044350}" destId="{63128F99-A988-4272-8587-8CC25600AD04}" srcOrd="0" destOrd="0" presId="urn:microsoft.com/office/officeart/2009/3/layout/HorizontalOrganizationChart"/>
    <dgm:cxn modelId="{48096028-4728-4C5D-8168-F4469734E522}" type="presParOf" srcId="{63128F99-A988-4272-8587-8CC25600AD04}" destId="{C17A25A3-CA0D-4B31-A330-5E10CBE3A7F0}" srcOrd="0" destOrd="0" presId="urn:microsoft.com/office/officeart/2009/3/layout/HorizontalOrganizationChart"/>
    <dgm:cxn modelId="{989C9DFF-F5D0-4AE8-A1AF-4724497C9C51}" type="presParOf" srcId="{63128F99-A988-4272-8587-8CC25600AD04}" destId="{25B69C4F-8896-45C0-91AA-A46E31C84316}" srcOrd="1" destOrd="0" presId="urn:microsoft.com/office/officeart/2009/3/layout/HorizontalOrganizationChart"/>
    <dgm:cxn modelId="{DADC5E22-DA5C-49E8-8B7A-5A67FB1BC148}" type="presParOf" srcId="{721E5C8D-81C8-4951-A959-03401F044350}" destId="{BB119939-1B0B-4D92-88D6-25261C02255E}" srcOrd="1" destOrd="0" presId="urn:microsoft.com/office/officeart/2009/3/layout/HorizontalOrganizationChart"/>
    <dgm:cxn modelId="{1F2B7797-4722-47CB-984F-3E8C6367AAD2}" type="presParOf" srcId="{721E5C8D-81C8-4951-A959-03401F044350}" destId="{1B9FD227-11A4-47DF-9498-5EF53B24F81D}" srcOrd="2" destOrd="0" presId="urn:microsoft.com/office/officeart/2009/3/layout/HorizontalOrganizationChart"/>
    <dgm:cxn modelId="{EF380566-718D-4044-89D8-7010E42EF94E}" type="presParOf" srcId="{F529AAF3-9529-4905-B349-7CF858846FFF}" destId="{D2AE7613-3C80-46C6-AEB5-914810406613}" srcOrd="2" destOrd="0" presId="urn:microsoft.com/office/officeart/2009/3/layout/HorizontalOrganizationChart"/>
    <dgm:cxn modelId="{8F4194CD-C54E-4A64-8441-7EB054FAE003}" type="presParOf" srcId="{F529AAF3-9529-4905-B349-7CF858846FFF}" destId="{CF4F71AA-CF20-43A3-90B1-18FD49751CD6}" srcOrd="3" destOrd="0" presId="urn:microsoft.com/office/officeart/2009/3/layout/HorizontalOrganizationChart"/>
    <dgm:cxn modelId="{6C627EAF-75FB-4C3A-BCAB-0F97B4A02F95}" type="presParOf" srcId="{CF4F71AA-CF20-43A3-90B1-18FD49751CD6}" destId="{BCBD8353-9FAE-4618-B6CF-280412BB6558}" srcOrd="0" destOrd="0" presId="urn:microsoft.com/office/officeart/2009/3/layout/HorizontalOrganizationChart"/>
    <dgm:cxn modelId="{891F09D4-B031-4494-9623-598B6759CC71}" type="presParOf" srcId="{BCBD8353-9FAE-4618-B6CF-280412BB6558}" destId="{D5E3504B-5173-4FFC-8C2C-6BE086B520F0}" srcOrd="0" destOrd="0" presId="urn:microsoft.com/office/officeart/2009/3/layout/HorizontalOrganizationChart"/>
    <dgm:cxn modelId="{6EAD37F9-BC89-4DF4-B32B-D99E8B64709D}" type="presParOf" srcId="{BCBD8353-9FAE-4618-B6CF-280412BB6558}" destId="{0D3E30E5-2741-443F-8C17-FC343202FD7C}" srcOrd="1" destOrd="0" presId="urn:microsoft.com/office/officeart/2009/3/layout/HorizontalOrganizationChart"/>
    <dgm:cxn modelId="{469F4632-8E8C-44DB-8ED4-4C82476EC61B}" type="presParOf" srcId="{CF4F71AA-CF20-43A3-90B1-18FD49751CD6}" destId="{8AE17A48-2BC0-4B31-9895-6B4FCEF130A6}" srcOrd="1" destOrd="0" presId="urn:microsoft.com/office/officeart/2009/3/layout/HorizontalOrganizationChart"/>
    <dgm:cxn modelId="{A100FE87-12F4-4739-A7A7-C48B46E6A9F0}" type="presParOf" srcId="{CF4F71AA-CF20-43A3-90B1-18FD49751CD6}" destId="{2F177E23-9046-47B7-98C7-E8D438C68630}" srcOrd="2" destOrd="0" presId="urn:microsoft.com/office/officeart/2009/3/layout/HorizontalOrganizationChart"/>
    <dgm:cxn modelId="{D9A1AD70-C02D-4F8A-8897-37C6195A797E}" type="presParOf" srcId="{F4964200-AD23-4CC8-8261-1932EEF8C70A}" destId="{4232A20B-ECA0-4BCE-9321-061588FC6C56}" srcOrd="2" destOrd="0" presId="urn:microsoft.com/office/officeart/2009/3/layout/HorizontalOrganizationChart"/>
    <dgm:cxn modelId="{DD7A97F1-DD39-4A9E-A359-CB092E63A93D}" type="presParOf" srcId="{6DA2CDDE-0E92-44F5-8237-0D689DB97FEF}" destId="{F6E3D06E-214A-4E59-9B5A-22B0B774835F}" srcOrd="2" destOrd="0" presId="urn:microsoft.com/office/officeart/2009/3/layout/HorizontalOrganizationChart"/>
    <dgm:cxn modelId="{F25CF25A-B061-4474-9E7A-E04853128BB8}" type="presParOf" srcId="{6DA2CDDE-0E92-44F5-8237-0D689DB97FEF}" destId="{15F2DF12-6F79-4F47-8582-9B263B6799B1}" srcOrd="3" destOrd="0" presId="urn:microsoft.com/office/officeart/2009/3/layout/HorizontalOrganizationChart"/>
    <dgm:cxn modelId="{7CD55381-CDF5-41A4-8D48-9F96B8DAA97A}" type="presParOf" srcId="{15F2DF12-6F79-4F47-8582-9B263B6799B1}" destId="{55E4C3FB-EAEA-4718-8497-6D0738029660}" srcOrd="0" destOrd="0" presId="urn:microsoft.com/office/officeart/2009/3/layout/HorizontalOrganizationChart"/>
    <dgm:cxn modelId="{8686B43A-79D7-4986-8189-1CD73F00FD86}" type="presParOf" srcId="{55E4C3FB-EAEA-4718-8497-6D0738029660}" destId="{ACBFACFA-79CE-4240-8FE3-4068A490A061}" srcOrd="0" destOrd="0" presId="urn:microsoft.com/office/officeart/2009/3/layout/HorizontalOrganizationChart"/>
    <dgm:cxn modelId="{AD855EA6-B08B-47E9-AA71-E84A59C9F200}" type="presParOf" srcId="{55E4C3FB-EAEA-4718-8497-6D0738029660}" destId="{A8194F72-C60E-46C3-A8EA-602573CCEBE1}" srcOrd="1" destOrd="0" presId="urn:microsoft.com/office/officeart/2009/3/layout/HorizontalOrganizationChart"/>
    <dgm:cxn modelId="{4525D6E0-DEFC-4128-AF07-8A3D424A7DE2}" type="presParOf" srcId="{15F2DF12-6F79-4F47-8582-9B263B6799B1}" destId="{09FAC914-7BEB-4B5F-A9CC-9ED7839E208C}" srcOrd="1" destOrd="0" presId="urn:microsoft.com/office/officeart/2009/3/layout/HorizontalOrganizationChart"/>
    <dgm:cxn modelId="{D7E364E6-DA41-4CC5-AA70-81FB0E9C88FF}" type="presParOf" srcId="{09FAC914-7BEB-4B5F-A9CC-9ED7839E208C}" destId="{8F728BF3-21DE-43AF-8837-8540464EC969}" srcOrd="0" destOrd="0" presId="urn:microsoft.com/office/officeart/2009/3/layout/HorizontalOrganizationChart"/>
    <dgm:cxn modelId="{80A1D970-3CC5-4828-95C6-88E6AF880338}" type="presParOf" srcId="{09FAC914-7BEB-4B5F-A9CC-9ED7839E208C}" destId="{AAD3EADF-E3E7-4225-A278-F92DC0978D95}" srcOrd="1" destOrd="0" presId="urn:microsoft.com/office/officeart/2009/3/layout/HorizontalOrganizationChart"/>
    <dgm:cxn modelId="{CA0DE5D0-814C-4B07-9BC9-E8E2406B4E71}" type="presParOf" srcId="{AAD3EADF-E3E7-4225-A278-F92DC0978D95}" destId="{06EF2C10-BC92-4797-A094-600EAC0241C5}" srcOrd="0" destOrd="0" presId="urn:microsoft.com/office/officeart/2009/3/layout/HorizontalOrganizationChart"/>
    <dgm:cxn modelId="{6DFCC67E-975C-43E3-9574-A7716E5733BB}" type="presParOf" srcId="{06EF2C10-BC92-4797-A094-600EAC0241C5}" destId="{CA32E1BB-A7D1-4681-AFCC-9C06A0CF4925}" srcOrd="0" destOrd="0" presId="urn:microsoft.com/office/officeart/2009/3/layout/HorizontalOrganizationChart"/>
    <dgm:cxn modelId="{DD84519E-C575-44AA-8B7B-E70794F9117D}" type="presParOf" srcId="{06EF2C10-BC92-4797-A094-600EAC0241C5}" destId="{DC1BCCFB-14AD-4CE7-8ABE-438CAAB6181D}" srcOrd="1" destOrd="0" presId="urn:microsoft.com/office/officeart/2009/3/layout/HorizontalOrganizationChart"/>
    <dgm:cxn modelId="{3601C07B-B31C-4C40-B6F5-BA80C9BDD056}" type="presParOf" srcId="{AAD3EADF-E3E7-4225-A278-F92DC0978D95}" destId="{0CB92EEA-A45E-4A08-A8B3-544CC47BA394}" srcOrd="1" destOrd="0" presId="urn:microsoft.com/office/officeart/2009/3/layout/HorizontalOrganizationChart"/>
    <dgm:cxn modelId="{C211858C-25AC-4E72-AE0E-E6F0A0705BBF}" type="presParOf" srcId="{AAD3EADF-E3E7-4225-A278-F92DC0978D95}" destId="{C7F867EB-5307-43A7-BD00-C3814343306B}" srcOrd="2" destOrd="0" presId="urn:microsoft.com/office/officeart/2009/3/layout/HorizontalOrganizationChart"/>
    <dgm:cxn modelId="{669F49AF-D9BC-4A4B-88D7-D7AFB318AFB1}" type="presParOf" srcId="{09FAC914-7BEB-4B5F-A9CC-9ED7839E208C}" destId="{659E654E-A9F6-4456-B637-B686AD7F302A}" srcOrd="2" destOrd="0" presId="urn:microsoft.com/office/officeart/2009/3/layout/HorizontalOrganizationChart"/>
    <dgm:cxn modelId="{EA85AB97-C192-4874-B44D-D436EEEC2A6E}" type="presParOf" srcId="{09FAC914-7BEB-4B5F-A9CC-9ED7839E208C}" destId="{B3078831-9ECF-4D89-B13C-BC3143B79D3F}" srcOrd="3" destOrd="0" presId="urn:microsoft.com/office/officeart/2009/3/layout/HorizontalOrganizationChart"/>
    <dgm:cxn modelId="{5444966B-3F05-4209-A766-378A3831FFF3}" type="presParOf" srcId="{B3078831-9ECF-4D89-B13C-BC3143B79D3F}" destId="{026208C7-6C81-4ED1-91E6-DB914BA559D5}" srcOrd="0" destOrd="0" presId="urn:microsoft.com/office/officeart/2009/3/layout/HorizontalOrganizationChart"/>
    <dgm:cxn modelId="{3F48FE53-2672-456C-886E-0AB2AF856C0B}" type="presParOf" srcId="{026208C7-6C81-4ED1-91E6-DB914BA559D5}" destId="{5D1C96B3-C9AE-4C61-A3CE-96BA93BA35D2}" srcOrd="0" destOrd="0" presId="urn:microsoft.com/office/officeart/2009/3/layout/HorizontalOrganizationChart"/>
    <dgm:cxn modelId="{A56ED2AD-BFDC-4E61-9B58-AFEE741B2050}" type="presParOf" srcId="{026208C7-6C81-4ED1-91E6-DB914BA559D5}" destId="{37A613A6-8C88-4FCE-AAF7-71F5D4A89D6F}" srcOrd="1" destOrd="0" presId="urn:microsoft.com/office/officeart/2009/3/layout/HorizontalOrganizationChart"/>
    <dgm:cxn modelId="{E422C361-F1C8-4788-90FF-FE6AECE9A4A9}" type="presParOf" srcId="{B3078831-9ECF-4D89-B13C-BC3143B79D3F}" destId="{F6FAAD90-9023-45C4-B931-53B9D40866DC}" srcOrd="1" destOrd="0" presId="urn:microsoft.com/office/officeart/2009/3/layout/HorizontalOrganizationChart"/>
    <dgm:cxn modelId="{8AC6BF42-C075-4A3E-9F7D-315AB5C1280D}" type="presParOf" srcId="{B3078831-9ECF-4D89-B13C-BC3143B79D3F}" destId="{99CCEE5E-7A19-4DBA-A8A2-7AB377E78E23}" srcOrd="2" destOrd="0" presId="urn:microsoft.com/office/officeart/2009/3/layout/HorizontalOrganizationChart"/>
    <dgm:cxn modelId="{72316A4A-075A-4886-A002-6F4B41CF4634}" type="presParOf" srcId="{09FAC914-7BEB-4B5F-A9CC-9ED7839E208C}" destId="{14CAD866-257C-4CFC-B612-28721F791BC6}" srcOrd="4" destOrd="0" presId="urn:microsoft.com/office/officeart/2009/3/layout/HorizontalOrganizationChart"/>
    <dgm:cxn modelId="{3C25C9D7-BEBF-4779-8951-BDEA1F6D654D}" type="presParOf" srcId="{09FAC914-7BEB-4B5F-A9CC-9ED7839E208C}" destId="{CAF5FD82-4DF9-4B43-86D4-7405BB04A7DE}" srcOrd="5" destOrd="0" presId="urn:microsoft.com/office/officeart/2009/3/layout/HorizontalOrganizationChart"/>
    <dgm:cxn modelId="{7B2A6B9A-58B3-47FA-BB85-F85296C9852E}" type="presParOf" srcId="{CAF5FD82-4DF9-4B43-86D4-7405BB04A7DE}" destId="{79CCBB65-A714-4008-BFB2-4AB0F205D50D}" srcOrd="0" destOrd="0" presId="urn:microsoft.com/office/officeart/2009/3/layout/HorizontalOrganizationChart"/>
    <dgm:cxn modelId="{6E1292B7-C8E4-4109-ADFE-B8668E13710F}" type="presParOf" srcId="{79CCBB65-A714-4008-BFB2-4AB0F205D50D}" destId="{D797A488-9595-4BE0-A30A-964C8989070E}" srcOrd="0" destOrd="0" presId="urn:microsoft.com/office/officeart/2009/3/layout/HorizontalOrganizationChart"/>
    <dgm:cxn modelId="{3D59BA58-D073-4797-B891-C16CA81018CE}" type="presParOf" srcId="{79CCBB65-A714-4008-BFB2-4AB0F205D50D}" destId="{A4D697F4-A2A2-4322-BBCF-A49B349B17A8}" srcOrd="1" destOrd="0" presId="urn:microsoft.com/office/officeart/2009/3/layout/HorizontalOrganizationChart"/>
    <dgm:cxn modelId="{FD3A809F-7BF5-42AD-9A75-A1515F9981A4}" type="presParOf" srcId="{CAF5FD82-4DF9-4B43-86D4-7405BB04A7DE}" destId="{0BA5D82B-D77F-4DA5-8487-692D3A00BE16}" srcOrd="1" destOrd="0" presId="urn:microsoft.com/office/officeart/2009/3/layout/HorizontalOrganizationChart"/>
    <dgm:cxn modelId="{91090F18-0107-4466-A210-0AFC985765C5}" type="presParOf" srcId="{CAF5FD82-4DF9-4B43-86D4-7405BB04A7DE}" destId="{AF94D6B6-9C2A-4EFB-A431-5E64C520CE85}" srcOrd="2" destOrd="0" presId="urn:microsoft.com/office/officeart/2009/3/layout/HorizontalOrganizationChart"/>
    <dgm:cxn modelId="{2171DC0C-4FD3-423C-BB2A-D0EC8BB15E95}" type="presParOf" srcId="{15F2DF12-6F79-4F47-8582-9B263B6799B1}" destId="{40FB7C63-1976-4ABA-98A4-07C76BEE9B6F}" srcOrd="2" destOrd="0" presId="urn:microsoft.com/office/officeart/2009/3/layout/HorizontalOrganizationChart"/>
    <dgm:cxn modelId="{E7A4FAB7-4AB4-41F3-9AAE-C4AB74D3557E}" type="presParOf" srcId="{9DDC7766-85AF-4475-83E9-96850B18B345}" destId="{5ABAFD70-E1CE-49AA-A1C0-EBD7755F77F2}" srcOrd="2" destOrd="0" presId="urn:microsoft.com/office/officeart/2009/3/layout/HorizontalOrganizationChart"/>
    <dgm:cxn modelId="{B4E2A6EB-FA8C-481E-8DEB-F183B72C2423}" type="presParOf" srcId="{573390ED-7368-4F38-967F-7EA9C684A348}" destId="{2A81668F-3411-4306-8983-AC36DC69EB8E}" srcOrd="2" destOrd="0" presId="urn:microsoft.com/office/officeart/2009/3/layout/HorizontalOrganizationChart"/>
    <dgm:cxn modelId="{C2C85359-37D7-4B8F-A5F5-56221AC3A015}" type="presParOf" srcId="{2A81668F-3411-4306-8983-AC36DC69EB8E}" destId="{406411B0-3CD4-4A54-A0C5-1C1C399F91F1}" srcOrd="0" destOrd="0" presId="urn:microsoft.com/office/officeart/2009/3/layout/HorizontalOrganizationChart"/>
    <dgm:cxn modelId="{4C8ADADC-5AA1-4738-8C29-B50A24D8B6EE}" type="presParOf" srcId="{2A81668F-3411-4306-8983-AC36DC69EB8E}" destId="{C29FAFBA-6C68-490D-8B9F-23241A6B1E45}" srcOrd="1" destOrd="0" presId="urn:microsoft.com/office/officeart/2009/3/layout/HorizontalOrganizationChart"/>
    <dgm:cxn modelId="{89856FFA-3092-4E66-BB8C-DB2D254D03A1}" type="presParOf" srcId="{C29FAFBA-6C68-490D-8B9F-23241A6B1E45}" destId="{7020AD9F-A3E4-42AA-889C-C47EF33E8FD7}" srcOrd="0" destOrd="0" presId="urn:microsoft.com/office/officeart/2009/3/layout/HorizontalOrganizationChart"/>
    <dgm:cxn modelId="{F341715B-3823-4BAF-8CD9-10A1248BE029}" type="presParOf" srcId="{7020AD9F-A3E4-42AA-889C-C47EF33E8FD7}" destId="{1C91F63C-D6AF-4D45-A4E6-0E446A4749BD}" srcOrd="0" destOrd="0" presId="urn:microsoft.com/office/officeart/2009/3/layout/HorizontalOrganizationChart"/>
    <dgm:cxn modelId="{320228C9-800E-4A81-A51F-64B9A69796F0}" type="presParOf" srcId="{7020AD9F-A3E4-42AA-889C-C47EF33E8FD7}" destId="{50306C6E-93D6-47D7-8ADC-C73C29A184A8}" srcOrd="1" destOrd="0" presId="urn:microsoft.com/office/officeart/2009/3/layout/HorizontalOrganizationChart"/>
    <dgm:cxn modelId="{5ABC182D-F68C-4F6D-ADC2-7537B3F77E60}" type="presParOf" srcId="{C29FAFBA-6C68-490D-8B9F-23241A6B1E45}" destId="{128587A7-BBF7-42BA-9665-105AF31F4933}" srcOrd="1" destOrd="0" presId="urn:microsoft.com/office/officeart/2009/3/layout/HorizontalOrganizationChart"/>
    <dgm:cxn modelId="{1DD277C1-9A27-4669-9AF4-726820160358}" type="presParOf" srcId="{C29FAFBA-6C68-490D-8B9F-23241A6B1E45}" destId="{C58E3B9B-4EEB-4C94-B77F-5EB5CE3CB416}"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6411B0-3CD4-4A54-A0C5-1C1C399F91F1}">
      <dsp:nvSpPr>
        <dsp:cNvPr id="0" name=""/>
        <dsp:cNvSpPr/>
      </dsp:nvSpPr>
      <dsp:spPr>
        <a:xfrm>
          <a:off x="1905968" y="2094555"/>
          <a:ext cx="1327587" cy="118534"/>
        </a:xfrm>
        <a:custGeom>
          <a:avLst/>
          <a:gdLst/>
          <a:ahLst/>
          <a:cxnLst/>
          <a:rect l="0" t="0" r="0" b="0"/>
          <a:pathLst>
            <a:path>
              <a:moveTo>
                <a:pt x="0" y="118534"/>
              </a:moveTo>
              <a:lnTo>
                <a:pt x="1327587" y="118534"/>
              </a:lnTo>
              <a:lnTo>
                <a:pt x="1327587" y="0"/>
              </a:lnTo>
            </a:path>
          </a:pathLst>
        </a:custGeom>
        <a:noFill/>
        <a:ln w="6350" cap="flat" cmpd="sng" algn="ctr">
          <a:solidFill>
            <a:schemeClr val="accent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4CAD866-257C-4CFC-B612-28721F791BC6}">
      <dsp:nvSpPr>
        <dsp:cNvPr id="0" name=""/>
        <dsp:cNvSpPr/>
      </dsp:nvSpPr>
      <dsp:spPr>
        <a:xfrm>
          <a:off x="8733558" y="3232486"/>
          <a:ext cx="379310" cy="815517"/>
        </a:xfrm>
        <a:custGeom>
          <a:avLst/>
          <a:gdLst/>
          <a:ahLst/>
          <a:cxnLst/>
          <a:rect l="0" t="0" r="0" b="0"/>
          <a:pathLst>
            <a:path>
              <a:moveTo>
                <a:pt x="0" y="0"/>
              </a:moveTo>
              <a:lnTo>
                <a:pt x="189655" y="0"/>
              </a:lnTo>
              <a:lnTo>
                <a:pt x="189655" y="815517"/>
              </a:lnTo>
              <a:lnTo>
                <a:pt x="379310" y="815517"/>
              </a:lnTo>
            </a:path>
          </a:pathLst>
        </a:custGeom>
        <a:noFill/>
        <a:ln w="6350" cap="flat" cmpd="sng" algn="ctr">
          <a:solidFill>
            <a:schemeClr val="accent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59E654E-A9F6-4456-B637-B686AD7F302A}">
      <dsp:nvSpPr>
        <dsp:cNvPr id="0" name=""/>
        <dsp:cNvSpPr/>
      </dsp:nvSpPr>
      <dsp:spPr>
        <a:xfrm>
          <a:off x="8733558" y="3186766"/>
          <a:ext cx="379310" cy="91440"/>
        </a:xfrm>
        <a:custGeom>
          <a:avLst/>
          <a:gdLst/>
          <a:ahLst/>
          <a:cxnLst/>
          <a:rect l="0" t="0" r="0" b="0"/>
          <a:pathLst>
            <a:path>
              <a:moveTo>
                <a:pt x="0" y="45720"/>
              </a:moveTo>
              <a:lnTo>
                <a:pt x="379310" y="45720"/>
              </a:lnTo>
            </a:path>
          </a:pathLst>
        </a:custGeom>
        <a:noFill/>
        <a:ln w="6350" cap="flat" cmpd="sng" algn="ctr">
          <a:solidFill>
            <a:schemeClr val="accent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F728BF3-21DE-43AF-8837-8540464EC969}">
      <dsp:nvSpPr>
        <dsp:cNvPr id="0" name=""/>
        <dsp:cNvSpPr/>
      </dsp:nvSpPr>
      <dsp:spPr>
        <a:xfrm>
          <a:off x="8733558" y="2416969"/>
          <a:ext cx="379310" cy="815517"/>
        </a:xfrm>
        <a:custGeom>
          <a:avLst/>
          <a:gdLst/>
          <a:ahLst/>
          <a:cxnLst/>
          <a:rect l="0" t="0" r="0" b="0"/>
          <a:pathLst>
            <a:path>
              <a:moveTo>
                <a:pt x="0" y="815517"/>
              </a:moveTo>
              <a:lnTo>
                <a:pt x="189655" y="815517"/>
              </a:lnTo>
              <a:lnTo>
                <a:pt x="189655" y="0"/>
              </a:lnTo>
              <a:lnTo>
                <a:pt x="379310" y="0"/>
              </a:lnTo>
            </a:path>
          </a:pathLst>
        </a:custGeom>
        <a:noFill/>
        <a:ln w="6350" cap="flat" cmpd="sng" algn="ctr">
          <a:solidFill>
            <a:schemeClr val="accent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6E3D06E-214A-4E59-9B5A-22B0B774835F}">
      <dsp:nvSpPr>
        <dsp:cNvPr id="0" name=""/>
        <dsp:cNvSpPr/>
      </dsp:nvSpPr>
      <dsp:spPr>
        <a:xfrm>
          <a:off x="6457695" y="2213089"/>
          <a:ext cx="379310" cy="1019397"/>
        </a:xfrm>
        <a:custGeom>
          <a:avLst/>
          <a:gdLst/>
          <a:ahLst/>
          <a:cxnLst/>
          <a:rect l="0" t="0" r="0" b="0"/>
          <a:pathLst>
            <a:path>
              <a:moveTo>
                <a:pt x="0" y="0"/>
              </a:moveTo>
              <a:lnTo>
                <a:pt x="189655" y="0"/>
              </a:lnTo>
              <a:lnTo>
                <a:pt x="189655" y="1019397"/>
              </a:lnTo>
              <a:lnTo>
                <a:pt x="379310" y="1019397"/>
              </a:lnTo>
            </a:path>
          </a:pathLst>
        </a:custGeom>
        <a:noFill/>
        <a:ln w="6350" cap="flat" cmpd="sng" algn="ctr">
          <a:solidFill>
            <a:schemeClr val="accent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2AE7613-3C80-46C6-AEB5-914810406613}">
      <dsp:nvSpPr>
        <dsp:cNvPr id="0" name=""/>
        <dsp:cNvSpPr/>
      </dsp:nvSpPr>
      <dsp:spPr>
        <a:xfrm>
          <a:off x="8733558" y="1193692"/>
          <a:ext cx="379310" cy="407758"/>
        </a:xfrm>
        <a:custGeom>
          <a:avLst/>
          <a:gdLst/>
          <a:ahLst/>
          <a:cxnLst/>
          <a:rect l="0" t="0" r="0" b="0"/>
          <a:pathLst>
            <a:path>
              <a:moveTo>
                <a:pt x="0" y="0"/>
              </a:moveTo>
              <a:lnTo>
                <a:pt x="189655" y="0"/>
              </a:lnTo>
              <a:lnTo>
                <a:pt x="189655" y="407758"/>
              </a:lnTo>
              <a:lnTo>
                <a:pt x="379310" y="407758"/>
              </a:lnTo>
            </a:path>
          </a:pathLst>
        </a:custGeom>
        <a:noFill/>
        <a:ln w="6350" cap="flat" cmpd="sng" algn="ctr">
          <a:solidFill>
            <a:schemeClr val="accent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CF13A996-356B-4C34-A79F-EE966D797991}">
      <dsp:nvSpPr>
        <dsp:cNvPr id="0" name=""/>
        <dsp:cNvSpPr/>
      </dsp:nvSpPr>
      <dsp:spPr>
        <a:xfrm>
          <a:off x="8733558" y="785933"/>
          <a:ext cx="379310" cy="407758"/>
        </a:xfrm>
        <a:custGeom>
          <a:avLst/>
          <a:gdLst/>
          <a:ahLst/>
          <a:cxnLst/>
          <a:rect l="0" t="0" r="0" b="0"/>
          <a:pathLst>
            <a:path>
              <a:moveTo>
                <a:pt x="0" y="407758"/>
              </a:moveTo>
              <a:lnTo>
                <a:pt x="189655" y="407758"/>
              </a:lnTo>
              <a:lnTo>
                <a:pt x="189655" y="0"/>
              </a:lnTo>
              <a:lnTo>
                <a:pt x="379310" y="0"/>
              </a:lnTo>
            </a:path>
          </a:pathLst>
        </a:custGeom>
        <a:noFill/>
        <a:ln w="6350" cap="flat" cmpd="sng" algn="ctr">
          <a:solidFill>
            <a:schemeClr val="accent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7EBC0F99-40D3-4F2A-B50C-EC1FCFA37909}">
      <dsp:nvSpPr>
        <dsp:cNvPr id="0" name=""/>
        <dsp:cNvSpPr/>
      </dsp:nvSpPr>
      <dsp:spPr>
        <a:xfrm>
          <a:off x="6457695" y="1193692"/>
          <a:ext cx="379310" cy="1019397"/>
        </a:xfrm>
        <a:custGeom>
          <a:avLst/>
          <a:gdLst/>
          <a:ahLst/>
          <a:cxnLst/>
          <a:rect l="0" t="0" r="0" b="0"/>
          <a:pathLst>
            <a:path>
              <a:moveTo>
                <a:pt x="0" y="1019397"/>
              </a:moveTo>
              <a:lnTo>
                <a:pt x="189655" y="1019397"/>
              </a:lnTo>
              <a:lnTo>
                <a:pt x="189655" y="0"/>
              </a:lnTo>
              <a:lnTo>
                <a:pt x="379310" y="0"/>
              </a:lnTo>
            </a:path>
          </a:pathLst>
        </a:custGeom>
        <a:noFill/>
        <a:ln w="6350" cap="flat" cmpd="sng" algn="ctr">
          <a:solidFill>
            <a:schemeClr val="accent2">
              <a:shade val="8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F3EFA8D-23D4-4B33-A96F-155D61F10420}">
      <dsp:nvSpPr>
        <dsp:cNvPr id="0" name=""/>
        <dsp:cNvSpPr/>
      </dsp:nvSpPr>
      <dsp:spPr>
        <a:xfrm>
          <a:off x="1905968" y="2167369"/>
          <a:ext cx="2655174" cy="91440"/>
        </a:xfrm>
        <a:custGeom>
          <a:avLst/>
          <a:gdLst/>
          <a:ahLst/>
          <a:cxnLst/>
          <a:rect l="0" t="0" r="0" b="0"/>
          <a:pathLst>
            <a:path>
              <a:moveTo>
                <a:pt x="0" y="45720"/>
              </a:moveTo>
              <a:lnTo>
                <a:pt x="2655174" y="45720"/>
              </a:lnTo>
            </a:path>
          </a:pathLst>
        </a:custGeom>
        <a:noFill/>
        <a:ln w="6350" cap="flat" cmpd="sng" algn="ctr">
          <a:solidFill>
            <a:schemeClr val="accent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B7BED7C-5FA5-4781-9B1F-C416F492FE5C}">
      <dsp:nvSpPr>
        <dsp:cNvPr id="0" name=""/>
        <dsp:cNvSpPr/>
      </dsp:nvSpPr>
      <dsp:spPr>
        <a:xfrm>
          <a:off x="9415" y="1923865"/>
          <a:ext cx="1896552" cy="57844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kern="1200" dirty="0"/>
            <a:t>Question </a:t>
          </a:r>
          <a:r>
            <a:rPr lang="en-US" sz="1300" kern="1200" dirty="0"/>
            <a:t>:</a:t>
          </a:r>
          <a:br>
            <a:rPr lang="en-US" sz="1300" kern="1200" dirty="0"/>
          </a:br>
          <a:r>
            <a:rPr lang="en-US" sz="1300" kern="1200" dirty="0"/>
            <a:t> </a:t>
          </a:r>
          <a:r>
            <a:rPr lang="en-US" sz="1300" b="0" kern="1200" dirty="0"/>
            <a:t>What did Paul Graham do after RICS?</a:t>
          </a:r>
          <a:endParaRPr lang="en-US" sz="1300" kern="1200" dirty="0"/>
        </a:p>
      </dsp:txBody>
      <dsp:txXfrm>
        <a:off x="9415" y="1923865"/>
        <a:ext cx="1896552" cy="578448"/>
      </dsp:txXfrm>
    </dsp:sp>
    <dsp:sp modelId="{AC9CAA2E-2916-494C-805E-E99CABEEC773}">
      <dsp:nvSpPr>
        <dsp:cNvPr id="0" name=""/>
        <dsp:cNvSpPr/>
      </dsp:nvSpPr>
      <dsp:spPr>
        <a:xfrm>
          <a:off x="4561142" y="1923865"/>
          <a:ext cx="1896552" cy="57844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Router</a:t>
          </a:r>
        </a:p>
      </dsp:txBody>
      <dsp:txXfrm>
        <a:off x="4561142" y="1923865"/>
        <a:ext cx="1896552" cy="578448"/>
      </dsp:txXfrm>
    </dsp:sp>
    <dsp:sp modelId="{58E92068-03E1-4619-BFB0-E1899AD1CC9E}">
      <dsp:nvSpPr>
        <dsp:cNvPr id="0" name=""/>
        <dsp:cNvSpPr/>
      </dsp:nvSpPr>
      <dsp:spPr>
        <a:xfrm>
          <a:off x="6837006" y="904468"/>
          <a:ext cx="1896552" cy="57844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Vector index</a:t>
          </a:r>
        </a:p>
      </dsp:txBody>
      <dsp:txXfrm>
        <a:off x="6837006" y="904468"/>
        <a:ext cx="1896552" cy="578448"/>
      </dsp:txXfrm>
    </dsp:sp>
    <dsp:sp modelId="{C17A25A3-CA0D-4B31-A330-5E10CBE3A7F0}">
      <dsp:nvSpPr>
        <dsp:cNvPr id="0" name=""/>
        <dsp:cNvSpPr/>
      </dsp:nvSpPr>
      <dsp:spPr>
        <a:xfrm>
          <a:off x="9112869" y="496709"/>
          <a:ext cx="1896552" cy="57844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Retrieve</a:t>
          </a:r>
        </a:p>
      </dsp:txBody>
      <dsp:txXfrm>
        <a:off x="9112869" y="496709"/>
        <a:ext cx="1896552" cy="578448"/>
      </dsp:txXfrm>
    </dsp:sp>
    <dsp:sp modelId="{D5E3504B-5173-4FFC-8C2C-6BE086B520F0}">
      <dsp:nvSpPr>
        <dsp:cNvPr id="0" name=""/>
        <dsp:cNvSpPr/>
      </dsp:nvSpPr>
      <dsp:spPr>
        <a:xfrm>
          <a:off x="9112869" y="1312226"/>
          <a:ext cx="1896552" cy="57844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Answer</a:t>
          </a:r>
          <a:endParaRPr lang="en-US" sz="1300" kern="1200"/>
        </a:p>
      </dsp:txBody>
      <dsp:txXfrm>
        <a:off x="9112869" y="1312226"/>
        <a:ext cx="1896552" cy="578448"/>
      </dsp:txXfrm>
    </dsp:sp>
    <dsp:sp modelId="{ACBFACFA-79CE-4240-8FE3-4068A490A061}">
      <dsp:nvSpPr>
        <dsp:cNvPr id="0" name=""/>
        <dsp:cNvSpPr/>
      </dsp:nvSpPr>
      <dsp:spPr>
        <a:xfrm>
          <a:off x="6837006" y="2943262"/>
          <a:ext cx="1896552" cy="57844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Summary </a:t>
          </a:r>
          <a:r>
            <a:rPr lang="en-US" sz="1300" kern="1200" dirty="0"/>
            <a:t>tree</a:t>
          </a:r>
        </a:p>
      </dsp:txBody>
      <dsp:txXfrm>
        <a:off x="6837006" y="2943262"/>
        <a:ext cx="1896552" cy="578448"/>
      </dsp:txXfrm>
    </dsp:sp>
    <dsp:sp modelId="{CA32E1BB-A7D1-4681-AFCC-9C06A0CF4925}">
      <dsp:nvSpPr>
        <dsp:cNvPr id="0" name=""/>
        <dsp:cNvSpPr/>
      </dsp:nvSpPr>
      <dsp:spPr>
        <a:xfrm>
          <a:off x="9112869" y="2127744"/>
          <a:ext cx="1896552" cy="57844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Retrieve (multiple)</a:t>
          </a:r>
        </a:p>
      </dsp:txBody>
      <dsp:txXfrm>
        <a:off x="9112869" y="2127744"/>
        <a:ext cx="1896552" cy="578448"/>
      </dsp:txXfrm>
    </dsp:sp>
    <dsp:sp modelId="{5D1C96B3-C9AE-4C61-A3CE-96BA93BA35D2}">
      <dsp:nvSpPr>
        <dsp:cNvPr id="0" name=""/>
        <dsp:cNvSpPr/>
      </dsp:nvSpPr>
      <dsp:spPr>
        <a:xfrm>
          <a:off x="9112869" y="2943262"/>
          <a:ext cx="1896552" cy="57844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Summarize</a:t>
          </a:r>
        </a:p>
      </dsp:txBody>
      <dsp:txXfrm>
        <a:off x="9112869" y="2943262"/>
        <a:ext cx="1896552" cy="578448"/>
      </dsp:txXfrm>
    </dsp:sp>
    <dsp:sp modelId="{D797A488-9595-4BE0-A30A-964C8989070E}">
      <dsp:nvSpPr>
        <dsp:cNvPr id="0" name=""/>
        <dsp:cNvSpPr/>
      </dsp:nvSpPr>
      <dsp:spPr>
        <a:xfrm>
          <a:off x="9112869" y="3758780"/>
          <a:ext cx="1896552" cy="57844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Answer</a:t>
          </a:r>
        </a:p>
      </dsp:txBody>
      <dsp:txXfrm>
        <a:off x="9112869" y="3758780"/>
        <a:ext cx="1896552" cy="578448"/>
      </dsp:txXfrm>
    </dsp:sp>
    <dsp:sp modelId="{1C91F63C-D6AF-4D45-A4E6-0E446A4749BD}">
      <dsp:nvSpPr>
        <dsp:cNvPr id="0" name=""/>
        <dsp:cNvSpPr/>
      </dsp:nvSpPr>
      <dsp:spPr>
        <a:xfrm>
          <a:off x="2285279" y="1516106"/>
          <a:ext cx="1896552" cy="57844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Data store (index)</a:t>
          </a:r>
        </a:p>
      </dsp:txBody>
      <dsp:txXfrm>
        <a:off x="2285279" y="1516106"/>
        <a:ext cx="1896552" cy="578448"/>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FD81A2-E294-435B-B025-096A6056F161}" type="datetimeFigureOut">
              <a:t>6/9/2026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154621-C6DF-4905-BB03-F0AC512C4EC5}" type="slidenum">
              <a:t>‹#›</a:t>
            </a:fld>
            <a:endParaRPr lang="en-US"/>
          </a:p>
        </p:txBody>
      </p:sp>
    </p:spTree>
    <p:extLst>
      <p:ext uri="{BB962C8B-B14F-4D97-AF65-F5344CB8AC3E}">
        <p14:creationId xmlns:p14="http://schemas.microsoft.com/office/powerpoint/2010/main" val="3668769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1AEB71DA-26D9-4D79-A779-FB7CADD6B271}" type="slidenum">
              <a:t>1</a:t>
            </a:fld>
            <a:endParaRPr lang="en-US"/>
          </a:p>
        </p:txBody>
      </p:sp>
    </p:spTree>
    <p:extLst>
      <p:ext uri="{BB962C8B-B14F-4D97-AF65-F5344CB8AC3E}">
        <p14:creationId xmlns:p14="http://schemas.microsoft.com/office/powerpoint/2010/main" val="1588118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Retrieval-Augmented Generation, Core RAG Pipeline Components, Benefits of RAG in Enterprise Environments, Challenges and Limitations of RAG</a:t>
            </a:r>
          </a:p>
        </p:txBody>
      </p:sp>
      <p:sp>
        <p:nvSpPr>
          <p:cNvPr id="4" name="Slide Number Placeholder 3"/>
          <p:cNvSpPr>
            <a:spLocks noGrp="1"/>
          </p:cNvSpPr>
          <p:nvPr>
            <p:ph type="sldNum" sz="quarter" idx="5"/>
          </p:nvPr>
        </p:nvSpPr>
        <p:spPr/>
        <p:txBody>
          <a:bodyPr/>
          <a:lstStyle/>
          <a:p>
            <a:fld id="{1AEB71DA-26D9-4D79-A779-FB7CADD6B271}" type="slidenum">
              <a:t>2</a:t>
            </a:fld>
            <a:endParaRPr lang="en-US"/>
          </a:p>
        </p:txBody>
      </p:sp>
    </p:spTree>
    <p:extLst>
      <p:ext uri="{BB962C8B-B14F-4D97-AF65-F5344CB8AC3E}">
        <p14:creationId xmlns:p14="http://schemas.microsoft.com/office/powerpoint/2010/main" val="1761322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Retrieval-Augmented Generation (RAG) is a hybrid AI architecture that enhances large language models (LLMs) by grounding their responses in external knowledge sources. Traditional LLMs rely solely on their training data, which leads to hallucinations when answering questions outside their knowledge scope. RAG addresses this limitation by dynamically retrieving relevant data from external sources such as enterprise documents, databases, or knowledge repositories. The process begins by converting documents into vector embeddings using models like BGE Large or MiniLM. These embeddings are stored in vector databases such as FAISS or ChromaDB. When a user query is submitted, it is also embedded and compared against stored vectors to retrieve the most relevant chunks. These retrieved chunks are then passed to the LLM as contextual input, allowing it to generate accurate and grounded responses. For example, in a corporate compliance system, instead of relying on outdated model knowledge, RAG retrieves the latest policy documents before generating answers. Companies like Microsoft and OpenAI have integrated RAG into enterprise solutions to improve reliability in knowledge-intensive domains. The approach is especially valuable for industries like healthcare, legal, and finance, where accuracy is critical. By combining retrieval with generation, RAG creates a powerful system that reduces hallucinations, improves factual correctness, and enables real-time knowledge integration without retraining models.</a:t>
            </a:r>
          </a:p>
        </p:txBody>
      </p:sp>
      <p:sp>
        <p:nvSpPr>
          <p:cNvPr id="4" name="Slide Number Placeholder 3"/>
          <p:cNvSpPr>
            <a:spLocks noGrp="1"/>
          </p:cNvSpPr>
          <p:nvPr>
            <p:ph type="sldNum" sz="quarter" idx="5"/>
          </p:nvPr>
        </p:nvSpPr>
        <p:spPr/>
        <p:txBody>
          <a:bodyPr/>
          <a:lstStyle/>
          <a:p>
            <a:fld id="{1AEB71DA-26D9-4D79-A779-FB7CADD6B271}" type="slidenum">
              <a:t>3</a:t>
            </a:fld>
            <a:endParaRPr lang="en-US"/>
          </a:p>
        </p:txBody>
      </p:sp>
    </p:spTree>
    <p:extLst>
      <p:ext uri="{BB962C8B-B14F-4D97-AF65-F5344CB8AC3E}">
        <p14:creationId xmlns:p14="http://schemas.microsoft.com/office/powerpoint/2010/main" val="1125664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RAG pipeline consists of four essential components that work together to deliver accurate and context-aware responses. First, document ingestion involves collecting and preprocessing data from sources such as PDFs, databases, and APIs. These documents are then converted into embeddings using models like E5 Large or GTE Large, transforming textual information into numerical vectors. The second component is the vector database, which stores embeddings and allows efficient similarity search. Tools like Qdrant, Milvus, and ChromaDB are commonly used in enterprise deployments. Third, the retrieval layer searches for the most relevant chunks using algorithms such as cosine similarity or approximate nearest neighbor search. Hybrid retrieval methods combine vector search with keyword-based techniques to improve accuracy. Finally, the generation component uses an LLM, such as Qwen or LLaMA, to produce responses based on retrieved context. For example, a customer support chatbot may retrieve troubleshooting guides from internal documentation before generating a response. This pipeline ensures that outputs are both contextually relevant and grounded in authoritative data. The effectiveness of each component directly impacts overall system performance, making optimization critical. Techniques like chunking strategies, embedding selection, and retrieval tuning play a significant role in achieving high-quality results. Enterprises often customize each stage to meet specific requirements, ensuring scalability, performance, and compliance with data privacy regulations.</a:t>
            </a:r>
          </a:p>
        </p:txBody>
      </p:sp>
      <p:sp>
        <p:nvSpPr>
          <p:cNvPr id="4" name="Slide Number Placeholder 3"/>
          <p:cNvSpPr>
            <a:spLocks noGrp="1"/>
          </p:cNvSpPr>
          <p:nvPr>
            <p:ph type="sldNum" sz="quarter" idx="5"/>
          </p:nvPr>
        </p:nvSpPr>
        <p:spPr/>
        <p:txBody>
          <a:bodyPr/>
          <a:lstStyle/>
          <a:p>
            <a:fld id="{1AEB71DA-26D9-4D79-A779-FB7CADD6B271}" type="slidenum">
              <a:t>6</a:t>
            </a:fld>
            <a:endParaRPr lang="en-US"/>
          </a:p>
        </p:txBody>
      </p:sp>
    </p:spTree>
    <p:extLst>
      <p:ext uri="{BB962C8B-B14F-4D97-AF65-F5344CB8AC3E}">
        <p14:creationId xmlns:p14="http://schemas.microsoft.com/office/powerpoint/2010/main" val="4772785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RAG provides significant advantages for enterprise AI deployments, particularly in environments requiring high accuracy, data privacy, and scalability. One key benefit is the reduction of hallucinations, as the system retrieves real data rather than relying solely on pre-trained knowledge. This is crucial in industries like finance and legal services, where incorrect information can have serious consequences. Another advantage is real-time knowledge updates. Unlike fine-tuned models, which require retraining to incorporate new data, RAG systems can immediately access updated information from connected sources. For example, a telecom company can update its support knowledge base without retraining its chatbot. Additionally, RAG supports data privacy and compliance by enabling on-premise deployments. Organizations in regions like the UAE or UK can keep sensitive data within their infrastructure, avoiding cloud-based risks. Cost efficiency is another benefit, as RAG reduces the need for expensive model retraining. Instead, improvements can be made by optimizing retrieval strategies or updating data sources. Furthermore, RAG enables personalization by tailoring responses based on user-specific data. For instance, a banking assistant can retrieve customer-specific financial records to provide contextual advice. These advantages make RAG a preferred solution for enterprise AI, offering a balance between flexibility, accuracy, and security while supporting diverse use cases across industries.</a:t>
            </a:r>
          </a:p>
        </p:txBody>
      </p:sp>
      <p:sp>
        <p:nvSpPr>
          <p:cNvPr id="4" name="Slide Number Placeholder 3"/>
          <p:cNvSpPr>
            <a:spLocks noGrp="1"/>
          </p:cNvSpPr>
          <p:nvPr>
            <p:ph type="sldNum" sz="quarter" idx="5"/>
          </p:nvPr>
        </p:nvSpPr>
        <p:spPr/>
        <p:txBody>
          <a:bodyPr/>
          <a:lstStyle/>
          <a:p>
            <a:fld id="{1AEB71DA-26D9-4D79-A779-FB7CADD6B271}" type="slidenum">
              <a:t>7</a:t>
            </a:fld>
            <a:endParaRPr lang="en-US"/>
          </a:p>
        </p:txBody>
      </p:sp>
    </p:spTree>
    <p:extLst>
      <p:ext uri="{BB962C8B-B14F-4D97-AF65-F5344CB8AC3E}">
        <p14:creationId xmlns:p14="http://schemas.microsoft.com/office/powerpoint/2010/main" val="638497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Despite its advantages, RAG introduces several challenges that must be addressed to ensure reliable performance. One major limitation is retrieval accuracy. If the system retrieves irrelevant or low-quality data, the generated response may still be incorrect. This issue is often mitigated through re-ranking techniques and hybrid search methods. Another challenge is latency, as the retrieval process adds additional computation compared to standard LLM inference. High-performance vector databases like Qdrant and optimized inference engines such as vLLM can help reduce delays. Data preprocessing is also critical; poorly structured documents can lead to ineffective embeddings and retrieval errors. Additionally, RAG systems require careful chunking strategies. For example, splitting documents into overly small chunks may lose context, while large chunks may reduce retrieval precision. Security and access control present another concern, particularly in multi-tenant environments. Enterprises must ensure that sensitive data is only accessible to authorized users. Furthermore, system complexity increases with advanced RAG techniques such as agentic workflows or graph-based retrieval. Maintaining and debugging these systems requires specialized expertise. Finally, evaluation remains a challenge, as measuring the quality of generated responses involves both retrieval accuracy and generation performance. Tools like Ragas and DeepEval are often used to assess system effectiveness. Addressing these challenges is essential for building robust and scalable RAG solutions that meet enterprise requirements.</a:t>
            </a:r>
          </a:p>
        </p:txBody>
      </p:sp>
      <p:sp>
        <p:nvSpPr>
          <p:cNvPr id="4" name="Slide Number Placeholder 3"/>
          <p:cNvSpPr>
            <a:spLocks noGrp="1"/>
          </p:cNvSpPr>
          <p:nvPr>
            <p:ph type="sldNum" sz="quarter" idx="5"/>
          </p:nvPr>
        </p:nvSpPr>
        <p:spPr/>
        <p:txBody>
          <a:bodyPr/>
          <a:lstStyle/>
          <a:p>
            <a:fld id="{1AEB71DA-26D9-4D79-A779-FB7CADD6B271}" type="slidenum">
              <a:t>8</a:t>
            </a:fld>
            <a:endParaRPr lang="en-US"/>
          </a:p>
        </p:txBody>
      </p:sp>
    </p:spTree>
    <p:extLst>
      <p:ext uri="{BB962C8B-B14F-4D97-AF65-F5344CB8AC3E}">
        <p14:creationId xmlns:p14="http://schemas.microsoft.com/office/powerpoint/2010/main" val="3872172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178C5-9829-8906-D940-49527ABDEB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3809E0-1C9F-C92F-9C44-4C0DE2C117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23259-67C0-0947-B776-5B22600AE2AC}"/>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17941C2C-1AAB-2E18-BAF0-8F01335A5FDE}"/>
              </a:ext>
            </a:extLst>
          </p:cNvPr>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52BB299C-B5E1-D162-F68E-2D1A0EB1B8F6}"/>
              </a:ext>
            </a:extLst>
          </p:cNvPr>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5A1B540-EE5C-2205-9501-F9046B217922}"/>
              </a:ext>
            </a:extLst>
          </p:cNvPr>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49B14B72-BE03-4760-B747-D349DA60D861}"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6/9/2026 12:31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56308BBA-33A6-3A96-D92D-CFF008F59AC1}"/>
              </a:ext>
            </a:extLst>
          </p:cNvPr>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76623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666E3-DC89-7213-BDDE-02AD064573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3446CB-CD9F-D0D8-A3DA-9D60A33152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CB09AF-DD56-AB98-83E9-3628F0594A1B}"/>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6E1F0641-03FD-D5F7-21A4-9A80066AFEFF}"/>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287C23F6-6498-C6F9-F337-8226884B789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D639219-10A0-CF27-90F1-CBDCB9E1DE4B}"/>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6/9/2026 12:31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A1DF46F2-E567-67C1-898D-F6089CE92A7D}"/>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911467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Basic and Advanced RAG, RAG Fusion and Multi-Query Retrieval, Graph-Based RAG for Complex Data, Agentic and Memory-Driven RAG</a:t>
            </a:r>
          </a:p>
        </p:txBody>
      </p:sp>
      <p:sp>
        <p:nvSpPr>
          <p:cNvPr id="4" name="Slide Number Placeholder 3"/>
          <p:cNvSpPr>
            <a:spLocks noGrp="1"/>
          </p:cNvSpPr>
          <p:nvPr>
            <p:ph type="sldNum" sz="quarter" idx="5"/>
          </p:nvPr>
        </p:nvSpPr>
        <p:spPr/>
        <p:txBody>
          <a:bodyPr/>
          <a:lstStyle/>
          <a:p>
            <a:fld id="{1AEB71DA-26D9-4D79-A779-FB7CADD6B271}" type="slidenum">
              <a:t>11</a:t>
            </a:fld>
            <a:endParaRPr lang="en-US"/>
          </a:p>
        </p:txBody>
      </p:sp>
    </p:spTree>
    <p:extLst>
      <p:ext uri="{BB962C8B-B14F-4D97-AF65-F5344CB8AC3E}">
        <p14:creationId xmlns:p14="http://schemas.microsoft.com/office/powerpoint/2010/main" val="2529405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RAG Fusion is an advanced retrieval technique designed to improve recall by generating multiple variations of a user query and combining the results. Instead of relying on a single query, the system creates multiple semantically related queries, each retrieving its own set of relevant documents. These results are then merged and refined to produce a comprehensive answer. This approach addresses the limitations of traditional RAG, where a single query may fail to capture all relevant information. For example, a legal research assistant might generate queries using synonyms or different phrasing to ensure comprehensive coverage of case law. Multi-query retrieval is particularly effective in domains with complex or ambiguous language. It also improves performance in multilingual environments by generating queries in multiple languages. However, RAG Fusion introduces additional computational overhead, as multiple retrieval operations are required. Optimizations such as parallel processing and efficient vector indexing can mitigate this challenge. This technique is widely used in research and enterprise applications where completeness is critical. By combining multiple perspectives, RAG Fusion enhances the depth and breadth of retrieved information, resulting in more accurate and informative responses.</a:t>
            </a:r>
          </a:p>
        </p:txBody>
      </p:sp>
      <p:sp>
        <p:nvSpPr>
          <p:cNvPr id="4" name="Slide Number Placeholder 3"/>
          <p:cNvSpPr>
            <a:spLocks noGrp="1"/>
          </p:cNvSpPr>
          <p:nvPr>
            <p:ph type="sldNum" sz="quarter" idx="5"/>
          </p:nvPr>
        </p:nvSpPr>
        <p:spPr/>
        <p:txBody>
          <a:bodyPr/>
          <a:lstStyle/>
          <a:p>
            <a:fld id="{1AEB71DA-26D9-4D79-A779-FB7CADD6B271}" type="slidenum">
              <a:t>12</a:t>
            </a:fld>
            <a:endParaRPr lang="en-US"/>
          </a:p>
        </p:txBody>
      </p:sp>
    </p:spTree>
    <p:extLst>
      <p:ext uri="{BB962C8B-B14F-4D97-AF65-F5344CB8AC3E}">
        <p14:creationId xmlns:p14="http://schemas.microsoft.com/office/powerpoint/2010/main" val="16794770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Graph RAG represents a sophisticated evolution of retrieval-augmented generation, leveraging knowledge graphs to model relationships between entities. Unlike traditional vector-based approaches, which focus on semantic similarity, graph-based retrieval captures structured relationships, enabling deeper reasoning. In this approach, documents are transformed into nodes and edges, representing entities and their connections. For example, in a financial system, a graph may link companies, transactions, and regulatory requirements. When a query is submitted, the system traverses the graph to identify relevant paths and relationships, providing context-rich responses. Companies like Microsoft have explored Graph RAG for enterprise applications involving complex datasets. This approach is particularly effective in domains such as healthcare, compliance, and telecommunications, where understanding relationships is critical. However, building and maintaining knowledge graphs requires significant effort, including data extraction, entity recognition, and relationship mapping. Graph RAG also introduces computational complexity, as graph traversal can be resource-intensive. Despite these challenges, the approach offers unparalleled accuracy for complex queries, enabling multi-hop reasoning and contextual understanding that traditional RAG cannot achieve.</a:t>
            </a:r>
          </a:p>
        </p:txBody>
      </p:sp>
      <p:sp>
        <p:nvSpPr>
          <p:cNvPr id="4" name="Slide Number Placeholder 3"/>
          <p:cNvSpPr>
            <a:spLocks noGrp="1"/>
          </p:cNvSpPr>
          <p:nvPr>
            <p:ph type="sldNum" sz="quarter" idx="5"/>
          </p:nvPr>
        </p:nvSpPr>
        <p:spPr/>
        <p:txBody>
          <a:bodyPr/>
          <a:lstStyle/>
          <a:p>
            <a:fld id="{1AEB71DA-26D9-4D79-A779-FB7CADD6B271}" type="slidenum">
              <a:t>13</a:t>
            </a:fld>
            <a:endParaRPr lang="en-US"/>
          </a:p>
        </p:txBody>
      </p:sp>
    </p:spTree>
    <p:extLst>
      <p:ext uri="{BB962C8B-B14F-4D97-AF65-F5344CB8AC3E}">
        <p14:creationId xmlns:p14="http://schemas.microsoft.com/office/powerpoint/2010/main" val="2581999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Agentic RAG introduces autonomous decision-making capabilities into the retrieval process. In this architecture, an AI agent determines how to handle queries, including rewriting them, selecting retrieval strategies, and invoking tools. For example, an enterprise assistant may decide to query a database, retrieve documents, and perform calculations before generating a response. This approach enables multi-step reasoning and dynamic workflows, making it ideal for complex enterprise tasks. Memory RAG, on the other hand, focuses on storing and utilizing past interactions to provide personalized responses. It allows systems to maintain context across sessions, improving user experience. For instance, a customer service chatbot can remember previous interactions and provide tailored support. Combining agentic and memory-driven approaches creates highly adaptive systems capable of handling diverse scenarios. However, these architectures require careful design to manage complexity and ensure reliability. Tools like LangGraph are often used to implement agentic workflows, while vector databases store memory embeddings. These advanced RAG techniques represent the future of AI systems, enabling more intelligent, context-aware, and personalized interactions.</a:t>
            </a:r>
          </a:p>
        </p:txBody>
      </p:sp>
      <p:sp>
        <p:nvSpPr>
          <p:cNvPr id="4" name="Slide Number Placeholder 3"/>
          <p:cNvSpPr>
            <a:spLocks noGrp="1"/>
          </p:cNvSpPr>
          <p:nvPr>
            <p:ph type="sldNum" sz="quarter" idx="5"/>
          </p:nvPr>
        </p:nvSpPr>
        <p:spPr/>
        <p:txBody>
          <a:bodyPr/>
          <a:lstStyle/>
          <a:p>
            <a:fld id="{1AEB71DA-26D9-4D79-A779-FB7CADD6B271}" type="slidenum">
              <a:t>15</a:t>
            </a:fld>
            <a:endParaRPr lang="en-US"/>
          </a:p>
        </p:txBody>
      </p:sp>
    </p:spTree>
    <p:extLst>
      <p:ext uri="{BB962C8B-B14F-4D97-AF65-F5344CB8AC3E}">
        <p14:creationId xmlns:p14="http://schemas.microsoft.com/office/powerpoint/2010/main" val="2113303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Fine-Tuning Large Language Models, Knowledge Graphs as an Alternative, Hybrid Approaches Combining RAG and Fine-Tuning, SQL and Database-Driven AI Systems</a:t>
            </a:r>
          </a:p>
        </p:txBody>
      </p:sp>
      <p:sp>
        <p:nvSpPr>
          <p:cNvPr id="4" name="Slide Number Placeholder 3"/>
          <p:cNvSpPr>
            <a:spLocks noGrp="1"/>
          </p:cNvSpPr>
          <p:nvPr>
            <p:ph type="sldNum" sz="quarter" idx="5"/>
          </p:nvPr>
        </p:nvSpPr>
        <p:spPr/>
        <p:txBody>
          <a:bodyPr/>
          <a:lstStyle/>
          <a:p>
            <a:fld id="{1AEB71DA-26D9-4D79-A779-FB7CADD6B271}" type="slidenum">
              <a:t>16</a:t>
            </a:fld>
            <a:endParaRPr lang="en-US"/>
          </a:p>
        </p:txBody>
      </p:sp>
    </p:spTree>
    <p:extLst>
      <p:ext uri="{BB962C8B-B14F-4D97-AF65-F5344CB8AC3E}">
        <p14:creationId xmlns:p14="http://schemas.microsoft.com/office/powerpoint/2010/main" val="6739812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Fine-tuning involves training a pre-existing language model on domain-specific data to improve its performance for particular tasks. Unlike RAG, which retrieves external information dynamically, fine-tuned models rely on internalized knowledge learned during training. This approach is particularly effective for structured tasks such as classification, sentiment analysis, or domain-specific language generation. For example, a healthcare organization may fine-tune a model on medical records to improve diagnostic recommendations. However, fine-tuning has limitations, including the need for large labeled datasets and significant computational resources. Additionally, updating knowledge requires retraining the model, which can be costly and time-consuming. Fine-tuning also struggles with dynamic information, as it cannot access real-time data. Despite these challenges, it remains a powerful technique for tasks requiring consistent output style or specialized knowledge. Many organizations use fine-tuning in combination with RAG to achieve the best of both worlds, leveraging RAG for factual accuracy and fine-tuning for domain-specific behavior.</a:t>
            </a:r>
          </a:p>
        </p:txBody>
      </p:sp>
      <p:sp>
        <p:nvSpPr>
          <p:cNvPr id="4" name="Slide Number Placeholder 3"/>
          <p:cNvSpPr>
            <a:spLocks noGrp="1"/>
          </p:cNvSpPr>
          <p:nvPr>
            <p:ph type="sldNum" sz="quarter" idx="5"/>
          </p:nvPr>
        </p:nvSpPr>
        <p:spPr/>
        <p:txBody>
          <a:bodyPr/>
          <a:lstStyle/>
          <a:p>
            <a:fld id="{1AEB71DA-26D9-4D79-A779-FB7CADD6B271}" type="slidenum">
              <a:t>17</a:t>
            </a:fld>
            <a:endParaRPr lang="en-US"/>
          </a:p>
        </p:txBody>
      </p:sp>
    </p:spTree>
    <p:extLst>
      <p:ext uri="{BB962C8B-B14F-4D97-AF65-F5344CB8AC3E}">
        <p14:creationId xmlns:p14="http://schemas.microsoft.com/office/powerpoint/2010/main" val="12189716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Knowledge graphs provide a structured approach to representing information, capturing relationships between entities in a way that enables precise reasoning. Unlike RAG, which relies on unstructured text retrieval, knowledge graphs focus on explicit relationships. This makes them particularly suitable for domains such as finance, compliance, and telecommunications. For example, a telecom company may use a knowledge graph to map network components and dependencies, enabling efficient troubleshooting. Knowledge graphs offer high accuracy and explainability, as relationships are explicitly defined. However, building and maintaining them requires significant effort, including data curation and ontology design. They also lack the flexibility of RAG when dealing with unstructured data. Despite these limitations, knowledge graphs remain a valuable alternative for applications requiring structured reasoning and high reliability.</a:t>
            </a:r>
          </a:p>
        </p:txBody>
      </p:sp>
      <p:sp>
        <p:nvSpPr>
          <p:cNvPr id="4" name="Slide Number Placeholder 3"/>
          <p:cNvSpPr>
            <a:spLocks noGrp="1"/>
          </p:cNvSpPr>
          <p:nvPr>
            <p:ph type="sldNum" sz="quarter" idx="5"/>
          </p:nvPr>
        </p:nvSpPr>
        <p:spPr/>
        <p:txBody>
          <a:bodyPr/>
          <a:lstStyle/>
          <a:p>
            <a:fld id="{1AEB71DA-26D9-4D79-A779-FB7CADD6B271}" type="slidenum">
              <a:t>18</a:t>
            </a:fld>
            <a:endParaRPr lang="en-US"/>
          </a:p>
        </p:txBody>
      </p:sp>
    </p:spTree>
    <p:extLst>
      <p:ext uri="{BB962C8B-B14F-4D97-AF65-F5344CB8AC3E}">
        <p14:creationId xmlns:p14="http://schemas.microsoft.com/office/powerpoint/2010/main" val="18260299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Hybrid approaches combine RAG with fine-tuning to leverage the strengths of both methods. In this setup, RAG provides real-time access to external knowledge, while fine-tuning ensures consistent style and domain-specific behavior. For example, a financial advisory system may use RAG to retrieve up-to-date market data while relying on a fine-tuned model to generate responses in a professional tone. This approach addresses the limitations of each method individually, offering improved accuracy and flexibility. However, implementing hybrid systems requires careful integration and optimization. Organizations must balance retrieval performance with model training costs, ensuring that both components work seamlessly together.</a:t>
            </a:r>
          </a:p>
        </p:txBody>
      </p:sp>
      <p:sp>
        <p:nvSpPr>
          <p:cNvPr id="4" name="Slide Number Placeholder 3"/>
          <p:cNvSpPr>
            <a:spLocks noGrp="1"/>
          </p:cNvSpPr>
          <p:nvPr>
            <p:ph type="sldNum" sz="quarter" idx="5"/>
          </p:nvPr>
        </p:nvSpPr>
        <p:spPr/>
        <p:txBody>
          <a:bodyPr/>
          <a:lstStyle/>
          <a:p>
            <a:fld id="{1AEB71DA-26D9-4D79-A779-FB7CADD6B271}" type="slidenum">
              <a:t>19</a:t>
            </a:fld>
            <a:endParaRPr lang="en-US"/>
          </a:p>
        </p:txBody>
      </p:sp>
    </p:spTree>
    <p:extLst>
      <p:ext uri="{BB962C8B-B14F-4D97-AF65-F5344CB8AC3E}">
        <p14:creationId xmlns:p14="http://schemas.microsoft.com/office/powerpoint/2010/main" val="34690634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SQL-based AI systems represent another alternative to RAG, particularly for structured data environments. In this approach, the language model generates SQL queries based on user input, which are executed against a database to retrieve exact results. This eliminates hallucinations, as responses are grounded in verified data. For example, a business intelligence system may allow users to query sales data using natural language, with the LLM translating queries into SQL. While this approach ensures accuracy, it is limited to structured datasets and lacks the flexibility of RAG for unstructured information. Nevertheless, it is widely used in enterprise applications where precision is critical.</a:t>
            </a:r>
          </a:p>
        </p:txBody>
      </p:sp>
      <p:sp>
        <p:nvSpPr>
          <p:cNvPr id="4" name="Slide Number Placeholder 3"/>
          <p:cNvSpPr>
            <a:spLocks noGrp="1"/>
          </p:cNvSpPr>
          <p:nvPr>
            <p:ph type="sldNum" sz="quarter" idx="5"/>
          </p:nvPr>
        </p:nvSpPr>
        <p:spPr/>
        <p:txBody>
          <a:bodyPr/>
          <a:lstStyle/>
          <a:p>
            <a:fld id="{1AEB71DA-26D9-4D79-A779-FB7CADD6B271}" type="slidenum">
              <a:t>20</a:t>
            </a:fld>
            <a:endParaRPr lang="en-US"/>
          </a:p>
        </p:txBody>
      </p:sp>
    </p:spTree>
    <p:extLst>
      <p:ext uri="{BB962C8B-B14F-4D97-AF65-F5344CB8AC3E}">
        <p14:creationId xmlns:p14="http://schemas.microsoft.com/office/powerpoint/2010/main" val="15438766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Local Vector Databases, Embedding Models for Local Deployment, Local LLM Runtimes and Frameworks, Recommended Enterprise Local RAG Stack</a:t>
            </a:r>
          </a:p>
        </p:txBody>
      </p:sp>
      <p:sp>
        <p:nvSpPr>
          <p:cNvPr id="4" name="Slide Number Placeholder 3"/>
          <p:cNvSpPr>
            <a:spLocks noGrp="1"/>
          </p:cNvSpPr>
          <p:nvPr>
            <p:ph type="sldNum" sz="quarter" idx="5"/>
          </p:nvPr>
        </p:nvSpPr>
        <p:spPr/>
        <p:txBody>
          <a:bodyPr/>
          <a:lstStyle/>
          <a:p>
            <a:fld id="{1AEB71DA-26D9-4D79-A779-FB7CADD6B271}" type="slidenum">
              <a:t>21</a:t>
            </a:fld>
            <a:endParaRPr lang="en-US"/>
          </a:p>
        </p:txBody>
      </p:sp>
    </p:spTree>
    <p:extLst>
      <p:ext uri="{BB962C8B-B14F-4D97-AF65-F5344CB8AC3E}">
        <p14:creationId xmlns:p14="http://schemas.microsoft.com/office/powerpoint/2010/main" val="36610171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Local vector databases are a critical component of non-cloud RAG systems, enabling efficient storage and retrieval of embeddings. Popular options include FAISS, which is known for its high performance and scalability, and ChromaDB, which offers ease of use with a Python-native interface. Qdrant, built in Rust, provides high-speed operations and advanced filtering capabilities, making it suitable for production environments. Milvus supports distributed deployments, allowing organizations to scale their systems for large datasets. Weaviate offers hybrid search capabilities, combining vector and keyword-based retrieval. Lightweight options like Annoy and HNSWlib are ideal for smaller projects with limited hardware resources. Choosing the right database depends on factors such as dataset size, performance requirements, and deployment constraints. These tools enable organizations to build fully offline RAG systems, ensuring data privacy and compliance.</a:t>
            </a:r>
          </a:p>
        </p:txBody>
      </p:sp>
      <p:sp>
        <p:nvSpPr>
          <p:cNvPr id="4" name="Slide Number Placeholder 3"/>
          <p:cNvSpPr>
            <a:spLocks noGrp="1"/>
          </p:cNvSpPr>
          <p:nvPr>
            <p:ph type="sldNum" sz="quarter" idx="5"/>
          </p:nvPr>
        </p:nvSpPr>
        <p:spPr/>
        <p:txBody>
          <a:bodyPr/>
          <a:lstStyle/>
          <a:p>
            <a:fld id="{1AEB71DA-26D9-4D79-A779-FB7CADD6B271}" type="slidenum">
              <a:t>22</a:t>
            </a:fld>
            <a:endParaRPr lang="en-US"/>
          </a:p>
        </p:txBody>
      </p:sp>
    </p:spTree>
    <p:extLst>
      <p:ext uri="{BB962C8B-B14F-4D97-AF65-F5344CB8AC3E}">
        <p14:creationId xmlns:p14="http://schemas.microsoft.com/office/powerpoint/2010/main" val="30357015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Embedding models convert textual data into numerical vectors, forming the foundation of RAG systems. Popular local models include BGE Large, E5 Large, and GTE Large, which offer high accuracy for semantic search tasks. Lightweight options like MiniLM are suitable for environments with limited computational resources. Nomic Embed provides a balance between performance and efficiency, making it a versatile choice. These models can run on CPU or GPU, enabling flexible deployment in enterprise environments. Selecting the right embedding model is crucial, as it directly impacts retrieval accuracy and system performance.</a:t>
            </a:r>
          </a:p>
        </p:txBody>
      </p:sp>
      <p:sp>
        <p:nvSpPr>
          <p:cNvPr id="4" name="Slide Number Placeholder 3"/>
          <p:cNvSpPr>
            <a:spLocks noGrp="1"/>
          </p:cNvSpPr>
          <p:nvPr>
            <p:ph type="sldNum" sz="quarter" idx="5"/>
          </p:nvPr>
        </p:nvSpPr>
        <p:spPr/>
        <p:txBody>
          <a:bodyPr/>
          <a:lstStyle/>
          <a:p>
            <a:fld id="{1AEB71DA-26D9-4D79-A779-FB7CADD6B271}" type="slidenum">
              <a:t>23</a:t>
            </a:fld>
            <a:endParaRPr lang="en-US"/>
          </a:p>
        </p:txBody>
      </p:sp>
    </p:spTree>
    <p:extLst>
      <p:ext uri="{BB962C8B-B14F-4D97-AF65-F5344CB8AC3E}">
        <p14:creationId xmlns:p14="http://schemas.microsoft.com/office/powerpoint/2010/main" val="15914554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Local LLM runtimes enable organizations to run language models without relying on cloud services. Tools like Ollama and LM Studio provide user-friendly interfaces for deploying models locally, while GPT4All offers CPU-friendly options. High-performance runtimes like vLLM support efficient inference for large-scale deployments. Frameworks such as LangChain, LangGraph, and LlamaIndex facilitate the development of RAG pipelines, providing modular components for ingestion, retrieval, and generation. Haystack and FastRAG offer production-ready solutions with advanced features. These tools allow enterprises to build scalable, secure, and fully offline AI systems.</a:t>
            </a:r>
          </a:p>
        </p:txBody>
      </p:sp>
      <p:sp>
        <p:nvSpPr>
          <p:cNvPr id="4" name="Slide Number Placeholder 3"/>
          <p:cNvSpPr>
            <a:spLocks noGrp="1"/>
          </p:cNvSpPr>
          <p:nvPr>
            <p:ph type="sldNum" sz="quarter" idx="5"/>
          </p:nvPr>
        </p:nvSpPr>
        <p:spPr/>
        <p:txBody>
          <a:bodyPr/>
          <a:lstStyle/>
          <a:p>
            <a:fld id="{1AEB71DA-26D9-4D79-A779-FB7CADD6B271}" type="slidenum">
              <a:t>24</a:t>
            </a:fld>
            <a:endParaRPr lang="en-US"/>
          </a:p>
        </p:txBody>
      </p:sp>
    </p:spTree>
    <p:extLst>
      <p:ext uri="{BB962C8B-B14F-4D97-AF65-F5344CB8AC3E}">
        <p14:creationId xmlns:p14="http://schemas.microsoft.com/office/powerpoint/2010/main" val="7439340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RAG Overview and Core Concept, Types of RAG Systems in Practice, Best Enterprise Vector Databases, Open-Source Pipeline Management Tools, LlamaIndex for Enterprise RAG, RAG Tooling and Design Patterns, Best Practices for Enterprise RAG, Enterprise RAG System Architecture, Recommended Enterprise RAG Stack</a:t>
            </a:r>
          </a:p>
        </p:txBody>
      </p:sp>
      <p:sp>
        <p:nvSpPr>
          <p:cNvPr id="4" name="Slide Number Placeholder 3"/>
          <p:cNvSpPr>
            <a:spLocks noGrp="1"/>
          </p:cNvSpPr>
          <p:nvPr>
            <p:ph type="sldNum" sz="quarter" idx="5"/>
          </p:nvPr>
        </p:nvSpPr>
        <p:spPr/>
        <p:txBody>
          <a:bodyPr/>
          <a:lstStyle/>
          <a:p>
            <a:fld id="{336DDE06-48A3-4EE8-8D69-228DE865E167}" type="slidenum">
              <a:t>25</a:t>
            </a:fld>
            <a:endParaRPr lang="en-US"/>
          </a:p>
        </p:txBody>
      </p:sp>
    </p:spTree>
    <p:extLst>
      <p:ext uri="{BB962C8B-B14F-4D97-AF65-F5344CB8AC3E}">
        <p14:creationId xmlns:p14="http://schemas.microsoft.com/office/powerpoint/2010/main" val="12452564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Retrieval-Augmented Generation (RAG) is a modern AI architecture that combines large language models (LLMs) with external knowledge retrieval systems to produce accurate, context-aware responses. Instead of relying solely on pretrained knowledge, which can become outdated or incomplete, RAG dynamically retrieves relevant information from documents or databases before generating a response. The process typically begins by converting documents into vector embeddings using models like BGE or E5, which capture semantic meaning. These embeddings are then stored in a vector database such as Qdrant or Milvus. When a user submits a query, it is also embedded and compared against stored vectors to retrieve the most relevant chunks. These retrieved pieces are passed into the LLM as context, ensuring grounded and factual responses. For example, in enterprise environments such as banking in the UAE, RAG can retrieve compliance documents and generate accurate regulatory answers. Similarly, in healthcare, it can pull patient guidelines for clinical decision support. The key advantage of RAG is that it reduces hallucination, improves accuracy, and allows systems to remain updated without retraining models. As organizations shift toward on-premise AI deployments, especially in regions with strict data privacy regulations like Dubai and the EU, RAG provides a scalable, secure, and efficient approach to leveraging AI while keeping sensitive data local.</a:t>
            </a:r>
          </a:p>
        </p:txBody>
      </p:sp>
      <p:sp>
        <p:nvSpPr>
          <p:cNvPr id="4" name="Slide Number Placeholder 3"/>
          <p:cNvSpPr>
            <a:spLocks noGrp="1"/>
          </p:cNvSpPr>
          <p:nvPr>
            <p:ph type="sldNum" sz="quarter" idx="5"/>
          </p:nvPr>
        </p:nvSpPr>
        <p:spPr/>
        <p:txBody>
          <a:bodyPr/>
          <a:lstStyle/>
          <a:p>
            <a:fld id="{336DDE06-48A3-4EE8-8D69-228DE865E167}" type="slidenum">
              <a:t>26</a:t>
            </a:fld>
            <a:endParaRPr lang="en-US"/>
          </a:p>
        </p:txBody>
      </p:sp>
    </p:spTree>
    <p:extLst>
      <p:ext uri="{BB962C8B-B14F-4D97-AF65-F5344CB8AC3E}">
        <p14:creationId xmlns:p14="http://schemas.microsoft.com/office/powerpoint/2010/main" val="42768658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RAG systems have evolved beyond basic retrieval pipelines into sophisticated architectures designed to handle complex enterprise requirements. Basic RAG involves simple vector similarity search and is suitable for small datasets with minimal reasoning needs. Advanced RAG introduces enhancements such as re-ranking retrieved results, query rewriting, and hybrid search that combines keyword-based (BM25) and vector similarity approaches. RAG Fusion further improves retrieval by generating multiple query variations, retrieving results for each, and merging them to increase recall accuracy. Graph RAG introduces structured knowledge representation by building knowledge graphs from documents, making it ideal for enterprise sectors like telecom and finance, where relationships between entities matter. Agentic RAG takes it further by incorporating autonomous agents that can decide which tools to use, rewrite queries, and perform multi-step reasoning, often using frameworks like LangGraph. Memory RAG enables long-term context retention by storing past interactions, allowing systems to personalize responses over time. For example, a customer support chatbot in a telecom company can remember previous issues and offer context-aware solutions. Each type of RAG represents a step toward more intelligent, adaptive, and enterprise-ready AI systems. Choosing the right type depends on data complexity, scale, and use case requirements.</a:t>
            </a:r>
          </a:p>
        </p:txBody>
      </p:sp>
      <p:sp>
        <p:nvSpPr>
          <p:cNvPr id="4" name="Slide Number Placeholder 3"/>
          <p:cNvSpPr>
            <a:spLocks noGrp="1"/>
          </p:cNvSpPr>
          <p:nvPr>
            <p:ph type="sldNum" sz="quarter" idx="5"/>
          </p:nvPr>
        </p:nvSpPr>
        <p:spPr/>
        <p:txBody>
          <a:bodyPr/>
          <a:lstStyle/>
          <a:p>
            <a:fld id="{336DDE06-48A3-4EE8-8D69-228DE865E167}" type="slidenum">
              <a:t>27</a:t>
            </a:fld>
            <a:endParaRPr lang="en-US"/>
          </a:p>
        </p:txBody>
      </p:sp>
    </p:spTree>
    <p:extLst>
      <p:ext uri="{BB962C8B-B14F-4D97-AF65-F5344CB8AC3E}">
        <p14:creationId xmlns:p14="http://schemas.microsoft.com/office/powerpoint/2010/main" val="4953774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Choosing the right vector database is critical for enterprise RAG performance, scalability, and reliability. Qdrant is widely considered one of the best overall options due to its high performance, efficient Rust-based architecture, and native support for filtering and hybrid search. Milvus is another strong choice for large-scale deployments, offering distributed architecture and high throughput, making it suitable for telecom or large banking datasets. Weaviate stands out for its hybrid search capabilities and modular architecture, allowing developers to integrate additional machine learning components easily. ChromaDB is ideal for development and prototyping due to its simplicity and Python-native design, but it may not scale as well as enterprise-grade solutions. FAISS, developed by Meta, is extremely fast for local vector search but lacks built-in orchestration and persistence features, making it better suited as a backend component rather than a full solution. Enterprises in regions like the UAE often prioritize on-premise solutions, making Qdrant and Milvus particularly attractive due to their strong local deployment support. Factors to consider when selecting a vector database include latency, scalability, filtering capabilities, hybrid search support, and ease of integration with RAG frameworks. Proper selection can significantly impact retrieval accuracy and system efficiency.</a:t>
            </a:r>
          </a:p>
        </p:txBody>
      </p:sp>
      <p:sp>
        <p:nvSpPr>
          <p:cNvPr id="4" name="Slide Number Placeholder 3"/>
          <p:cNvSpPr>
            <a:spLocks noGrp="1"/>
          </p:cNvSpPr>
          <p:nvPr>
            <p:ph type="sldNum" sz="quarter" idx="5"/>
          </p:nvPr>
        </p:nvSpPr>
        <p:spPr/>
        <p:txBody>
          <a:bodyPr/>
          <a:lstStyle/>
          <a:p>
            <a:fld id="{336DDE06-48A3-4EE8-8D69-228DE865E167}" type="slidenum">
              <a:t>28</a:t>
            </a:fld>
            <a:endParaRPr lang="en-US"/>
          </a:p>
        </p:txBody>
      </p:sp>
    </p:spTree>
    <p:extLst>
      <p:ext uri="{BB962C8B-B14F-4D97-AF65-F5344CB8AC3E}">
        <p14:creationId xmlns:p14="http://schemas.microsoft.com/office/powerpoint/2010/main" val="17576137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Pipeline management is essential for orchestrating RAG workflows, especially in complex enterprise environments. LangGraph has emerged as a leading framework for building agentic pipelines, enabling developers to create multi-step reasoning systems with decision-making capabilities. It is particularly useful for constructing AI agents that can dynamically interact with tools, APIs, and databases. LlamaIndex plays a complementary role by focusing on data ingestion, indexing, and query orchestration, making it an ideal backbone for enterprise RAG systems. Haystack is another robust framework designed for production-grade pipelines, offering modular components for retrieval, ranking, and generation. For broader workflow orchestration beyond AI-specific tasks, tools like Apache Airflow and Prefect are highly effective. Airflow is widely used for scheduling and managing data pipelines, while Prefect offers a more modern approach with better developer experience and observability features. In enterprise scenarios such as financial institutions, these tools enable structured workflows that ensure reliability, monitoring, and scalability. For example, a pipeline could include document ingestion, embedding generation, indexing, retrieval, and response generation, all orchestrated through these tools. Selecting the right pipeline management solution ensures that RAG systems remain maintainable, scalable, and production-ready.</a:t>
            </a:r>
          </a:p>
        </p:txBody>
      </p:sp>
      <p:sp>
        <p:nvSpPr>
          <p:cNvPr id="4" name="Slide Number Placeholder 3"/>
          <p:cNvSpPr>
            <a:spLocks noGrp="1"/>
          </p:cNvSpPr>
          <p:nvPr>
            <p:ph type="sldNum" sz="quarter" idx="5"/>
          </p:nvPr>
        </p:nvSpPr>
        <p:spPr/>
        <p:txBody>
          <a:bodyPr/>
          <a:lstStyle/>
          <a:p>
            <a:fld id="{336DDE06-48A3-4EE8-8D69-228DE865E167}" type="slidenum">
              <a:t>29</a:t>
            </a:fld>
            <a:endParaRPr lang="en-US"/>
          </a:p>
        </p:txBody>
      </p:sp>
    </p:spTree>
    <p:extLst>
      <p:ext uri="{BB962C8B-B14F-4D97-AF65-F5344CB8AC3E}">
        <p14:creationId xmlns:p14="http://schemas.microsoft.com/office/powerpoint/2010/main" val="8674450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LlamaIndex has become a cornerstone technology for building enterprise RAG systems due to its powerful data indexing and query capabilities. It provides a flexible framework for connecting various data sources, including PDFs, databases, APIs, and cloud storage, allowing organizations to centralize their knowledge base. One of its key strengths is its support for multiple indexing strategies, such as vector indexes, tree indexes, and keyword indexes, enabling tailored retrieval approaches for different use cases. LlamaIndex also offers query engines that allow developers to build custom retrieval pipelines, integrating seamlessly with vector databases like Qdrant and Milvus. In real-world applications, companies use LlamaIndex to build internal knowledge assistants that can retrieve HR policies, legal documents, or technical manuals. Another advantage is its compatibility with various LLMs and embedding models, making it highly adaptable to on-premise deployments. For example, pairing LlamaIndex with Ollama and Qwen models allows enterprises to maintain full data privacy. Additionally, LlamaIndex supports advanced features like metadata filtering and contextual compression, which improve retrieval accuracy and efficiency. Overall, it serves as a critical layer in enterprise RAG architectures, enabling efficient data handling and intelligent query processing.</a:t>
            </a:r>
          </a:p>
        </p:txBody>
      </p:sp>
      <p:sp>
        <p:nvSpPr>
          <p:cNvPr id="4" name="Slide Number Placeholder 3"/>
          <p:cNvSpPr>
            <a:spLocks noGrp="1"/>
          </p:cNvSpPr>
          <p:nvPr>
            <p:ph type="sldNum" sz="quarter" idx="5"/>
          </p:nvPr>
        </p:nvSpPr>
        <p:spPr/>
        <p:txBody>
          <a:bodyPr/>
          <a:lstStyle/>
          <a:p>
            <a:fld id="{336DDE06-48A3-4EE8-8D69-228DE865E167}" type="slidenum">
              <a:t>36</a:t>
            </a:fld>
            <a:endParaRPr lang="en-US"/>
          </a:p>
        </p:txBody>
      </p:sp>
    </p:spTree>
    <p:extLst>
      <p:ext uri="{BB962C8B-B14F-4D97-AF65-F5344CB8AC3E}">
        <p14:creationId xmlns:p14="http://schemas.microsoft.com/office/powerpoint/2010/main" val="36440864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Effective RAG implementations rely on proven design patterns that enhance retrieval accuracy and system performance. One common pattern is the retriever plus re-ranker approach, where initial results are retrieved using vector similarity and then refined using a re-ranking model for better relevance. Multi-query RAG is another powerful pattern, where multiple variations of a query are generated to improve recall, particularly useful in complex enterprise queries. Hybrid search combines keyword-based methods like BM25 with vector similarity to capture both lexical and semantic relevance. Tool-augmented agents represent a growing trend, where RAG systems integrate with external tools such as APIs or databases to perform tasks beyond simple retrieval. Another emerging pattern is combining graph-based and vector-based retrieval, enabling systems to leverage both structured and unstructured data. For example, a telecom company might use graph RAG to understand customer relationships and vector search to retrieve support documents. These patterns are essential for building robust AI systems capable of handling diverse and complex queries. By adopting these strategies, organizations can significantly improve the effectiveness, scalability, and reliability of their RAG implementations.</a:t>
            </a:r>
          </a:p>
        </p:txBody>
      </p:sp>
      <p:sp>
        <p:nvSpPr>
          <p:cNvPr id="4" name="Slide Number Placeholder 3"/>
          <p:cNvSpPr>
            <a:spLocks noGrp="1"/>
          </p:cNvSpPr>
          <p:nvPr>
            <p:ph type="sldNum" sz="quarter" idx="5"/>
          </p:nvPr>
        </p:nvSpPr>
        <p:spPr/>
        <p:txBody>
          <a:bodyPr/>
          <a:lstStyle/>
          <a:p>
            <a:fld id="{336DDE06-48A3-4EE8-8D69-228DE865E167}" type="slidenum">
              <a:t>37</a:t>
            </a:fld>
            <a:endParaRPr lang="en-US"/>
          </a:p>
        </p:txBody>
      </p:sp>
    </p:spTree>
    <p:extLst>
      <p:ext uri="{BB962C8B-B14F-4D97-AF65-F5344CB8AC3E}">
        <p14:creationId xmlns:p14="http://schemas.microsoft.com/office/powerpoint/2010/main" val="36835103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Implementing RAG effectively requires adherence to best practices that optimize performance and accuracy. One critical factor is chunking strategy, where documents are divided into segments of approximately 300 to 800 tokens to balance context and retrieval precision. Metadata tagging is another essential practice, allowing systems to filter results based on attributes such as date, source, or category. Hybrid search should be used whenever possible to combine keyword and semantic retrieval, ensuring comprehensive coverage. Evaluation is equally important, and tools like Ragas enable organizations to measure retrieval quality, faithfulness, and answer relevance. Monitoring system performance, including latency and recall rates, is crucial for maintaining a high-quality user experience. Additionally, embedding model selection plays a significant role, with models like BGE Large providing strong semantic representations. Security and privacy considerations are also paramount, especially for on-premise deployments in regions with strict regulations. For example, enterprises in Dubai often require fully local solutions to comply with data sovereignty laws. By following these best practices, organizations can build reliable, scalable, and high-performance RAG systems that meet enterprise standards.</a:t>
            </a:r>
          </a:p>
        </p:txBody>
      </p:sp>
      <p:sp>
        <p:nvSpPr>
          <p:cNvPr id="4" name="Slide Number Placeholder 3"/>
          <p:cNvSpPr>
            <a:spLocks noGrp="1"/>
          </p:cNvSpPr>
          <p:nvPr>
            <p:ph type="sldNum" sz="quarter" idx="5"/>
          </p:nvPr>
        </p:nvSpPr>
        <p:spPr/>
        <p:txBody>
          <a:bodyPr/>
          <a:lstStyle/>
          <a:p>
            <a:fld id="{336DDE06-48A3-4EE8-8D69-228DE865E167}" type="slidenum">
              <a:t>38</a:t>
            </a:fld>
            <a:endParaRPr lang="en-US"/>
          </a:p>
        </p:txBody>
      </p:sp>
    </p:spTree>
    <p:extLst>
      <p:ext uri="{BB962C8B-B14F-4D97-AF65-F5344CB8AC3E}">
        <p14:creationId xmlns:p14="http://schemas.microsoft.com/office/powerpoint/2010/main" val="7358914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well-designed enterprise RAG architecture consists of multiple layers that work together to deliver accurate and scalable AI solutions. The ingestion layer is responsible for collecting and preprocessing data from various sources, such as documents, databases, and APIs. The embedding layer converts this data into vector representations using models like BGE or E5. These embeddings are stored in a vector database, which forms the core retrieval layer. The retrieval and orchestration layer uses frameworks like LangGraph or LlamaIndex to manage query processing, retrieval logic, and interactions with the LLM. Finally, the inference layer, powered by local LLM runtimes such as Ollama or vLLM, generates responses based on retrieved context. This layered architecture ensures modularity, scalability, and maintainability. For example, a bank in the UAE could use this architecture to build a secure internal knowledge assistant that retrieves compliance documents and generates accurate responses in real time. The modular design also allows organizations to upgrade individual components without affecting the entire system. By adopting this structured approach, enterprises can build robust RAG systems that meet performance, security, and scalability requirements.</a:t>
            </a:r>
          </a:p>
        </p:txBody>
      </p:sp>
      <p:sp>
        <p:nvSpPr>
          <p:cNvPr id="4" name="Slide Number Placeholder 3"/>
          <p:cNvSpPr>
            <a:spLocks noGrp="1"/>
          </p:cNvSpPr>
          <p:nvPr>
            <p:ph type="sldNum" sz="quarter" idx="5"/>
          </p:nvPr>
        </p:nvSpPr>
        <p:spPr/>
        <p:txBody>
          <a:bodyPr/>
          <a:lstStyle/>
          <a:p>
            <a:fld id="{336DDE06-48A3-4EE8-8D69-228DE865E167}" type="slidenum">
              <a:t>39</a:t>
            </a:fld>
            <a:endParaRPr lang="en-US"/>
          </a:p>
        </p:txBody>
      </p:sp>
    </p:spTree>
    <p:extLst>
      <p:ext uri="{BB962C8B-B14F-4D97-AF65-F5344CB8AC3E}">
        <p14:creationId xmlns:p14="http://schemas.microsoft.com/office/powerpoint/2010/main" val="34459708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recommended enterprise-grade RAG stack focuses on performance, scalability, and full local deployment capabilities. At the core, Ollama serves as the local LLM runtime, enabling efficient inference without relying on cloud services. Models like Qwen 7B or 14B provide a strong balance between performance and resource usage, making them suitable for enterprise environments. For embeddings, BGE Large is a top choice due to its high accuracy and support for multiple languages. Qdrant is recommended as the vector database because of its speed, filtering capabilities, and ease of deployment. LangGraph handles orchestration and enables agentic workflows, allowing systems to dynamically adapt to complex queries. LlamaIndex complements this by managing data ingestion and indexing, ensuring efficient retrieval. Finally, Ragas is used for evaluation, providing insights into system performance and helping teams optimize their pipelines. This stack is particularly well-suited for enterprises in regions like the UAE and the UK, where data privacy and on-premise deployment are critical. By using this combination of tools, organizations can build a fully local, scalable, and high-performance RAG system that meets modern enterprise requirements.</a:t>
            </a:r>
          </a:p>
        </p:txBody>
      </p:sp>
      <p:sp>
        <p:nvSpPr>
          <p:cNvPr id="4" name="Slide Number Placeholder 3"/>
          <p:cNvSpPr>
            <a:spLocks noGrp="1"/>
          </p:cNvSpPr>
          <p:nvPr>
            <p:ph type="sldNum" sz="quarter" idx="5"/>
          </p:nvPr>
        </p:nvSpPr>
        <p:spPr/>
        <p:txBody>
          <a:bodyPr/>
          <a:lstStyle/>
          <a:p>
            <a:fld id="{336DDE06-48A3-4EE8-8D69-228DE865E167}" type="slidenum">
              <a:t>40</a:t>
            </a:fld>
            <a:endParaRPr lang="en-US"/>
          </a:p>
        </p:txBody>
      </p:sp>
    </p:spTree>
    <p:extLst>
      <p:ext uri="{BB962C8B-B14F-4D97-AF65-F5344CB8AC3E}">
        <p14:creationId xmlns:p14="http://schemas.microsoft.com/office/powerpoint/2010/main" val="31811740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userDrawn="1"/>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21359139-99F8-4B6E-8834-95F2B9D91EE4}" type="datetime1">
              <a:rPr lang="en-US" smtClean="0"/>
              <a:pPr/>
              <a:t>6/9/2026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690281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44BE14B8-5058-4271-B378-2217DE83796E}" type="datetime1">
              <a:rPr lang="en-US" smtClean="0"/>
              <a:pPr/>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6115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userDrawn="1"/>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679FB602-DB7A-4B0E-854D-FB51F38BB0AA}" type="datetime1">
              <a:rPr lang="en-US" smtClean="0"/>
              <a:pPr/>
              <a:t>6/9/2026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971628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C35E5011-9B67-D528-E120-F5ABBF8FE5A5}"/>
              </a:ext>
            </a:extLst>
          </p:cNvPr>
          <p:cNvPicPr>
            <a:picLocks noChangeAspect="1"/>
          </p:cNvPicPr>
          <p:nvPr userDrawn="1"/>
        </p:nvPicPr>
        <p:blipFill>
          <a:blip r:embed="rId2">
            <a:extLst>
              <a:ext uri="{28A0092B-C50C-407E-A947-70E740481C1C}">
                <a14:useLocalDpi xmlns:a14="http://schemas.microsoft.com/office/drawing/2010/main" val="0"/>
              </a:ext>
            </a:extLst>
          </a:blip>
          <a:srcRect l="8525" r="1082" b="9618"/>
          <a:stretch>
            <a:fillRect/>
          </a:stretch>
        </p:blipFill>
        <p:spPr>
          <a:xfrm>
            <a:off x="-13716" y="0"/>
            <a:ext cx="12205716" cy="6858000"/>
          </a:xfrm>
          <a:prstGeom prst="rect">
            <a:avLst/>
          </a:prstGeom>
        </p:spPr>
      </p:pic>
      <p:sp>
        <p:nvSpPr>
          <p:cNvPr id="8" name="Title 7">
            <a:extLst>
              <a:ext uri="{FF2B5EF4-FFF2-40B4-BE49-F238E27FC236}">
                <a16:creationId xmlns:a16="http://schemas.microsoft.com/office/drawing/2014/main" id="{C9965342-2954-67DF-2693-F39C0B9F8272}"/>
              </a:ext>
            </a:extLst>
          </p:cNvPr>
          <p:cNvSpPr>
            <a:spLocks noGrp="1"/>
          </p:cNvSpPr>
          <p:nvPr>
            <p:ph type="title"/>
          </p:nvPr>
        </p:nvSpPr>
        <p:spPr>
          <a:xfrm>
            <a:off x="420791" y="426598"/>
            <a:ext cx="9942409" cy="671387"/>
          </a:xfrm>
        </p:spPr>
        <p:txBody>
          <a:bodyPr/>
          <a:lstStyle>
            <a:lvl1pPr>
              <a:defRPr sz="42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FEB4B13F-216B-09EA-9E05-12FBA70B8251}"/>
              </a:ext>
            </a:extLst>
          </p:cNvPr>
          <p:cNvSpPr>
            <a:spLocks noGrp="1"/>
          </p:cNvSpPr>
          <p:nvPr>
            <p:ph type="subTitle" idx="1"/>
          </p:nvPr>
        </p:nvSpPr>
        <p:spPr>
          <a:xfrm>
            <a:off x="433413" y="1097985"/>
            <a:ext cx="3704199" cy="103561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58793" y="6357493"/>
            <a:ext cx="2703777" cy="338328"/>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36185" y="6357493"/>
            <a:ext cx="2258646" cy="338328"/>
          </a:xfrm>
        </p:spPr>
        <p:txBody>
          <a:bodyPr/>
          <a:lstStyle>
            <a:lvl1pPr>
              <a:defRPr>
                <a:solidFill>
                  <a:schemeClr val="tx1"/>
                </a:solidFill>
              </a:defRPr>
            </a:lvl1pPr>
          </a:lstStyle>
          <a:p>
            <a:fld id="{5472F7A5-01BF-4366-9757-1F523CD5236A}" type="datetime1">
              <a:rPr lang="en-US" smtClean="0"/>
              <a:pPr/>
              <a:t>6/9/2026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57493"/>
            <a:ext cx="457200"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971225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4">
    <p:spTree>
      <p:nvGrpSpPr>
        <p:cNvPr id="1" name=""/>
        <p:cNvGrpSpPr/>
        <p:nvPr/>
      </p:nvGrpSpPr>
      <p:grpSpPr>
        <a:xfrm>
          <a:off x="0" y="0"/>
          <a:ext cx="0" cy="0"/>
          <a:chOff x="0" y="0"/>
          <a:chExt cx="0" cy="0"/>
        </a:xfrm>
      </p:grpSpPr>
      <p:pic>
        <p:nvPicPr>
          <p:cNvPr id="10" name="Picture 9" descr="A close up of a colorful object&#10;&#10;AI-generated content may be incorrect.">
            <a:extLst>
              <a:ext uri="{FF2B5EF4-FFF2-40B4-BE49-F238E27FC236}">
                <a16:creationId xmlns:a16="http://schemas.microsoft.com/office/drawing/2014/main" id="{056372A1-E778-B10F-98CF-995841167A8A}"/>
              </a:ext>
            </a:extLst>
          </p:cNvPr>
          <p:cNvPicPr>
            <a:picLocks noChangeAspect="1"/>
          </p:cNvPicPr>
          <p:nvPr userDrawn="1"/>
        </p:nvPicPr>
        <p:blipFill>
          <a:blip r:embed="rId2">
            <a:extLst>
              <a:ext uri="{28A0092B-C50C-407E-A947-70E740481C1C}">
                <a14:useLocalDpi xmlns:a14="http://schemas.microsoft.com/office/drawing/2010/main" val="0"/>
              </a:ext>
            </a:extLst>
          </a:blip>
          <a:srcRect l="8084" t="9400" r="1623" b="307"/>
          <a:stretch>
            <a:fillRect/>
          </a:stretch>
        </p:blipFill>
        <p:spPr>
          <a:xfrm>
            <a:off x="0" y="875"/>
            <a:ext cx="12192000" cy="6857125"/>
          </a:xfrm>
          <a:prstGeom prst="rect">
            <a:avLst/>
          </a:prstGeom>
        </p:spPr>
      </p:pic>
      <p:sp>
        <p:nvSpPr>
          <p:cNvPr id="8" name="Title 7">
            <a:extLst>
              <a:ext uri="{FF2B5EF4-FFF2-40B4-BE49-F238E27FC236}">
                <a16:creationId xmlns:a16="http://schemas.microsoft.com/office/drawing/2014/main" id="{7D2650CC-89A0-A174-E856-05805DBC0CDB}"/>
              </a:ext>
            </a:extLst>
          </p:cNvPr>
          <p:cNvSpPr>
            <a:spLocks noGrp="1"/>
          </p:cNvSpPr>
          <p:nvPr>
            <p:ph type="title"/>
          </p:nvPr>
        </p:nvSpPr>
        <p:spPr>
          <a:xfrm>
            <a:off x="420792" y="356684"/>
            <a:ext cx="6346974" cy="2667527"/>
          </a:xfrm>
        </p:spPr>
        <p:txBody>
          <a:bodyPr/>
          <a:lstStyle>
            <a:lvl1pPr>
              <a:defRPr sz="54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1E66F2C5-A94C-40FD-0A7D-A7D695991E66}"/>
              </a:ext>
            </a:extLst>
          </p:cNvPr>
          <p:cNvSpPr>
            <a:spLocks noGrp="1"/>
          </p:cNvSpPr>
          <p:nvPr>
            <p:ph type="subTitle" idx="1"/>
          </p:nvPr>
        </p:nvSpPr>
        <p:spPr>
          <a:xfrm>
            <a:off x="433414" y="5266344"/>
            <a:ext cx="3291920" cy="982055"/>
          </a:xfrm>
        </p:spPr>
        <p:txBody>
          <a:bodyPr vert="horz" lIns="91440" tIns="45720" rIns="91440" bIns="45720" rtlCol="0" anchor="b">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22117"/>
            <a:ext cx="2504049"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22117"/>
            <a:ext cx="1146383" cy="338328"/>
          </a:xfrm>
        </p:spPr>
        <p:txBody>
          <a:bodyPr/>
          <a:lstStyle>
            <a:lvl1pPr>
              <a:defRPr>
                <a:solidFill>
                  <a:schemeClr val="tx1"/>
                </a:solidFill>
              </a:defRPr>
            </a:lvl1pPr>
          </a:lstStyle>
          <a:p>
            <a:fld id="{679FB602-DB7A-4B0E-854D-FB51F38BB0AA}" type="datetime1">
              <a:rPr lang="en-US" smtClean="0"/>
              <a:pPr/>
              <a:t>6/9/2026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962149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5">
    <p:spTree>
      <p:nvGrpSpPr>
        <p:cNvPr id="1" name=""/>
        <p:cNvGrpSpPr/>
        <p:nvPr/>
      </p:nvGrpSpPr>
      <p:grpSpPr>
        <a:xfrm>
          <a:off x="0" y="0"/>
          <a:ext cx="0" cy="0"/>
          <a:chOff x="0" y="0"/>
          <a:chExt cx="0" cy="0"/>
        </a:xfrm>
      </p:grpSpPr>
      <p:pic>
        <p:nvPicPr>
          <p:cNvPr id="10" name="Picture 9" descr="A red and purple light&#10;&#10;AI-generated content may be incorrect.">
            <a:extLst>
              <a:ext uri="{FF2B5EF4-FFF2-40B4-BE49-F238E27FC236}">
                <a16:creationId xmlns:a16="http://schemas.microsoft.com/office/drawing/2014/main" id="{34DC879D-8888-CA20-363B-ADD601ABDB14}"/>
              </a:ext>
            </a:extLst>
          </p:cNvPr>
          <p:cNvPicPr>
            <a:picLocks noChangeAspect="1"/>
          </p:cNvPicPr>
          <p:nvPr userDrawn="1"/>
        </p:nvPicPr>
        <p:blipFill>
          <a:blip r:embed="rId2">
            <a:extLst>
              <a:ext uri="{28A0092B-C50C-407E-A947-70E740481C1C}">
                <a14:useLocalDpi xmlns:a14="http://schemas.microsoft.com/office/drawing/2010/main" val="0"/>
              </a:ext>
            </a:extLst>
          </a:blip>
          <a:srcRect l="389" t="34949" r="912"/>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3491" y="2122471"/>
            <a:ext cx="7348909" cy="1672640"/>
          </a:xfrm>
        </p:spPr>
        <p:txBody>
          <a:bodyPr vert="horz" lIns="91440" tIns="45720" rIns="91440" bIns="45720" rtlCol="0" anchor="t">
            <a:normAutofit/>
          </a:bodyPr>
          <a:lstStyle>
            <a:lvl1pPr>
              <a:defRPr lang="en-US" sz="5400" baseline="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16399" y="2122470"/>
            <a:ext cx="2052235" cy="1672640"/>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22284" y="233990"/>
            <a:ext cx="257868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01100" y="216573"/>
            <a:ext cx="1562100" cy="338328"/>
          </a:xfrm>
        </p:spPr>
        <p:txBody>
          <a:bodyPr/>
          <a:lstStyle>
            <a:lvl1pPr>
              <a:defRPr>
                <a:solidFill>
                  <a:schemeClr val="tx1"/>
                </a:solidFill>
              </a:defRPr>
            </a:lvl1pPr>
          </a:lstStyle>
          <a:p>
            <a:fld id="{9192309C-B050-4356-96E7-0276C1563BD7}" type="datetime1">
              <a:rPr lang="en-US" smtClean="0"/>
              <a:pPr/>
              <a:t>6/9/2026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531670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6">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86116429-CFD9-2016-C240-A97B232DE426}"/>
              </a:ext>
            </a:extLst>
          </p:cNvPr>
          <p:cNvPicPr>
            <a:picLocks noChangeAspect="1"/>
          </p:cNvPicPr>
          <p:nvPr userDrawn="1"/>
        </p:nvPicPr>
        <p:blipFill>
          <a:blip r:embed="rId2">
            <a:extLst>
              <a:ext uri="{28A0092B-C50C-407E-A947-70E740481C1C}">
                <a14:useLocalDpi xmlns:a14="http://schemas.microsoft.com/office/drawing/2010/main" val="0"/>
              </a:ext>
            </a:extLst>
          </a:blip>
          <a:srcRect l="17111" t="2700" r="25757" b="19631"/>
          <a:stretch>
            <a:fillRect/>
          </a:stretch>
        </p:blipFill>
        <p:spPr>
          <a:xfrm rot="10800000" flipH="1">
            <a:off x="0" y="-1713"/>
            <a:ext cx="12205716"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66693" y="2705100"/>
            <a:ext cx="11562393" cy="4152900"/>
          </a:xfrm>
        </p:spPr>
        <p:txBody>
          <a:bodyPr vert="horz" lIns="91440" tIns="45720" rIns="91440" bIns="45720" rtlCol="0" anchor="b">
            <a:normAutofit/>
          </a:bodyPr>
          <a:lstStyle>
            <a:lvl1pPr>
              <a:defRPr lang="en-US" sz="11500" baseline="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53135" y="564350"/>
            <a:ext cx="3645744" cy="905862"/>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9462" y="197680"/>
            <a:ext cx="2561771"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706100" y="209088"/>
            <a:ext cx="1022986" cy="338328"/>
          </a:xfrm>
        </p:spPr>
        <p:txBody>
          <a:bodyPr/>
          <a:lstStyle>
            <a:lvl1pPr>
              <a:defRPr>
                <a:solidFill>
                  <a:schemeClr val="tx1"/>
                </a:solidFill>
              </a:defRPr>
            </a:lvl1pPr>
          </a:lstStyle>
          <a:p>
            <a:fld id="{EFFF4B2E-F868-48E9-9355-A1AA601AAA8B}" type="datetime1">
              <a:rPr lang="en-US" smtClean="0"/>
              <a:pPr/>
              <a:t>6/9/2026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966709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5" name="Title 4">
            <a:extLst>
              <a:ext uri="{FF2B5EF4-FFF2-40B4-BE49-F238E27FC236}">
                <a16:creationId xmlns:a16="http://schemas.microsoft.com/office/drawing/2014/main" id="{F6AD7145-734D-256B-1335-1014B6A328FF}"/>
              </a:ext>
            </a:extLst>
          </p:cNvPr>
          <p:cNvSpPr>
            <a:spLocks noGrp="1"/>
          </p:cNvSpPr>
          <p:nvPr>
            <p:ph type="title"/>
          </p:nvPr>
        </p:nvSpPr>
        <p:spPr>
          <a:xfrm>
            <a:off x="0" y="0"/>
            <a:ext cx="12188952" cy="3429000"/>
          </a:xfrm>
          <a:gradFill>
            <a:gsLst>
              <a:gs pos="55000">
                <a:srgbClr val="000000">
                  <a:alpha val="53000"/>
                </a:srgbClr>
              </a:gs>
              <a:gs pos="87000">
                <a:srgbClr val="000000">
                  <a:alpha val="63922"/>
                </a:srgbClr>
              </a:gs>
              <a:gs pos="23000">
                <a:srgbClr val="000000">
                  <a:alpha val="0"/>
                </a:srgbClr>
              </a:gs>
            </a:gsLst>
            <a:lin ang="15900000" scaled="0"/>
          </a:gradFill>
        </p:spPr>
        <p:txBody>
          <a:bodyPr lIns="457200" tIns="685800" rIns="5029200" bIns="0"/>
          <a:lstStyle>
            <a:lvl1pPr>
              <a:defRPr sz="4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5C312AD0-A2D2-0388-F1F0-E17A9F78932E}"/>
              </a:ext>
            </a:extLst>
          </p:cNvPr>
          <p:cNvSpPr>
            <a:spLocks noGrp="1"/>
          </p:cNvSpPr>
          <p:nvPr>
            <p:ph type="subTitle" idx="1"/>
          </p:nvPr>
        </p:nvSpPr>
        <p:spPr>
          <a:xfrm>
            <a:off x="8324192" y="-1"/>
            <a:ext cx="3740652" cy="3050627"/>
          </a:xfrm>
        </p:spPr>
        <p:txBody>
          <a:bodyPr vert="horz" lIns="594360" tIns="685800" rIns="320040" bIns="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10065" y="219456"/>
            <a:ext cx="1905000" cy="365760"/>
          </a:xfrm>
        </p:spPr>
        <p:txBody>
          <a:bodyPr/>
          <a:lstStyle>
            <a:lvl1pPr>
              <a:defRPr>
                <a:solidFill>
                  <a:schemeClr val="tx1"/>
                </a:solidFill>
              </a:defRPr>
            </a:lvl1pPr>
          </a:lstStyle>
          <a:p>
            <a:fld id="{21560963-1EEA-4BDE-8FF9-3FEE13B5D43C}" type="datetime1">
              <a:rPr lang="en-US" smtClean="0"/>
              <a:pPr/>
              <a:t>6/9/2026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288609" y="215988"/>
            <a:ext cx="555948" cy="337198"/>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1887505142"/>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5" name="Title 4">
            <a:extLst>
              <a:ext uri="{FF2B5EF4-FFF2-40B4-BE49-F238E27FC236}">
                <a16:creationId xmlns:a16="http://schemas.microsoft.com/office/drawing/2014/main" id="{AEDC0447-22FD-BF05-BC68-3FDEDEDFC540}"/>
              </a:ext>
            </a:extLst>
          </p:cNvPr>
          <p:cNvSpPr>
            <a:spLocks noGrp="1"/>
          </p:cNvSpPr>
          <p:nvPr>
            <p:ph type="title"/>
          </p:nvPr>
        </p:nvSpPr>
        <p:spPr>
          <a:xfrm>
            <a:off x="1" y="0"/>
            <a:ext cx="5323784" cy="6858000"/>
          </a:xfrm>
          <a:gradFill>
            <a:gsLst>
              <a:gs pos="41000">
                <a:srgbClr val="000000">
                  <a:alpha val="46000"/>
                </a:srgbClr>
              </a:gs>
              <a:gs pos="71000">
                <a:srgbClr val="000000">
                  <a:alpha val="58000"/>
                </a:srgbClr>
              </a:gs>
              <a:gs pos="100000">
                <a:srgbClr val="000000">
                  <a:alpha val="61000"/>
                </a:srgbClr>
              </a:gs>
              <a:gs pos="10000">
                <a:srgbClr val="000000">
                  <a:alpha val="0"/>
                </a:srgbClr>
              </a:gs>
            </a:gsLst>
            <a:lin ang="10800000" scaled="0"/>
          </a:gradFill>
        </p:spPr>
        <p:txBody>
          <a:bodyPr lIns="457200" tIns="1371600" rIns="822960" bIns="914400" anchor="b"/>
          <a:lstStyle>
            <a:lvl1pPr>
              <a:defRPr sz="4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3A1999F2-A538-F369-DF48-BB68DFFF8D80}"/>
              </a:ext>
            </a:extLst>
          </p:cNvPr>
          <p:cNvSpPr>
            <a:spLocks noGrp="1"/>
          </p:cNvSpPr>
          <p:nvPr>
            <p:ph type="subTitle" idx="1"/>
          </p:nvPr>
        </p:nvSpPr>
        <p:spPr>
          <a:xfrm>
            <a:off x="419099" y="6032498"/>
            <a:ext cx="4419599" cy="579757"/>
          </a:xfrm>
        </p:spPr>
        <p:txBody>
          <a:bodyPr vert="horz" lIns="91440" tIns="0" rIns="91440" bIns="0" rtlCol="0" anchor="t">
            <a:normAutofit/>
          </a:bodyPr>
          <a:lstStyle>
            <a:lvl1pPr marL="0" indent="0">
              <a:lnSpc>
                <a:spcPct val="120000"/>
              </a:lnSpc>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01100" y="213072"/>
            <a:ext cx="1905000" cy="365760"/>
          </a:xfrm>
        </p:spPr>
        <p:txBody>
          <a:bodyPr/>
          <a:lstStyle>
            <a:lvl1pPr>
              <a:defRPr>
                <a:solidFill>
                  <a:schemeClr val="tx1"/>
                </a:solidFill>
              </a:defRPr>
            </a:lvl1pPr>
          </a:lstStyle>
          <a:p>
            <a:fld id="{21560963-1EEA-4BDE-8FF9-3FEE13B5D43C}" type="datetime1">
              <a:rPr lang="en-US" smtClean="0"/>
              <a:pPr/>
              <a:t>6/9/2026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5988"/>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708964705"/>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21560963-1EEA-4BDE-8FF9-3FEE13B5D43C}" type="datetime1">
              <a:rPr lang="en-US" smtClean="0"/>
              <a:pPr/>
              <a:t>6/9/2026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715378093"/>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4643" y="1114447"/>
            <a:ext cx="5442757" cy="2921525"/>
          </a:xfrm>
        </p:spPr>
        <p:txBody>
          <a:bodyPr vert="horz" lIns="91440" tIns="45720" rIns="91440" bIns="45720" rtlCol="0" anchor="t">
            <a:normAutofit/>
          </a:bodyPr>
          <a:lstStyle>
            <a:lvl1pPr>
              <a:defRPr lang="en-US" sz="6000" baseline="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5468" y="4993008"/>
            <a:ext cx="3972704" cy="1247994"/>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2605" y="215057"/>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775989" y="215057"/>
            <a:ext cx="1537060" cy="338328"/>
          </a:xfrm>
        </p:spPr>
        <p:txBody>
          <a:bodyPr/>
          <a:lstStyle>
            <a:lvl1pPr>
              <a:defRPr>
                <a:solidFill>
                  <a:schemeClr val="tx2"/>
                </a:solidFill>
                <a:effectLst/>
              </a:defRPr>
            </a:lvl1pPr>
          </a:lstStyle>
          <a:p>
            <a:fld id="{28EA85A9-CA9F-4339-89EF-28F09ED3FE86}" type="datetime1">
              <a:rPr lang="en-US" smtClean="0"/>
              <a:pPr/>
              <a:t>6/9/2026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01909" y="215057"/>
            <a:ext cx="540412"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7" name="Picture Placeholder 6">
            <a:extLst>
              <a:ext uri="{FF2B5EF4-FFF2-40B4-BE49-F238E27FC236}">
                <a16:creationId xmlns:a16="http://schemas.microsoft.com/office/drawing/2014/main" id="{28C1F583-2497-2836-36DF-2076DFFFBA5A}"/>
              </a:ext>
            </a:extLst>
          </p:cNvPr>
          <p:cNvSpPr>
            <a:spLocks noGrp="1"/>
          </p:cNvSpPr>
          <p:nvPr>
            <p:ph type="pic" sz="quarter" idx="13" hasCustomPrompt="1"/>
          </p:nvPr>
        </p:nvSpPr>
        <p:spPr>
          <a:xfrm>
            <a:off x="7783830" y="1181100"/>
            <a:ext cx="4408170" cy="5701208"/>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962300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812872" y="1115568"/>
            <a:ext cx="2960028" cy="3684766"/>
          </a:xfrm>
        </p:spPr>
        <p:txBody>
          <a:bodyPr vert="horz" lIns="91440" tIns="45720" rIns="91440" bIns="45720" rtlCol="0" anchor="t">
            <a:normAutofit/>
          </a:bodyPr>
          <a:lstStyle>
            <a:lvl1pPr>
              <a:defRPr lang="en-US" sz="3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04423" y="5004262"/>
            <a:ext cx="2968477" cy="1244138"/>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19100" y="219456"/>
            <a:ext cx="2597858"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12872" y="219456"/>
            <a:ext cx="1550328" cy="338328"/>
          </a:xfrm>
        </p:spPr>
        <p:txBody>
          <a:bodyPr/>
          <a:lstStyle>
            <a:lvl1pPr>
              <a:defRPr>
                <a:solidFill>
                  <a:schemeClr val="tx2"/>
                </a:solidFill>
                <a:effectLst/>
              </a:defRPr>
            </a:lvl1pPr>
          </a:lstStyle>
          <a:p>
            <a:fld id="{2D904F51-6E72-42BA-AFA1-975939F2ADF3}" type="datetime1">
              <a:rPr lang="en-US" smtClean="0"/>
              <a:pPr/>
              <a:t>6/9/2026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13129" y="219456"/>
            <a:ext cx="539588"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8" name="Picture Placeholder 7">
            <a:extLst>
              <a:ext uri="{FF2B5EF4-FFF2-40B4-BE49-F238E27FC236}">
                <a16:creationId xmlns:a16="http://schemas.microsoft.com/office/drawing/2014/main" id="{284B0817-C121-ACE0-AD00-44CE39241777}"/>
              </a:ext>
            </a:extLst>
          </p:cNvPr>
          <p:cNvSpPr>
            <a:spLocks noGrp="1"/>
          </p:cNvSpPr>
          <p:nvPr>
            <p:ph type="pic" sz="quarter" idx="13" hasCustomPrompt="1"/>
          </p:nvPr>
        </p:nvSpPr>
        <p:spPr>
          <a:xfrm>
            <a:off x="1" y="1181099"/>
            <a:ext cx="8367452" cy="5685213"/>
          </a:xfrm>
          <a:custGeom>
            <a:avLst/>
            <a:gdLst>
              <a:gd name="connsiteX0" fmla="*/ 0 w 6769976"/>
              <a:gd name="connsiteY0" fmla="*/ 0 h 5895164"/>
              <a:gd name="connsiteX1" fmla="*/ 6769976 w 6769976"/>
              <a:gd name="connsiteY1" fmla="*/ 0 h 5895164"/>
              <a:gd name="connsiteX2" fmla="*/ 6769976 w 6769976"/>
              <a:gd name="connsiteY2" fmla="*/ 5895164 h 5895164"/>
              <a:gd name="connsiteX3" fmla="*/ 0 w 6769976"/>
              <a:gd name="connsiteY3" fmla="*/ 5895164 h 5895164"/>
            </a:gdLst>
            <a:ahLst/>
            <a:cxnLst>
              <a:cxn ang="0">
                <a:pos x="connsiteX0" y="connsiteY0"/>
              </a:cxn>
              <a:cxn ang="0">
                <a:pos x="connsiteX1" y="connsiteY1"/>
              </a:cxn>
              <a:cxn ang="0">
                <a:pos x="connsiteX2" y="connsiteY2"/>
              </a:cxn>
              <a:cxn ang="0">
                <a:pos x="connsiteX3" y="connsiteY3"/>
              </a:cxn>
            </a:cxnLst>
            <a:rect l="l" t="t" r="r" b="b"/>
            <a:pathLst>
              <a:path w="6769976" h="5895164">
                <a:moveTo>
                  <a:pt x="0" y="0"/>
                </a:moveTo>
                <a:lnTo>
                  <a:pt x="6769976" y="0"/>
                </a:lnTo>
                <a:lnTo>
                  <a:pt x="6769976" y="5895164"/>
                </a:lnTo>
                <a:lnTo>
                  <a:pt x="0" y="58951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036572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76903" y="4822407"/>
            <a:ext cx="6925432" cy="1351342"/>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235224" y="4822406"/>
            <a:ext cx="2724238" cy="1351342"/>
          </a:xfrm>
        </p:spPr>
        <p:txBody>
          <a:bodyPr vert="horz" lIns="91440" tIns="45720" rIns="91440" bIns="45720" rtlCol="0" anchor="t">
            <a:normAutofit/>
          </a:bodyPr>
          <a:lstStyle>
            <a:lvl1pPr marL="0" indent="0">
              <a:buNone/>
              <a:defRPr lang="en-US" sz="1400" dirty="0">
                <a:solidFill>
                  <a:schemeClr val="tx2"/>
                </a:solidFill>
              </a:defRPr>
            </a:lvl1pPr>
          </a:lstStyle>
          <a:p>
            <a:pPr lvl="0"/>
            <a:r>
              <a:rPr lang="en-US"/>
              <a:t>Click to edit Master subtitle style</a:t>
            </a:r>
          </a:p>
        </p:txBody>
      </p:sp>
      <p:sp>
        <p:nvSpPr>
          <p:cNvPr id="7" name="Picture Placeholder 6">
            <a:extLst>
              <a:ext uri="{FF2B5EF4-FFF2-40B4-BE49-F238E27FC236}">
                <a16:creationId xmlns:a16="http://schemas.microsoft.com/office/drawing/2014/main" id="{978C40B5-A026-132B-C915-2335F94E4A5C}"/>
              </a:ext>
            </a:extLst>
          </p:cNvPr>
          <p:cNvSpPr>
            <a:spLocks noGrp="1"/>
          </p:cNvSpPr>
          <p:nvPr>
            <p:ph type="pic" sz="quarter" idx="13" hasCustomPrompt="1"/>
          </p:nvPr>
        </p:nvSpPr>
        <p:spPr>
          <a:xfrm>
            <a:off x="1866900" y="0"/>
            <a:ext cx="10325100" cy="4653649"/>
          </a:xfrm>
          <a:blipFill>
            <a:blip r:embed="rId2">
              <a:alphaModFix amt="65000"/>
            </a:blip>
            <a:stretch>
              <a:fillRect/>
            </a:stretch>
          </a:blipFill>
        </p:spPr>
        <p:txBody>
          <a:bodyPr/>
          <a:lstStyle>
            <a:lvl1pPr>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76903" y="6447496"/>
            <a:ext cx="2140360"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224" y="6451888"/>
            <a:ext cx="1581238" cy="338328"/>
          </a:xfrm>
        </p:spPr>
        <p:txBody>
          <a:bodyPr/>
          <a:lstStyle>
            <a:lvl1pPr algn="l">
              <a:defRPr>
                <a:solidFill>
                  <a:schemeClr val="tx2"/>
                </a:solidFill>
                <a:effectLst/>
              </a:defRPr>
            </a:lvl1pPr>
          </a:lstStyle>
          <a:p>
            <a:fld id="{096358FC-80A5-41A4-8D07-88F12E18DF82}" type="datetime1">
              <a:rPr lang="en-US" smtClean="0"/>
              <a:pPr/>
              <a:t>6/9/2026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80357" y="6451888"/>
            <a:ext cx="457200" cy="338328"/>
          </a:xfrm>
        </p:spPr>
        <p:txBody>
          <a:bodyPr/>
          <a:lstStyle>
            <a:lvl1pPr>
              <a:defRPr>
                <a:solidFill>
                  <a:schemeClr val="tx2"/>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8192449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71006E0F-42A5-451E-8A36-26756F7C34E0}" type="datetime1">
              <a:rPr lang="en-US" smtClean="0"/>
              <a:pPr/>
              <a:t>6/9/2026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0249624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pic>
        <p:nvPicPr>
          <p:cNvPr id="7" name="Picture 6" descr="A close up of a pink and purple light&#10;&#10;AI-generated content may be incorrect.">
            <a:extLst>
              <a:ext uri="{FF2B5EF4-FFF2-40B4-BE49-F238E27FC236}">
                <a16:creationId xmlns:a16="http://schemas.microsoft.com/office/drawing/2014/main" id="{B984133B-2ACD-DC2E-DD48-CC86F40637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6416" y="219456"/>
            <a:ext cx="1494156" cy="338328"/>
          </a:xfrm>
        </p:spPr>
        <p:txBody>
          <a:bodyPr/>
          <a:lstStyle>
            <a:lvl1pPr>
              <a:defRPr>
                <a:solidFill>
                  <a:schemeClr val="tx1"/>
                </a:solidFill>
              </a:defRPr>
            </a:lvl1pPr>
          </a:lstStyle>
          <a:p>
            <a:fld id="{71006E0F-42A5-451E-8A36-26756F7C34E0}" type="datetime1">
              <a:rPr lang="en-US" smtClean="0"/>
              <a:pPr/>
              <a:t>6/9/2026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6680888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22922ABD-C052-4D3A-818B-C58AFC20B321}" type="datetime1">
              <a:rPr lang="en-US" smtClean="0"/>
              <a:pPr/>
              <a:t>6/9/2026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54891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8AD56A61-7CC3-3597-02EB-CC5DE117DB59}"/>
              </a:ext>
            </a:extLst>
          </p:cNvPr>
          <p:cNvPicPr>
            <a:picLocks noChangeAspect="1"/>
          </p:cNvPicPr>
          <p:nvPr userDrawn="1"/>
        </p:nvPicPr>
        <p:blipFill>
          <a:blip r:embed="rId2">
            <a:extLst>
              <a:ext uri="{28A0092B-C50C-407E-A947-70E740481C1C}">
                <a14:useLocalDpi xmlns:a14="http://schemas.microsoft.com/office/drawing/2010/main" val="0"/>
              </a:ext>
            </a:extLst>
          </a:blip>
          <a:srcRect l="25858" t="8959" r="915" b="25228"/>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7" y="915709"/>
            <a:ext cx="11404534" cy="1604654"/>
          </a:xfrm>
        </p:spPr>
        <p:txBody>
          <a:bodyPr anchor="t">
            <a:normAutofit/>
          </a:bodyPr>
          <a:lstStyle>
            <a:lvl1pPr>
              <a:defRPr sz="880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2922ABD-C052-4D3A-818B-C58AFC20B321}" type="datetime1">
              <a:rPr lang="en-US" smtClean="0"/>
              <a:pPr/>
              <a:t>6/9/2026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72400" y="2705100"/>
            <a:ext cx="4000500" cy="3682028"/>
          </a:xfrm>
        </p:spPr>
        <p:txBody>
          <a:bodyPr vert="horz" lIns="91440" tIns="45720" rIns="91440" bIns="45720" rtlCol="0" anchor="b">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43038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userDrawn="1"/>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348FC9B1-6F61-4A8F-9F5E-715654075A93}" type="datetime1">
              <a:rPr lang="en-US" smtClean="0"/>
              <a:pPr/>
              <a:t>6/9/2026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p>
        </p:txBody>
      </p:sp>
    </p:spTree>
    <p:extLst>
      <p:ext uri="{BB962C8B-B14F-4D97-AF65-F5344CB8AC3E}">
        <p14:creationId xmlns:p14="http://schemas.microsoft.com/office/powerpoint/2010/main" val="32120671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3" name="Picture 2" descr="A close up of a colorful object&#10;&#10;AI-generated content may be incorrect.">
            <a:extLst>
              <a:ext uri="{FF2B5EF4-FFF2-40B4-BE49-F238E27FC236}">
                <a16:creationId xmlns:a16="http://schemas.microsoft.com/office/drawing/2014/main" id="{BA44554C-C893-3987-6CAA-1AE3D3275AC2}"/>
              </a:ext>
            </a:extLst>
          </p:cNvPr>
          <p:cNvPicPr>
            <a:picLocks noChangeAspect="1"/>
          </p:cNvPicPr>
          <p:nvPr userDrawn="1"/>
        </p:nvPicPr>
        <p:blipFill>
          <a:blip r:embed="rId2">
            <a:extLst>
              <a:ext uri="{28A0092B-C50C-407E-A947-70E740481C1C}">
                <a14:useLocalDpi xmlns:a14="http://schemas.microsoft.com/office/drawing/2010/main" val="0"/>
              </a:ext>
            </a:extLst>
          </a:blip>
          <a:srcRect l="34188" r="1" b="13701"/>
          <a:stretch>
            <a:fillRect/>
          </a:stretch>
        </p:blipFill>
        <p:spPr>
          <a:xfrm rot="5400000" flipV="1">
            <a:off x="2667000" y="-2667000"/>
            <a:ext cx="6858000" cy="12192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762539"/>
            <a:ext cx="3987207" cy="2073091"/>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1993" y="214858"/>
            <a:ext cx="1522740" cy="338328"/>
          </a:xfrm>
        </p:spPr>
        <p:txBody>
          <a:bodyPr/>
          <a:lstStyle>
            <a:lvl1pPr>
              <a:defRPr>
                <a:solidFill>
                  <a:schemeClr val="tx1"/>
                </a:solidFill>
              </a:defRPr>
            </a:lvl1pPr>
          </a:lstStyle>
          <a:p>
            <a:fld id="{2C034B68-E20D-4A56-8B99-0EF3081FA97A}" type="datetime1">
              <a:rPr lang="en-US" smtClean="0"/>
              <a:pPr/>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4851993" y="1762539"/>
            <a:ext cx="3482340" cy="2073091"/>
          </a:xfrm>
        </p:spPr>
        <p:txBody>
          <a:bodyPr vert="horz" lIns="91440" tIns="45720" rIns="91440" bIns="45720" rtlCol="0">
            <a:normAutofit/>
          </a:bodyPr>
          <a:lstStyle>
            <a:lvl1pPr marL="0" indent="0">
              <a:buNone/>
              <a:defRPr lang="en-US" dirty="0">
                <a:solidFill>
                  <a:schemeClr val="tx1"/>
                </a:solidFill>
              </a:defRPr>
            </a:lvl1pPr>
            <a:lvl2pPr marL="228600" indent="0">
              <a:buNone/>
              <a:defRPr lang="en-US" dirty="0">
                <a:solidFill>
                  <a:schemeClr val="tx1"/>
                </a:solidFill>
              </a:defRPr>
            </a:lvl2pPr>
            <a:lvl3pPr marL="457200" indent="0">
              <a:buNone/>
              <a:defRPr lang="en-US" dirty="0">
                <a:solidFill>
                  <a:schemeClr val="tx1"/>
                </a:solidFill>
              </a:defRPr>
            </a:lvl3pPr>
            <a:lvl4pPr marL="685800" indent="0">
              <a:buNone/>
              <a:defRPr lang="en-US" dirty="0">
                <a:solidFill>
                  <a:schemeClr val="tx1"/>
                </a:solidFill>
              </a:defRPr>
            </a:lvl4pPr>
            <a:lvl5pPr marL="914400" indent="0">
              <a:buNone/>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3785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pic>
        <p:nvPicPr>
          <p:cNvPr id="7" name="Picture 6" descr="A close up of a colorful object&#10;&#10;AI-generated content may be incorrect.">
            <a:extLst>
              <a:ext uri="{FF2B5EF4-FFF2-40B4-BE49-F238E27FC236}">
                <a16:creationId xmlns:a16="http://schemas.microsoft.com/office/drawing/2014/main" id="{B193FB30-082C-50CD-EEC9-7D410FFB62CF}"/>
              </a:ext>
            </a:extLst>
          </p:cNvPr>
          <p:cNvPicPr>
            <a:picLocks noChangeAspect="1"/>
          </p:cNvPicPr>
          <p:nvPr userDrawn="1"/>
        </p:nvPicPr>
        <p:blipFill>
          <a:blip r:embed="rId2">
            <a:extLst>
              <a:ext uri="{28A0092B-C50C-407E-A947-70E740481C1C}">
                <a14:useLocalDpi xmlns:a14="http://schemas.microsoft.com/office/drawing/2010/main" val="0"/>
              </a:ext>
            </a:extLst>
          </a:blip>
          <a:srcRect l="-38257" t="5088" r="86" b="21926"/>
          <a:stretch>
            <a:fillRect/>
          </a:stretch>
        </p:blipFill>
        <p:spPr>
          <a:xfrm flipH="1">
            <a:off x="0" y="0"/>
            <a:ext cx="12192000" cy="685517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404380" y="1276990"/>
            <a:ext cx="5385079" cy="985658"/>
          </a:xfrm>
        </p:spPr>
        <p:txBody>
          <a:bodyPr anchor="b"/>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412904" y="214858"/>
            <a:ext cx="2514600" cy="338328"/>
          </a:xfrm>
        </p:spPr>
        <p:txBody>
          <a:bodyPr/>
          <a:lstStyle>
            <a:lvl1pPr>
              <a:defRPr>
                <a:solidFill>
                  <a:schemeClr val="tx1"/>
                </a:solidFill>
              </a:defRPr>
            </a:lvl1pPr>
          </a:lstStyle>
          <a:p>
            <a:fld id="{44BE14B8-5058-4271-B378-2217DE83796E}" type="datetime1">
              <a:rPr lang="en-US" smtClean="0"/>
              <a:pPr/>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412904" y="2471736"/>
            <a:ext cx="5385079" cy="349312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5138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userDrawn="1"/>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44BE14B8-5058-4271-B378-2217DE83796E}" type="datetime1">
              <a:rPr lang="en-US" smtClean="0"/>
              <a:pPr/>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978012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A9C84165-A857-83C5-C6BE-C4EB68C90637}"/>
              </a:ext>
            </a:extLst>
          </p:cNvPr>
          <p:cNvPicPr>
            <a:picLocks noChangeAspect="1"/>
          </p:cNvPicPr>
          <p:nvPr userDrawn="1"/>
        </p:nvPicPr>
        <p:blipFill>
          <a:blip r:embed="rId2">
            <a:extLst>
              <a:ext uri="{28A0092B-C50C-407E-A947-70E740481C1C}">
                <a14:useLocalDpi xmlns:a14="http://schemas.microsoft.com/office/drawing/2010/main" val="0"/>
              </a:ext>
            </a:extLst>
          </a:blip>
          <a:srcRect t="29759"/>
          <a:stretch>
            <a:fillRect/>
          </a:stretch>
        </p:blipFill>
        <p:spPr>
          <a:xfrm flipH="1">
            <a:off x="0" y="2040834"/>
            <a:ext cx="12192000" cy="4817165"/>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47800" y="1946412"/>
            <a:ext cx="2971800" cy="3192118"/>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38700" y="214858"/>
            <a:ext cx="2452852" cy="338328"/>
          </a:xfrm>
        </p:spPr>
        <p:txBody>
          <a:bodyPr/>
          <a:lstStyle>
            <a:lvl1pPr>
              <a:defRPr>
                <a:solidFill>
                  <a:schemeClr val="tx1"/>
                </a:solidFill>
              </a:defRPr>
            </a:lvl1pPr>
          </a:lstStyle>
          <a:p>
            <a:fld id="{28C06331-6E41-42DD-926E-C670E485C891}" type="datetime1">
              <a:rPr lang="en-US" smtClean="0"/>
              <a:pPr/>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838700" y="1946413"/>
            <a:ext cx="5189220" cy="3192118"/>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82533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6">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06CB2F34-49A1-4C07-91D5-90BE967306D3}" type="datetime1">
              <a:rPr lang="en-US" smtClean="0"/>
              <a:pPr/>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37441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8" y="1828800"/>
            <a:ext cx="8496302" cy="1010093"/>
          </a:xfrm>
        </p:spPr>
        <p:txBody>
          <a:bodyPr anchor="b">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30B0CD9-4253-4E22-9BCD-0DF67297DF8E}" type="datetime1">
              <a:rPr lang="en-US" smtClean="0"/>
              <a:pPr/>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866900" y="3168292"/>
            <a:ext cx="8496300" cy="2625406"/>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76976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3667167" cy="288928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7677" y="214858"/>
            <a:ext cx="1522740" cy="338328"/>
          </a:xfrm>
        </p:spPr>
        <p:txBody>
          <a:bodyPr/>
          <a:lstStyle/>
          <a:p>
            <a:fld id="{81C379B3-3585-4FAF-BD63-57B9BB47E12C}" type="datetime1">
              <a:rPr lang="en-US" smtClean="0"/>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57677" y="1126457"/>
            <a:ext cx="5848423" cy="51219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33794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2920407" cy="288928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055522" y="214858"/>
            <a:ext cx="1811877" cy="338328"/>
          </a:xfrm>
        </p:spPr>
        <p:txBody>
          <a:bodyPr/>
          <a:lstStyle/>
          <a:p>
            <a:fld id="{81C379B3-3585-4FAF-BD63-57B9BB47E12C}" type="datetime1">
              <a:rPr lang="en-US" smtClean="0"/>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055523" y="1126457"/>
            <a:ext cx="7503203" cy="51219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67921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14EE7FE5-A250-423F-B9E1-3EE5D07A8055}"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2201094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15467" y="1115568"/>
            <a:ext cx="2505264" cy="16241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15467" y="215823"/>
            <a:ext cx="1899259" cy="338328"/>
          </a:xfrm>
        </p:spPr>
        <p:txBody>
          <a:bodyPr/>
          <a:lstStyle>
            <a:lvl1pPr>
              <a:defRPr>
                <a:solidFill>
                  <a:schemeClr val="tx1"/>
                </a:solidFill>
                <a:effectLst/>
              </a:defRPr>
            </a:lvl1pPr>
          </a:lstStyle>
          <a:p>
            <a:fld id="{14EE7FE5-A250-423F-B9E1-3EE5D07A8055}"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6650" y="215823"/>
            <a:ext cx="538545" cy="338328"/>
          </a:xfrm>
        </p:spPr>
        <p:txBody>
          <a:body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1" y="1181100"/>
            <a:ext cx="8356833"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15467" y="3646713"/>
            <a:ext cx="2505264" cy="2728687"/>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76457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48B2456C-66BE-435E-8059-3A9CD55F29F9}"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41072819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r>
              <a:rPr lang="en-US"/>
              <a:t>Sample Footer Text</a:t>
            </a:r>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17409D93-5111-4952-AC4F-FA1AE909A4B8}"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10639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77906" y="1115568"/>
            <a:ext cx="3608254" cy="138958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47915"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7905" y="219456"/>
            <a:ext cx="1586711" cy="338328"/>
          </a:xfrm>
        </p:spPr>
        <p:txBody>
          <a:bodyPr/>
          <a:lstStyle>
            <a:lvl1pPr>
              <a:defRPr>
                <a:solidFill>
                  <a:schemeClr val="tx1"/>
                </a:solidFill>
                <a:effectLst/>
              </a:defRPr>
            </a:lvl1pPr>
          </a:lstStyle>
          <a:p>
            <a:fld id="{990D2F5B-FA0B-4BE5-A43F-B1BC737359C6}"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A63D2D48-CE58-FD80-93F7-B87C97B90403}"/>
              </a:ext>
            </a:extLst>
          </p:cNvPr>
          <p:cNvSpPr>
            <a:spLocks noGrp="1"/>
          </p:cNvSpPr>
          <p:nvPr>
            <p:ph type="pic" sz="quarter" idx="15" hasCustomPrompt="1"/>
          </p:nvPr>
        </p:nvSpPr>
        <p:spPr>
          <a:xfrm>
            <a:off x="0" y="1181100"/>
            <a:ext cx="7336219"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777904" y="2705100"/>
            <a:ext cx="3608255" cy="3733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38629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A43E10B2-AFF3-4A4A-BC83-5BB137C878CB}"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044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099" y="1115568"/>
            <a:ext cx="4643555" cy="1600200"/>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478874"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67399" y="208604"/>
            <a:ext cx="2450799" cy="338328"/>
          </a:xfrm>
        </p:spPr>
        <p:txBody>
          <a:bodyPr/>
          <a:lstStyle>
            <a:lvl1pPr>
              <a:defRPr>
                <a:solidFill>
                  <a:schemeClr val="tx1"/>
                </a:solidFill>
                <a:effectLst/>
              </a:defRPr>
            </a:lvl1pPr>
          </a:lstStyle>
          <a:p>
            <a:fld id="{03D817FD-3A47-446D-9853-4CD5CA57130C}"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5964766" y="1181100"/>
            <a:ext cx="5352086" cy="2615648"/>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867398" y="4055164"/>
            <a:ext cx="5449453" cy="2193236"/>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69382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C1935215-257D-4F50-AF56-70E3294947FA}"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0637481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2B0E3CDF-6E7C-4C67-B567-8606B07963A0}"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27038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3" y="1106780"/>
            <a:ext cx="8286147"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3449057" y="4159154"/>
            <a:ext cx="8742943" cy="2698845"/>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2042739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4" y="1106780"/>
            <a:ext cx="8408066"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1" y="4159154"/>
            <a:ext cx="12192000" cy="2698845"/>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20967236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5060FE60-4389-4D8B-84BB-900FC000024C}"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63127928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1602" y="1115568"/>
            <a:ext cx="6931698" cy="1002834"/>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4154" y="216914"/>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884825" y="216914"/>
            <a:ext cx="2338650" cy="338328"/>
          </a:xfrm>
        </p:spPr>
        <p:txBody>
          <a:bodyPr/>
          <a:lstStyle/>
          <a:p>
            <a:fld id="{CDFDD458-C945-484A-9891-FE9FDA97486D}"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010" y="216914"/>
            <a:ext cx="557090"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21601" y="2133600"/>
            <a:ext cx="6931699" cy="4305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66075FF6-E149-1A82-B924-97E715A8DF4E}"/>
              </a:ext>
            </a:extLst>
          </p:cNvPr>
          <p:cNvSpPr>
            <a:spLocks noGrp="1"/>
          </p:cNvSpPr>
          <p:nvPr>
            <p:ph type="pic" sz="quarter" idx="15" hasCustomPrompt="1"/>
          </p:nvPr>
        </p:nvSpPr>
        <p:spPr>
          <a:xfrm>
            <a:off x="7982262" y="1184555"/>
            <a:ext cx="4209738" cy="5673445"/>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9773916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3496809" cy="30707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562100" cy="338328"/>
          </a:xfrm>
        </p:spPr>
        <p:txBody>
          <a:bodyPr/>
          <a:lstStyle/>
          <a:p>
            <a:fld id="{94725937-D428-4BAE-A05C-202DA13E49D5}"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4429695" y="1193656"/>
            <a:ext cx="3962400" cy="5664344"/>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823960" y="1122776"/>
            <a:ext cx="2717800" cy="53161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14025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2515758" cy="29464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2399" y="214858"/>
            <a:ext cx="1718441" cy="338328"/>
          </a:xfrm>
        </p:spPr>
        <p:txBody>
          <a:bodyPr/>
          <a:lstStyle/>
          <a:p>
            <a:fld id="{709FB1D6-B85F-447E-8712-A80ECD75AAB1}"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1696" y="214858"/>
            <a:ext cx="538520"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798" y="1104900"/>
            <a:ext cx="3756213" cy="51435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FAC86244-A1E7-A69F-206A-B47C58B746B0}"/>
              </a:ext>
            </a:extLst>
          </p:cNvPr>
          <p:cNvSpPr>
            <a:spLocks noGrp="1"/>
          </p:cNvSpPr>
          <p:nvPr>
            <p:ph type="pic" sz="quarter" idx="15" hasCustomPrompt="1"/>
          </p:nvPr>
        </p:nvSpPr>
        <p:spPr>
          <a:xfrm>
            <a:off x="7843347" y="1181100"/>
            <a:ext cx="4348653" cy="5676899"/>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3878116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6709B22-BFE8-4BFE-80D5-4133DC0C2AC6}"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128119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BFCE55E5-7E1C-4243-A685-91A6EB8BE97F}"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22871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userDrawn="1"/>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15AFD96D-C3CB-4F44-8CE3-582861660F11}" type="datetime1">
              <a:rPr lang="en-US" smtClean="0"/>
              <a:pPr/>
              <a:t>6/9/2026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a:t>XX%</a:t>
            </a:r>
          </a:p>
        </p:txBody>
      </p:sp>
    </p:spTree>
    <p:extLst>
      <p:ext uri="{BB962C8B-B14F-4D97-AF65-F5344CB8AC3E}">
        <p14:creationId xmlns:p14="http://schemas.microsoft.com/office/powerpoint/2010/main" val="42145804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586A49A-95E2-7B45-57DD-762AFFF194F3}"/>
              </a:ext>
            </a:extLst>
          </p:cNvPr>
          <p:cNvPicPr>
            <a:picLocks noChangeAspect="1"/>
          </p:cNvPicPr>
          <p:nvPr userDrawn="1"/>
        </p:nvPicPr>
        <p:blipFill>
          <a:blip r:embed="rId2">
            <a:extLst>
              <a:ext uri="{28A0092B-C50C-407E-A947-70E740481C1C}">
                <a14:useLocalDpi xmlns:a14="http://schemas.microsoft.com/office/drawing/2010/main" val="0"/>
              </a:ext>
            </a:extLst>
          </a:blip>
          <a:srcRect l="5172" t="-1" r="2873" b="7130"/>
          <a:stretch>
            <a:fillRect/>
          </a:stretch>
        </p:blipFill>
        <p:spPr>
          <a:xfrm rot="10800000" flipH="1" flipV="1">
            <a:off x="0" y="-1"/>
            <a:ext cx="12192000" cy="6855178"/>
          </a:xfrm>
          <a:prstGeom prst="rect">
            <a:avLst/>
          </a:prstGeom>
        </p:spPr>
      </p:pic>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32393" y="5144654"/>
            <a:ext cx="5435008" cy="1294246"/>
          </a:xfrm>
        </p:spPr>
        <p:txBody>
          <a:bodyPr vert="horz" lIns="91440" tIns="45720" rIns="91440" bIns="45720" rtlCol="0" anchor="b">
            <a:normAutofit/>
          </a:bodyPr>
          <a:lstStyle>
            <a:lvl1pPr>
              <a:lnSpc>
                <a:spcPct val="100000"/>
              </a:lnSpc>
              <a:defRPr lang="en-US" sz="2000" spc="-50" baseline="0" dirty="0">
                <a:solidFill>
                  <a:schemeClr val="tx1"/>
                </a:solidFill>
              </a:defRPr>
            </a:lvl1pPr>
          </a:lstStyle>
          <a:p>
            <a:pPr lvl="0"/>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1"/>
                </a:solidFill>
              </a:defRPr>
            </a:lvl1pPr>
          </a:lstStyle>
          <a:p>
            <a:fld id="{C860BA8B-5FF3-49A6-9895-94F61A8CE576}" type="datetime1">
              <a:rPr lang="en-US" smtClean="0"/>
              <a:pPr/>
              <a:t>6/9/2026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0" name="Content Placeholder 9">
            <a:extLst>
              <a:ext uri="{FF2B5EF4-FFF2-40B4-BE49-F238E27FC236}">
                <a16:creationId xmlns:a16="http://schemas.microsoft.com/office/drawing/2014/main" id="{53AAB847-04D8-7C24-A07E-65F280B26D5E}"/>
              </a:ext>
            </a:extLst>
          </p:cNvPr>
          <p:cNvSpPr>
            <a:spLocks noGrp="1"/>
          </p:cNvSpPr>
          <p:nvPr>
            <p:ph sz="quarter" idx="14" hasCustomPrompt="1"/>
          </p:nvPr>
        </p:nvSpPr>
        <p:spPr>
          <a:xfrm>
            <a:off x="344488" y="552450"/>
            <a:ext cx="11498262" cy="3937000"/>
          </a:xfrm>
        </p:spPr>
        <p:txBody>
          <a:bodyPr anchor="b"/>
          <a:lstStyle>
            <a:lvl1pPr>
              <a:defRPr sz="27500"/>
            </a:lvl1pPr>
          </a:lstStyle>
          <a:p>
            <a:pPr lvl="0"/>
            <a:r>
              <a:rPr lang="en-US"/>
              <a:t>##%</a:t>
            </a:r>
          </a:p>
        </p:txBody>
      </p:sp>
    </p:spTree>
    <p:extLst>
      <p:ext uri="{BB962C8B-B14F-4D97-AF65-F5344CB8AC3E}">
        <p14:creationId xmlns:p14="http://schemas.microsoft.com/office/powerpoint/2010/main" val="18999867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pic>
        <p:nvPicPr>
          <p:cNvPr id="6" name="Picture 5" descr="A purple and black background&#10;&#10;AI-generated content may be incorrect.">
            <a:extLst>
              <a:ext uri="{FF2B5EF4-FFF2-40B4-BE49-F238E27FC236}">
                <a16:creationId xmlns:a16="http://schemas.microsoft.com/office/drawing/2014/main" id="{C39E5039-4CEB-24E7-A2E7-F7D46B2D8B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98"/>
            <a:ext cx="12223173" cy="6881646"/>
          </a:xfrm>
          <a:prstGeom prst="rect">
            <a:avLst/>
          </a:prstGeom>
        </p:spPr>
      </p:pic>
      <p:sp>
        <p:nvSpPr>
          <p:cNvPr id="9" name="Title 8">
            <a:extLst>
              <a:ext uri="{FF2B5EF4-FFF2-40B4-BE49-F238E27FC236}">
                <a16:creationId xmlns:a16="http://schemas.microsoft.com/office/drawing/2014/main" id="{E50697A7-9277-BB02-6AE2-42676133D65C}"/>
              </a:ext>
            </a:extLst>
          </p:cNvPr>
          <p:cNvSpPr>
            <a:spLocks noGrp="1"/>
          </p:cNvSpPr>
          <p:nvPr>
            <p:ph type="title"/>
          </p:nvPr>
        </p:nvSpPr>
        <p:spPr>
          <a:xfrm>
            <a:off x="7772400" y="802640"/>
            <a:ext cx="4000500" cy="1137920"/>
          </a:xfrm>
        </p:spPr>
        <p:txBody>
          <a:bodyPr/>
          <a:lstStyle>
            <a:lvl1pPr>
              <a:defRPr sz="2400" spc="-5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1DDFA7E-E414-422B-ACFF-8C3D6A1A67FB}" type="datetime1">
              <a:rPr lang="en-US" smtClean="0"/>
              <a:pPr/>
              <a:t>6/9/2026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2C871739-B2C5-FF57-BBD7-3F61A35A3F34}"/>
              </a:ext>
            </a:extLst>
          </p:cNvPr>
          <p:cNvSpPr>
            <a:spLocks noGrp="1"/>
          </p:cNvSpPr>
          <p:nvPr>
            <p:ph sz="quarter" idx="14" hasCustomPrompt="1"/>
          </p:nvPr>
        </p:nvSpPr>
        <p:spPr>
          <a:xfrm>
            <a:off x="358775" y="2684463"/>
            <a:ext cx="11414125" cy="4411662"/>
          </a:xfrm>
        </p:spPr>
        <p:txBody>
          <a:bodyPr lIns="0" tIns="0" rIns="0" bIns="0" anchor="b"/>
          <a:lstStyle>
            <a:lvl1pPr>
              <a:lnSpc>
                <a:spcPct val="85000"/>
              </a:lnSpc>
              <a:defRPr sz="30500" spc="-100" baseline="0">
                <a:solidFill>
                  <a:schemeClr val="tx1"/>
                </a:solidFill>
              </a:defRPr>
            </a:lvl1pPr>
          </a:lstStyle>
          <a:p>
            <a:pPr lvl="0"/>
            <a:r>
              <a:rPr lang="en-US"/>
              <a:t>##%</a:t>
            </a:r>
          </a:p>
        </p:txBody>
      </p:sp>
    </p:spTree>
    <p:extLst>
      <p:ext uri="{BB962C8B-B14F-4D97-AF65-F5344CB8AC3E}">
        <p14:creationId xmlns:p14="http://schemas.microsoft.com/office/powerpoint/2010/main" val="231513431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userDrawn="1"/>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6/9/2026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315659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pic>
        <p:nvPicPr>
          <p:cNvPr id="8" name="Picture 7" descr="A red and purple light&#10;&#10;AI-generated content may be incorrect.">
            <a:extLst>
              <a:ext uri="{FF2B5EF4-FFF2-40B4-BE49-F238E27FC236}">
                <a16:creationId xmlns:a16="http://schemas.microsoft.com/office/drawing/2014/main" id="{2424DF04-0206-4859-9FB9-6A2579527E12}"/>
              </a:ext>
            </a:extLst>
          </p:cNvPr>
          <p:cNvPicPr>
            <a:picLocks noChangeAspect="1"/>
          </p:cNvPicPr>
          <p:nvPr userDrawn="1"/>
        </p:nvPicPr>
        <p:blipFill>
          <a:blip r:embed="rId2">
            <a:extLst>
              <a:ext uri="{28A0092B-C50C-407E-A947-70E740481C1C}">
                <a14:useLocalDpi xmlns:a14="http://schemas.microsoft.com/office/drawing/2010/main" val="0"/>
              </a:ext>
            </a:extLst>
          </a:blip>
          <a:srcRect l="2078" t="38163" r="27927" b="1091"/>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352800" y="219456"/>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20200" y="219456"/>
            <a:ext cx="1522740" cy="338328"/>
          </a:xfrm>
        </p:spPr>
        <p:txBody>
          <a:bodyPr/>
          <a:lstStyle>
            <a:lvl1pPr>
              <a:defRPr>
                <a:solidFill>
                  <a:schemeClr val="tx1"/>
                </a:solidFill>
              </a:defRPr>
            </a:lvl1pPr>
          </a:lstStyle>
          <a:p>
            <a:fld id="{3DB68620-47AE-4F32-A04B-1342501F877C}" type="datetime1">
              <a:rPr lang="en-US" smtClean="0"/>
              <a:pPr/>
              <a:t>6/9/2026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352800" y="1405719"/>
            <a:ext cx="7353300" cy="4012442"/>
          </a:xfrm>
        </p:spPr>
        <p:txBody>
          <a:bodyPr anchor="t">
            <a:normAutofit/>
          </a:bodyPr>
          <a:lstStyle>
            <a:lvl1pPr marL="0" indent="0">
              <a:lnSpc>
                <a:spcPct val="85000"/>
              </a:lnSpc>
              <a:buNone/>
              <a:defRPr sz="5400" b="0" spc="-50" baseline="0">
                <a:solidFill>
                  <a:schemeClr val="tx1"/>
                </a:solidFill>
              </a:defRPr>
            </a:lvl1pPr>
            <a:lvl2pPr marL="228600" indent="0">
              <a:lnSpc>
                <a:spcPct val="85000"/>
              </a:lnSpc>
              <a:buNone/>
              <a:defRPr sz="4800" b="0" spc="-50" baseline="0">
                <a:solidFill>
                  <a:schemeClr val="tx1"/>
                </a:solidFill>
              </a:defRPr>
            </a:lvl2pPr>
            <a:lvl3pPr marL="457200" indent="0">
              <a:lnSpc>
                <a:spcPct val="85000"/>
              </a:lnSpc>
              <a:buNone/>
              <a:defRPr sz="44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6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11810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06D2715B-CAEE-9AAB-7191-D98012435C15}"/>
              </a:ext>
            </a:extLst>
          </p:cNvPr>
          <p:cNvPicPr>
            <a:picLocks noChangeAspect="1"/>
          </p:cNvPicPr>
          <p:nvPr userDrawn="1"/>
        </p:nvPicPr>
        <p:blipFill>
          <a:blip r:embed="rId2">
            <a:extLst>
              <a:ext uri="{28A0092B-C50C-407E-A947-70E740481C1C}">
                <a14:useLocalDpi xmlns:a14="http://schemas.microsoft.com/office/drawing/2010/main" val="0"/>
              </a:ext>
            </a:extLst>
          </a:blip>
          <a:srcRect l="1125" r="1125" b="21235"/>
          <a:stretch>
            <a:fillRect/>
          </a:stretch>
        </p:blipFill>
        <p:spPr>
          <a:xfrm rot="10800000">
            <a:off x="0" y="875"/>
            <a:ext cx="12192000" cy="685712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838700"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E0A8EBD6-625B-484B-BC25-3573CF53D407}" type="datetime1">
              <a:rPr lang="en-US" smtClean="0"/>
              <a:pPr/>
              <a:t>6/9/2026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838700" y="1740023"/>
            <a:ext cx="6310269" cy="4637725"/>
          </a:xfrm>
        </p:spPr>
        <p:txBody>
          <a:bodyPr anchor="b">
            <a:normAutofit/>
          </a:bodyPr>
          <a:lstStyle>
            <a:lvl1pPr marL="0" indent="0">
              <a:lnSpc>
                <a:spcPct val="85000"/>
              </a:lnSpc>
              <a:buNone/>
              <a:defRPr sz="4800" b="0" spc="-50" baseline="0">
                <a:solidFill>
                  <a:schemeClr val="tx1"/>
                </a:solidFill>
              </a:defRPr>
            </a:lvl1pPr>
            <a:lvl2pPr marL="228600" indent="0">
              <a:lnSpc>
                <a:spcPct val="85000"/>
              </a:lnSpc>
              <a:buNone/>
              <a:defRPr sz="4000" b="0" spc="-50" baseline="0">
                <a:solidFill>
                  <a:schemeClr val="tx1"/>
                </a:solidFill>
              </a:defRPr>
            </a:lvl2pPr>
            <a:lvl3pPr marL="457200" indent="0">
              <a:lnSpc>
                <a:spcPct val="85000"/>
              </a:lnSpc>
              <a:buNone/>
              <a:defRPr sz="3200" b="0" spc="-50" baseline="0">
                <a:solidFill>
                  <a:schemeClr val="tx1"/>
                </a:solidFill>
              </a:defRPr>
            </a:lvl3pPr>
            <a:lvl4pPr marL="685800" indent="0">
              <a:lnSpc>
                <a:spcPct val="85000"/>
              </a:lnSpc>
              <a:buNone/>
              <a:defRPr sz="2800" b="0" spc="-50" baseline="0">
                <a:solidFill>
                  <a:schemeClr val="tx1"/>
                </a:solidFill>
              </a:defRPr>
            </a:lvl4pPr>
            <a:lvl5pPr marL="914400" indent="0">
              <a:lnSpc>
                <a:spcPct val="85000"/>
              </a:lnSpc>
              <a:buNone/>
              <a:defRPr sz="24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87674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6/9/2026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133600"/>
            <a:ext cx="9393641" cy="4305299"/>
          </a:xfrm>
        </p:spPr>
        <p:txBody>
          <a:bodyPr anchor="b">
            <a:normAutofit/>
          </a:bodyPr>
          <a:lstStyle>
            <a:lvl1pPr marL="0" indent="0">
              <a:lnSpc>
                <a:spcPct val="85000"/>
              </a:lnSpc>
              <a:buNone/>
              <a:defRPr sz="7200" b="0" spc="-50" baseline="0">
                <a:solidFill>
                  <a:schemeClr val="tx1"/>
                </a:solidFill>
              </a:defRPr>
            </a:lvl1pPr>
            <a:lvl2pPr marL="228600" indent="0">
              <a:lnSpc>
                <a:spcPct val="85000"/>
              </a:lnSpc>
              <a:buNone/>
              <a:defRPr sz="5400" b="0" spc="-50" baseline="0">
                <a:solidFill>
                  <a:schemeClr val="tx1"/>
                </a:solidFill>
              </a:defRPr>
            </a:lvl2pPr>
            <a:lvl3pPr marL="457200" indent="0">
              <a:lnSpc>
                <a:spcPct val="85000"/>
              </a:lnSpc>
              <a:buNone/>
              <a:defRPr sz="4800" b="0" spc="-50" baseline="0">
                <a:solidFill>
                  <a:schemeClr val="tx1"/>
                </a:solidFill>
              </a:defRPr>
            </a:lvl3pPr>
            <a:lvl4pPr marL="685800" indent="0">
              <a:lnSpc>
                <a:spcPct val="85000"/>
              </a:lnSpc>
              <a:buNone/>
              <a:defRPr sz="4400" b="0" spc="-50" baseline="0">
                <a:solidFill>
                  <a:schemeClr val="tx1"/>
                </a:solidFill>
              </a:defRPr>
            </a:lvl4pPr>
            <a:lvl5pPr marL="914400" indent="0">
              <a:lnSpc>
                <a:spcPct val="85000"/>
              </a:lnSpc>
              <a:buNone/>
              <a:defRPr sz="40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30903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userDrawn="1"/>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403F4C9-1C82-4616-8D26-0B0587291200}" type="datetime1">
              <a:rPr lang="en-US" smtClean="0"/>
              <a:pPr/>
              <a:t>6/9/2026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26396328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pic>
        <p:nvPicPr>
          <p:cNvPr id="10" name="Picture 9" descr="A black background with a red and yellow light&#10;&#10;AI-generated content may be incorrect.">
            <a:extLst>
              <a:ext uri="{FF2B5EF4-FFF2-40B4-BE49-F238E27FC236}">
                <a16:creationId xmlns:a16="http://schemas.microsoft.com/office/drawing/2014/main" id="{027268CA-0348-F6FC-5FB0-87BADE436A7E}"/>
              </a:ext>
            </a:extLst>
          </p:cNvPr>
          <p:cNvPicPr>
            <a:picLocks noChangeAspect="1"/>
          </p:cNvPicPr>
          <p:nvPr userDrawn="1"/>
        </p:nvPicPr>
        <p:blipFill>
          <a:blip r:embed="rId2">
            <a:extLst>
              <a:ext uri="{28A0092B-C50C-407E-A947-70E740481C1C}">
                <a14:useLocalDpi xmlns:a14="http://schemas.microsoft.com/office/drawing/2010/main" val="0"/>
              </a:ext>
            </a:extLst>
          </a:blip>
          <a:srcRect l="4682" r="20481"/>
          <a:stretch>
            <a:fillRect/>
          </a:stretch>
        </p:blipFill>
        <p:spPr>
          <a:xfrm rot="5400000" flipH="1">
            <a:off x="2667001" y="-2667001"/>
            <a:ext cx="6858000" cy="12192001"/>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32392" y="5226427"/>
            <a:ext cx="8382001" cy="837861"/>
          </a:xfrm>
        </p:spPr>
        <p:txBody>
          <a:bodyPr anchor="t">
            <a:normAutofit/>
          </a:bodyPr>
          <a:lstStyle>
            <a:lvl1pPr>
              <a:lnSpc>
                <a:spcPct val="90000"/>
              </a:lnSpc>
              <a:defRPr sz="1400" b="0" cap="all" spc="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DCC6FE3-E805-41B1-96EC-B0B83218C881}" type="datetime1">
              <a:rPr lang="en-US" smtClean="0"/>
              <a:pPr/>
              <a:t>6/9/2026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32392" y="2017401"/>
            <a:ext cx="8368707" cy="2981163"/>
          </a:xfrm>
        </p:spPr>
        <p:txBody>
          <a:bodyPr anchor="t">
            <a:normAutofit/>
          </a:bodyPr>
          <a:lstStyle>
            <a:lvl1pPr marL="164592" indent="-164592">
              <a:lnSpc>
                <a:spcPct val="90000"/>
              </a:lnSpc>
              <a:spcBef>
                <a:spcPts val="0"/>
              </a:spcBef>
              <a:buFont typeface="Arial" panose="020B0604020202020204" pitchFamily="34" charset="0"/>
              <a:buNone/>
              <a:defRPr sz="46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171770490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pic>
        <p:nvPicPr>
          <p:cNvPr id="9" name="Picture 8" descr="A colorful light on a black background&#10;&#10;AI-generated content may be incorrect.">
            <a:extLst>
              <a:ext uri="{FF2B5EF4-FFF2-40B4-BE49-F238E27FC236}">
                <a16:creationId xmlns:a16="http://schemas.microsoft.com/office/drawing/2014/main" id="{F0687863-E84B-D6E2-6049-AF65BB1972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1115568"/>
            <a:ext cx="12192000" cy="5742432"/>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53982" y="5029200"/>
            <a:ext cx="8347118" cy="713232"/>
          </a:xfrm>
        </p:spPr>
        <p:txBody>
          <a:bodyPr anchor="t">
            <a:normAutofit/>
          </a:bodyPr>
          <a:lstStyle>
            <a:lvl1pPr>
              <a:lnSpc>
                <a:spcPct val="90000"/>
              </a:lnSpc>
              <a:defRPr sz="1400" b="0" cap="all" spc="-5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5DBB5726-A743-47D1-86E4-46BB349D0446}" type="datetime1">
              <a:rPr lang="en-US" smtClean="0"/>
              <a:pPr/>
              <a:t>6/9/2026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53982" y="1115568"/>
            <a:ext cx="8347118"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8542502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4">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2439AE8-E053-A902-BEE2-9CECF6AEA2F1}"/>
              </a:ext>
            </a:extLst>
          </p:cNvPr>
          <p:cNvPicPr>
            <a:picLocks noChangeAspect="1"/>
          </p:cNvPicPr>
          <p:nvPr userDrawn="1"/>
        </p:nvPicPr>
        <p:blipFill>
          <a:blip r:embed="rId2">
            <a:extLst>
              <a:ext uri="{28A0092B-C50C-407E-A947-70E740481C1C}">
                <a14:useLocalDpi xmlns:a14="http://schemas.microsoft.com/office/drawing/2010/main" val="0"/>
              </a:ext>
            </a:extLst>
          </a:blip>
          <a:srcRect l="-7769" t="8943" r="104" b="13677"/>
          <a:stretch>
            <a:fillRect/>
          </a:stretch>
        </p:blipFill>
        <p:spPr>
          <a:xfrm>
            <a:off x="0" y="0"/>
            <a:ext cx="12192000" cy="6857125"/>
          </a:xfrm>
          <a:prstGeom prst="rect">
            <a:avLst/>
          </a:prstGeom>
        </p:spPr>
      </p:pic>
      <p:sp>
        <p:nvSpPr>
          <p:cNvPr id="9" name="Title 8">
            <a:extLst>
              <a:ext uri="{FF2B5EF4-FFF2-40B4-BE49-F238E27FC236}">
                <a16:creationId xmlns:a16="http://schemas.microsoft.com/office/drawing/2014/main" id="{FDFF10A2-0E03-73DB-5224-98043612F7A3}"/>
              </a:ext>
            </a:extLst>
          </p:cNvPr>
          <p:cNvSpPr>
            <a:spLocks noGrp="1"/>
          </p:cNvSpPr>
          <p:nvPr>
            <p:ph type="title" hasCustomPrompt="1"/>
          </p:nvPr>
        </p:nvSpPr>
        <p:spPr>
          <a:xfrm>
            <a:off x="420791" y="5151120"/>
            <a:ext cx="5446609" cy="806517"/>
          </a:xfrm>
        </p:spPr>
        <p:txBody>
          <a:bodyPr anchor="ctr"/>
          <a:lstStyle>
            <a:lvl1pPr>
              <a:defRPr sz="140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F4F47579-571B-45A3-BDCA-E2964689F659}" type="datetime1">
              <a:rPr lang="en-US" smtClean="0"/>
              <a:pPr/>
              <a:t>6/9/2026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1501541"/>
            <a:ext cx="7342632" cy="3397064"/>
          </a:xfrm>
        </p:spPr>
        <p:txBody>
          <a:bodyPr anchor="ctr">
            <a:normAutofit/>
          </a:bodyPr>
          <a:lstStyle>
            <a:lvl1pPr marL="164592" indent="-164592">
              <a:lnSpc>
                <a:spcPct val="95000"/>
              </a:lnSpc>
              <a:spcBef>
                <a:spcPts val="0"/>
              </a:spcBef>
              <a:buFont typeface="Arial" panose="020B0604020202020204" pitchFamily="34" charset="0"/>
              <a:buNone/>
              <a:defRPr sz="43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126705346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671787"/>
            <a:ext cx="7179129" cy="1028700"/>
          </a:xfrm>
        </p:spPr>
        <p:txBody>
          <a:bodyPr anchor="ctr">
            <a:normAutofit/>
          </a:bodyPr>
          <a:lstStyle>
            <a:lvl1pPr algn="ctr">
              <a:lnSpc>
                <a:spcPct val="12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926E2CA6-CB6A-465C-BAA7-384FD497485D}" type="datetime1">
              <a:rPr lang="en-US" smtClean="0"/>
              <a:pPr/>
              <a:t>6/9/2026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5" y="1623265"/>
            <a:ext cx="7179130" cy="3048522"/>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35589712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38C42AE-61C6-458B-86C3-22D39A5E8956}" type="datetime1">
              <a:rPr lang="en-US" smtClean="0"/>
              <a:pPr/>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160877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83D71BEE-9C65-4D84-970B-0B47E929926B}" type="datetime1">
              <a:rPr lang="en-US" smtClean="0"/>
              <a:pPr/>
              <a:t>6/9/2026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095474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49AFCF02-D35E-46A4-B7A1-1A2B81F8D932}" type="datetime1">
              <a:rPr lang="en-US" smtClean="0"/>
              <a:pPr/>
              <a:t>6/9/2026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40779115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A57AF51-4D04-4E0C-B33D-81940CAB4B07}" type="datetime1">
              <a:rPr lang="en-US" smtClean="0"/>
              <a:pPr/>
              <a:t>6/9/2026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51054038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32393" y="1115568"/>
            <a:ext cx="3363393" cy="13716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4838700" y="214858"/>
            <a:ext cx="1485900" cy="338328"/>
          </a:xfrm>
        </p:spPr>
        <p:txBody>
          <a:bodyPr/>
          <a:lstStyle>
            <a:lvl1pPr>
              <a:defRPr>
                <a:solidFill>
                  <a:schemeClr val="tx1"/>
                </a:solidFill>
              </a:defRPr>
            </a:lvl1pPr>
          </a:lstStyle>
          <a:p>
            <a:fld id="{91495C13-5B9F-4AD1-A2E2-FB0B577AF6CA}" type="datetime1">
              <a:rPr lang="en-US" smtClean="0"/>
              <a:pPr/>
              <a:t>6/9/2026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32393" y="2563585"/>
            <a:ext cx="3363393" cy="3684815"/>
          </a:xfrm>
        </p:spPr>
        <p:txBody>
          <a:bodyPr anchor="b">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38700" y="1104900"/>
            <a:ext cx="6934200" cy="5201282"/>
          </a:xfrm>
        </p:spPr>
        <p:txBody>
          <a:bodyPr vert="horz" lIns="91440" tIns="45720" rIns="91440" bIns="45720" rtlCol="0">
            <a:normAutofit/>
          </a:bodyPr>
          <a:lstStyle>
            <a:lvl1pPr>
              <a:defRPr lang="en-US" sz="1400" dirty="0">
                <a:solidFill>
                  <a:schemeClr val="tx1"/>
                </a:solidFill>
              </a:defRPr>
            </a:lvl1pPr>
            <a:lvl2pPr>
              <a:defRPr lang="en-US" sz="1200" dirty="0">
                <a:solidFill>
                  <a:schemeClr val="tx1"/>
                </a:solidFill>
              </a:defRPr>
            </a:lvl2pPr>
            <a:lvl3pPr>
              <a:defRPr lang="en-US" sz="12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221040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1104901"/>
            <a:ext cx="2932434" cy="16002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29768" y="219456"/>
            <a:ext cx="2016929" cy="338328"/>
          </a:xfrm>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4838700" y="219456"/>
            <a:ext cx="1429845" cy="338328"/>
          </a:xfrm>
        </p:spPr>
        <p:txBody>
          <a:bodyPr/>
          <a:lstStyle>
            <a:lvl1pPr>
              <a:defRPr>
                <a:solidFill>
                  <a:schemeClr val="tx1"/>
                </a:solidFill>
              </a:defRPr>
            </a:lvl1pPr>
          </a:lstStyle>
          <a:p>
            <a:fld id="{4D189146-EED2-4B95-95A3-EC3C7CBF180D}" type="datetime1">
              <a:rPr lang="en-US" smtClean="0"/>
              <a:pPr/>
              <a:t>6/9/2026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287593" y="216280"/>
            <a:ext cx="560633"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866900" y="3345180"/>
            <a:ext cx="2620859" cy="3093720"/>
          </a:xfrm>
        </p:spPr>
        <p:txBody>
          <a:bodyPr anchor="b">
            <a:normAutofit/>
          </a:bodyPr>
          <a:lstStyle>
            <a:lvl1pPr marL="0" indent="0" algn="r">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7">
            <a:extLst>
              <a:ext uri="{FF2B5EF4-FFF2-40B4-BE49-F238E27FC236}">
                <a16:creationId xmlns:a16="http://schemas.microsoft.com/office/drawing/2014/main" id="{3A723B90-4D46-48FC-60FC-714099462E4C}"/>
              </a:ext>
            </a:extLst>
          </p:cNvPr>
          <p:cNvSpPr>
            <a:spLocks noGrp="1"/>
          </p:cNvSpPr>
          <p:nvPr>
            <p:ph type="pic" idx="1" hasCustomPrompt="1"/>
          </p:nvPr>
        </p:nvSpPr>
        <p:spPr>
          <a:xfrm>
            <a:off x="4924129" y="1104900"/>
            <a:ext cx="7267870" cy="5753100"/>
          </a:xfrm>
          <a:custGeom>
            <a:avLst/>
            <a:gdLst>
              <a:gd name="connsiteX0" fmla="*/ 0 w 7353300"/>
              <a:gd name="connsiteY0" fmla="*/ 0 h 5901550"/>
              <a:gd name="connsiteX1" fmla="*/ 7353300 w 7353300"/>
              <a:gd name="connsiteY1" fmla="*/ 0 h 5901550"/>
              <a:gd name="connsiteX2" fmla="*/ 7353300 w 7353300"/>
              <a:gd name="connsiteY2" fmla="*/ 5901550 h 5901550"/>
              <a:gd name="connsiteX3" fmla="*/ 0 w 7353300"/>
              <a:gd name="connsiteY3" fmla="*/ 5901550 h 5901550"/>
            </a:gdLst>
            <a:ahLst/>
            <a:cxnLst>
              <a:cxn ang="0">
                <a:pos x="connsiteX0" y="connsiteY0"/>
              </a:cxn>
              <a:cxn ang="0">
                <a:pos x="connsiteX1" y="connsiteY1"/>
              </a:cxn>
              <a:cxn ang="0">
                <a:pos x="connsiteX2" y="connsiteY2"/>
              </a:cxn>
              <a:cxn ang="0">
                <a:pos x="connsiteX3" y="connsiteY3"/>
              </a:cxn>
            </a:cxnLst>
            <a:rect l="l" t="t" r="r" b="b"/>
            <a:pathLst>
              <a:path w="7353300" h="5901550">
                <a:moveTo>
                  <a:pt x="0" y="0"/>
                </a:moveTo>
                <a:lnTo>
                  <a:pt x="7353300" y="0"/>
                </a:lnTo>
                <a:lnTo>
                  <a:pt x="7353300" y="5901550"/>
                </a:lnTo>
                <a:lnTo>
                  <a:pt x="0" y="5901550"/>
                </a:lnTo>
                <a:close/>
              </a:path>
            </a:pathLst>
          </a:custGeom>
          <a:blipFill dpi="0" rotWithShape="1">
            <a:blip r:embed="rId2">
              <a:alphaModFix amt="60000"/>
            </a:blip>
            <a:srcRect/>
            <a:stretch>
              <a:fillRect/>
            </a:stretch>
          </a:blipFill>
        </p:spPr>
        <p:txBody>
          <a:bodyPr wrap="square">
            <a:noAutofit/>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3552003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DABFCF2-BE01-43CB-85B3-49CC0FE55050}" type="datetime1">
              <a:rPr lang="en-US" smtClean="0"/>
              <a:pPr/>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897684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119A0F5-9D15-4E68-95BA-31AD4F5D84D0}" type="datetime1">
              <a:rPr lang="en-US" smtClean="0"/>
              <a:pPr/>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456706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Content with Picture 17">
    <p:bg>
      <p:bgRef idx="1001">
        <a:schemeClr val="bg1"/>
      </p:bgRef>
    </p:bg>
    <p:spTree>
      <p:nvGrpSpPr>
        <p:cNvPr id="1" name=""/>
        <p:cNvGrpSpPr/>
        <p:nvPr/>
      </p:nvGrpSpPr>
      <p:grpSpPr>
        <a:xfrm>
          <a:off x="0" y="0"/>
          <a:ext cx="0" cy="0"/>
          <a:chOff x="0" y="0"/>
          <a:chExt cx="0" cy="0"/>
        </a:xfrm>
      </p:grpSpPr>
      <p:sp>
        <p:nvSpPr>
          <p:cNvPr id="10" name="Picture Placeholder 10">
            <a:extLst>
              <a:ext uri="{FF2B5EF4-FFF2-40B4-BE49-F238E27FC236}">
                <a16:creationId xmlns:a16="http://schemas.microsoft.com/office/drawing/2014/main" id="{58A9F406-2B0C-9EC1-691A-81EC3B412DA5}"/>
              </a:ext>
            </a:extLst>
          </p:cNvPr>
          <p:cNvSpPr>
            <a:spLocks noGrp="1"/>
          </p:cNvSpPr>
          <p:nvPr>
            <p:ph type="pic" sz="quarter" idx="13" hasCustomPrompt="1"/>
          </p:nvPr>
        </p:nvSpPr>
        <p:spPr>
          <a:xfrm>
            <a:off x="609600" y="2173849"/>
            <a:ext cx="4675632" cy="4049141"/>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cxnSp>
        <p:nvCxnSpPr>
          <p:cNvPr id="4" name="Straight Connector 3">
            <a:extLst>
              <a:ext uri="{FF2B5EF4-FFF2-40B4-BE49-F238E27FC236}">
                <a16:creationId xmlns:a16="http://schemas.microsoft.com/office/drawing/2014/main" id="{DE681CC6-0816-FBB5-F117-CE232D15B0DE}"/>
              </a:ext>
            </a:extLst>
          </p:cNvPr>
          <p:cNvCxnSpPr>
            <a:cxnSpLocks/>
          </p:cNvCxnSpPr>
          <p:nvPr userDrawn="1"/>
        </p:nvCxnSpPr>
        <p:spPr>
          <a:xfrm>
            <a:off x="5454396" y="164150"/>
            <a:ext cx="673760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DE88D5F-773F-4748-992A-5C3C29E76AD7}" type="datetime1">
              <a:rPr lang="en-US" smtClean="0"/>
              <a:t>6/9/2026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cxnSp>
        <p:nvCxnSpPr>
          <p:cNvPr id="3" name="Straight Connector 2">
            <a:extLst>
              <a:ext uri="{FF2B5EF4-FFF2-40B4-BE49-F238E27FC236}">
                <a16:creationId xmlns:a16="http://schemas.microsoft.com/office/drawing/2014/main" id="{664B8C12-E10A-C714-D6A0-BA32E2C72710}"/>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58B50728-3383-EC9A-417E-37D92F1A79C5}"/>
              </a:ext>
            </a:extLst>
          </p:cNvPr>
          <p:cNvSpPr>
            <a:spLocks noGrp="1"/>
          </p:cNvSpPr>
          <p:nvPr>
            <p:ph type="title"/>
          </p:nvPr>
        </p:nvSpPr>
        <p:spPr>
          <a:xfrm>
            <a:off x="612647" y="634999"/>
            <a:ext cx="4672584" cy="1269482"/>
          </a:xfrm>
        </p:spPr>
        <p:txBody>
          <a:bodyPr anchor="t">
            <a:noAutofit/>
          </a:bodyPr>
          <a:lstStyle>
            <a:lvl1pPr>
              <a:defRPr sz="3600"/>
            </a:lvl1pPr>
          </a:lstStyle>
          <a:p>
            <a:r>
              <a:rPr lang="en-US"/>
              <a:t>Click to edit Master title style</a:t>
            </a:r>
          </a:p>
        </p:txBody>
      </p:sp>
      <p:sp>
        <p:nvSpPr>
          <p:cNvPr id="12" name="Content Placeholder 7">
            <a:extLst>
              <a:ext uri="{FF2B5EF4-FFF2-40B4-BE49-F238E27FC236}">
                <a16:creationId xmlns:a16="http://schemas.microsoft.com/office/drawing/2014/main" id="{A934C409-3B5B-B521-A990-18EF2CF0BCFC}"/>
              </a:ext>
            </a:extLst>
          </p:cNvPr>
          <p:cNvSpPr>
            <a:spLocks noGrp="1"/>
          </p:cNvSpPr>
          <p:nvPr>
            <p:ph sz="quarter" idx="14"/>
          </p:nvPr>
        </p:nvSpPr>
        <p:spPr>
          <a:xfrm>
            <a:off x="5905562" y="634999"/>
            <a:ext cx="5676838" cy="558799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 name="Straight Connector 1">
            <a:extLst>
              <a:ext uri="{FF2B5EF4-FFF2-40B4-BE49-F238E27FC236}">
                <a16:creationId xmlns:a16="http://schemas.microsoft.com/office/drawing/2014/main" id="{CFBAC7DD-4013-C579-09D4-3564365AACA7}"/>
              </a:ext>
            </a:extLst>
          </p:cNvPr>
          <p:cNvCxnSpPr>
            <a:cxnSpLocks/>
          </p:cNvCxnSpPr>
          <p:nvPr userDrawn="1"/>
        </p:nvCxnSpPr>
        <p:spPr>
          <a:xfrm>
            <a:off x="5454396"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5305581"/>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Content with Picture 3">
    <p:bg>
      <p:bgRef idx="1001">
        <a:schemeClr val="bg1"/>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5514FA0-05E8-2961-1038-EAF5251DC614}"/>
              </a:ext>
            </a:extLst>
          </p:cNvPr>
          <p:cNvSpPr>
            <a:spLocks noGrp="1"/>
          </p:cNvSpPr>
          <p:nvPr>
            <p:ph type="title"/>
          </p:nvPr>
        </p:nvSpPr>
        <p:spPr>
          <a:xfrm>
            <a:off x="4487024" y="634999"/>
            <a:ext cx="6950232" cy="1124525"/>
          </a:xfrm>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rot="16200000">
            <a:off x="-2067304" y="2231454"/>
            <a:ext cx="4564376" cy="429768"/>
          </a:xfrm>
        </p:spPr>
        <p:txBody>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rot="16200000">
            <a:off x="-532354" y="5260879"/>
            <a:ext cx="1494474" cy="429768"/>
          </a:xfrm>
        </p:spPr>
        <p:txBody>
          <a:bodyPr/>
          <a:lstStyle/>
          <a:p>
            <a:fld id="{F2A5EBC1-EEC5-7C42-832C-A9026EE0BC29}" type="datetime1">
              <a:rPr lang="en-US" smtClean="0"/>
              <a:t>6/9/2026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cxnSp>
        <p:nvCxnSpPr>
          <p:cNvPr id="10" name="Straight Connector 9">
            <a:extLst>
              <a:ext uri="{FF2B5EF4-FFF2-40B4-BE49-F238E27FC236}">
                <a16:creationId xmlns:a16="http://schemas.microsoft.com/office/drawing/2014/main" id="{5EA26726-2193-5028-87FF-55119A73A643}"/>
              </a:ext>
            </a:extLst>
          </p:cNvPr>
          <p:cNvCxnSpPr>
            <a:cxnSpLocks/>
          </p:cNvCxnSpPr>
          <p:nvPr userDrawn="1"/>
        </p:nvCxnSpPr>
        <p:spPr>
          <a:xfrm>
            <a:off x="3854841" y="164150"/>
            <a:ext cx="833715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8328" y="0"/>
            <a:ext cx="3256513" cy="6858000"/>
          </a:xfrm>
          <a:prstGeom prst="rect">
            <a:avLst/>
          </a:prstGeom>
          <a:blipFill dpi="0" rotWithShape="1">
            <a:blip r:embed="rId2">
              <a:alphaModFix amt="60000"/>
            </a:blip>
            <a:srcRect/>
            <a:stretch>
              <a:fillRect l="-74" r="-74"/>
            </a:stretch>
          </a:blipFill>
        </p:spPr>
        <p:txBody>
          <a:bodyPr/>
          <a:lstStyle>
            <a:lvl1pPr marL="0" indent="0">
              <a:buNone/>
              <a:defRPr/>
            </a:lvl1pPr>
          </a:lstStyle>
          <a:p>
            <a:r>
              <a:rPr lang="en-US"/>
              <a:t> </a:t>
            </a:r>
          </a:p>
        </p:txBody>
      </p:sp>
      <p:cxnSp>
        <p:nvCxnSpPr>
          <p:cNvPr id="5" name="Straight Connector 4">
            <a:extLst>
              <a:ext uri="{FF2B5EF4-FFF2-40B4-BE49-F238E27FC236}">
                <a16:creationId xmlns:a16="http://schemas.microsoft.com/office/drawing/2014/main" id="{1FAA0E72-1F2C-EAE4-77B7-9FF7C88D21DD}"/>
              </a:ext>
            </a:extLst>
          </p:cNvPr>
          <p:cNvCxnSpPr>
            <a:cxnSpLocks/>
          </p:cNvCxnSpPr>
          <p:nvPr userDrawn="1"/>
        </p:nvCxnSpPr>
        <p:spPr>
          <a:xfrm>
            <a:off x="3854841"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EA80D3F-C3CE-0859-0D1F-594C0503DBAA}"/>
              </a:ext>
            </a:extLst>
          </p:cNvPr>
          <p:cNvCxnSpPr>
            <a:cxnSpLocks/>
          </p:cNvCxnSpPr>
          <p:nvPr userDrawn="1"/>
        </p:nvCxnSpPr>
        <p:spPr>
          <a:xfrm>
            <a:off x="429793"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Content Placeholder 7">
            <a:extLst>
              <a:ext uri="{FF2B5EF4-FFF2-40B4-BE49-F238E27FC236}">
                <a16:creationId xmlns:a16="http://schemas.microsoft.com/office/drawing/2014/main" id="{7A9AAC07-CAB1-CF16-5C97-C863D7E6BD22}"/>
              </a:ext>
            </a:extLst>
          </p:cNvPr>
          <p:cNvSpPr>
            <a:spLocks noGrp="1"/>
          </p:cNvSpPr>
          <p:nvPr>
            <p:ph sz="quarter" idx="14"/>
          </p:nvPr>
        </p:nvSpPr>
        <p:spPr>
          <a:xfrm>
            <a:off x="4487024" y="1879608"/>
            <a:ext cx="6950232" cy="43433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7619890"/>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2220997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116453226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spTree>
    <p:extLst>
      <p:ext uri="{BB962C8B-B14F-4D97-AF65-F5344CB8AC3E}">
        <p14:creationId xmlns:p14="http://schemas.microsoft.com/office/powerpoint/2010/main" val="306238348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F288AF9F-2338-4040-A485-373B8EC8151E}" type="datetime1">
              <a:rPr lang="en-US" smtClean="0"/>
              <a:pPr/>
              <a:t>6/9/2026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52743329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Lst>
  <p:hf hdr="0"/>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userDrawn="1">
          <p15:clr>
            <a:srgbClr val="F26B43"/>
          </p15:clr>
        </p15:guide>
        <p15:guide id="4" orient="horz" pos="264" userDrawn="1">
          <p15:clr>
            <a:srgbClr val="F26B43"/>
          </p15:clr>
        </p15:guide>
        <p15:guide id="5" pos="7416" userDrawn="1">
          <p15:clr>
            <a:srgbClr val="F26B43"/>
          </p15:clr>
        </p15:guide>
        <p15:guide id="12" pos="4632" userDrawn="1">
          <p15:clr>
            <a:srgbClr val="F26B43"/>
          </p15:clr>
        </p15:guide>
        <p15:guide id="13" pos="5544" userDrawn="1">
          <p15:clr>
            <a:srgbClr val="F26B43"/>
          </p15:clr>
        </p15:guide>
        <p15:guide id="26" pos="2784" userDrawn="1">
          <p15:clr>
            <a:srgbClr val="F26B43"/>
          </p15:clr>
        </p15:guide>
        <p15:guide id="27" pos="3048" userDrawn="1">
          <p15:clr>
            <a:srgbClr val="F26B43"/>
          </p15:clr>
        </p15:guide>
        <p15:guide id="29" pos="3960" userDrawn="1">
          <p15:clr>
            <a:srgbClr val="F26B43"/>
          </p15:clr>
        </p15:guide>
        <p15:guide id="30" pos="1176" userDrawn="1">
          <p15:clr>
            <a:srgbClr val="F26B43"/>
          </p15:clr>
        </p15:guide>
        <p15:guide id="31" pos="912" userDrawn="1">
          <p15:clr>
            <a:srgbClr val="F26B43"/>
          </p15:clr>
        </p15:guide>
        <p15:guide id="32" pos="3696" userDrawn="1">
          <p15:clr>
            <a:srgbClr val="F26B43"/>
          </p15:clr>
        </p15:guide>
        <p15:guide id="33" pos="1848" userDrawn="1">
          <p15:clr>
            <a:srgbClr val="F26B43"/>
          </p15:clr>
        </p15:guide>
        <p15:guide id="34" pos="2112" userDrawn="1">
          <p15:clr>
            <a:srgbClr val="F26B43"/>
          </p15:clr>
        </p15:guide>
        <p15:guide id="36" pos="6528" userDrawn="1">
          <p15:clr>
            <a:srgbClr val="F26B43"/>
          </p15:clr>
        </p15:guide>
        <p15:guide id="37" pos="6744" userDrawn="1">
          <p15:clr>
            <a:srgbClr val="F26B43"/>
          </p15:clr>
        </p15:guide>
        <p15:guide id="42" orient="horz" pos="39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1.xml"/><Relationship Id="rId5" Type="http://schemas.openxmlformats.org/officeDocument/2006/relationships/image" Target="../media/image30.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7.xml"/><Relationship Id="rId1" Type="http://schemas.openxmlformats.org/officeDocument/2006/relationships/slideLayout" Target="../slideLayouts/slideLayout6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2.xml"/><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4.xml"/><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5.xml"/><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6.xml"/><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7.xml"/><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9.xml"/><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1.xml"/><Relationship Id="rId1" Type="http://schemas.openxmlformats.org/officeDocument/2006/relationships/slideLayout" Target="../slideLayouts/slideLayout4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3.xml"/><Relationship Id="rId1" Type="http://schemas.openxmlformats.org/officeDocument/2006/relationships/slideLayout" Target="../slideLayouts/slideLayout6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5.xml"/><Relationship Id="rId1" Type="http://schemas.openxmlformats.org/officeDocument/2006/relationships/slideLayout" Target="../slideLayouts/slideLayout64.xml"/></Relationships>
</file>

<file path=ppt/slides/_rels/slide2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6.xml"/><Relationship Id="rId1" Type="http://schemas.openxmlformats.org/officeDocument/2006/relationships/slideLayout" Target="../slideLayouts/slideLayout5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3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7.xml"/><Relationship Id="rId1" Type="http://schemas.openxmlformats.org/officeDocument/2006/relationships/slideLayout" Target="../slideLayouts/slideLayout56.xml"/></Relationships>
</file>

<file path=ppt/slides/_rels/slide3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8.xml"/><Relationship Id="rId1" Type="http://schemas.openxmlformats.org/officeDocument/2006/relationships/slideLayout" Target="../slideLayouts/slideLayout64.xml"/></Relationships>
</file>

<file path=ppt/slides/_rels/slide3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9.xml"/><Relationship Id="rId1" Type="http://schemas.openxmlformats.org/officeDocument/2006/relationships/slideLayout" Target="../slideLayouts/slideLayout65.xml"/></Relationships>
</file>

<file path=ppt/slides/_rels/slide3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0.xml"/><Relationship Id="rId1" Type="http://schemas.openxmlformats.org/officeDocument/2006/relationships/slideLayout" Target="../slideLayouts/slideLayout65.xml"/></Relationships>
</file>

<file path=ppt/slides/_rels/slide4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31.xml"/><Relationship Id="rId1" Type="http://schemas.openxmlformats.org/officeDocument/2006/relationships/slideLayout" Target="../slideLayouts/slideLayout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94D0A-8D6C-A801-C6D9-4C8CB7F3D397}"/>
              </a:ext>
            </a:extLst>
          </p:cNvPr>
          <p:cNvSpPr>
            <a:spLocks noGrp="1"/>
          </p:cNvSpPr>
          <p:nvPr>
            <p:ph type="ctrTitle"/>
          </p:nvPr>
        </p:nvSpPr>
        <p:spPr>
          <a:xfrm>
            <a:off x="1776903" y="4822407"/>
            <a:ext cx="6925432" cy="1351342"/>
          </a:xfrm>
        </p:spPr>
        <p:txBody>
          <a:bodyPr anchor="t">
            <a:normAutofit/>
          </a:bodyPr>
          <a:lstStyle/>
          <a:p>
            <a:r>
              <a:rPr lang="en-US" sz="3300"/>
              <a:t>Retrieval-Augmented Generation (RAG) and Local AI Architecture</a:t>
            </a:r>
          </a:p>
        </p:txBody>
      </p:sp>
      <p:sp>
        <p:nvSpPr>
          <p:cNvPr id="3" name="Subtitle 2">
            <a:extLst>
              <a:ext uri="{FF2B5EF4-FFF2-40B4-BE49-F238E27FC236}">
                <a16:creationId xmlns:a16="http://schemas.microsoft.com/office/drawing/2014/main" id="{339463D1-449D-9A14-6F32-29D3B8BE111A}"/>
              </a:ext>
            </a:extLst>
          </p:cNvPr>
          <p:cNvSpPr>
            <a:spLocks noGrp="1"/>
          </p:cNvSpPr>
          <p:nvPr>
            <p:ph type="subTitle" idx="1"/>
          </p:nvPr>
        </p:nvSpPr>
        <p:spPr>
          <a:xfrm>
            <a:off x="9235224" y="4822406"/>
            <a:ext cx="2724238" cy="1351342"/>
          </a:xfrm>
        </p:spPr>
        <p:txBody>
          <a:bodyPr anchor="t">
            <a:normAutofit/>
          </a:bodyPr>
          <a:lstStyle/>
          <a:p>
            <a:r>
              <a:rPr lang="en-US"/>
              <a:t>Integrating data retrieval with localized AI computing systems</a:t>
            </a:r>
          </a:p>
        </p:txBody>
      </p:sp>
      <p:pic>
        <p:nvPicPr>
          <p:cNvPr id="7" name="Picture 6" descr="Internet of Things Concept">
            <a:extLst>
              <a:ext uri="{FF2B5EF4-FFF2-40B4-BE49-F238E27FC236}">
                <a16:creationId xmlns:a16="http://schemas.microsoft.com/office/drawing/2014/main" id="{F35501EF-9C8B-4E23-9187-6A3AD4413353}"/>
              </a:ext>
            </a:extLst>
          </p:cNvPr>
          <p:cNvPicPr>
            <a:picLocks noChangeAspect="1"/>
          </p:cNvPicPr>
          <p:nvPr/>
        </p:nvPicPr>
        <p:blipFill>
          <a:blip r:embed="rId3"/>
          <a:srcRect t="8106" r="1" b="24372"/>
          <a:stretch>
            <a:fillRect/>
          </a:stretch>
        </p:blipFill>
        <p:spPr>
          <a:xfrm>
            <a:off x="1866900" y="10"/>
            <a:ext cx="10325100" cy="4653639"/>
          </a:xfrm>
          <a:prstGeom prst="rect">
            <a:avLst/>
          </a:prstGeom>
        </p:spPr>
      </p:pic>
      <p:sp>
        <p:nvSpPr>
          <p:cNvPr id="4" name="Footer Placeholder 3">
            <a:extLst>
              <a:ext uri="{FF2B5EF4-FFF2-40B4-BE49-F238E27FC236}">
                <a16:creationId xmlns:a16="http://schemas.microsoft.com/office/drawing/2014/main" id="{4A15444A-5030-3AB7-C1C4-719E9F7B1C41}"/>
              </a:ext>
            </a:extLst>
          </p:cNvPr>
          <p:cNvSpPr>
            <a:spLocks noGrp="1"/>
          </p:cNvSpPr>
          <p:nvPr>
            <p:ph type="ftr" sz="quarter" idx="11"/>
          </p:nvPr>
        </p:nvSpPr>
        <p:spPr>
          <a:xfrm>
            <a:off x="1776903" y="6447496"/>
            <a:ext cx="2140360" cy="338328"/>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E9F1C392-EF35-FA1E-1F4F-91ACC8C8D49F}"/>
              </a:ext>
            </a:extLst>
          </p:cNvPr>
          <p:cNvSpPr>
            <a:spLocks noGrp="1"/>
          </p:cNvSpPr>
          <p:nvPr>
            <p:ph type="dt" sz="half" idx="10"/>
          </p:nvPr>
        </p:nvSpPr>
        <p:spPr>
          <a:xfrm>
            <a:off x="9235224" y="6451888"/>
            <a:ext cx="1581238" cy="338328"/>
          </a:xfrm>
        </p:spPr>
        <p:txBody>
          <a:bodyPr anchor="ctr">
            <a:normAutofit/>
          </a:bodyPr>
          <a:lstStyle/>
          <a:p>
            <a:pPr>
              <a:spcAft>
                <a:spcPts val="600"/>
              </a:spcAft>
            </a:pPr>
            <a:fld id="{21359139-99F8-4B6E-8834-95F2B9D91EE4}" type="datetime1">
              <a:rPr lang="en-US" smtClean="0"/>
              <a:pPr>
                <a:spcAft>
                  <a:spcPts val="600"/>
                </a:spcAft>
              </a:pPr>
              <a:t>6/9/2026</a:t>
            </a:fld>
            <a:endParaRPr lang="en-US"/>
          </a:p>
        </p:txBody>
      </p:sp>
      <p:sp>
        <p:nvSpPr>
          <p:cNvPr id="6" name="Slide Number Placeholder 5">
            <a:extLst>
              <a:ext uri="{FF2B5EF4-FFF2-40B4-BE49-F238E27FC236}">
                <a16:creationId xmlns:a16="http://schemas.microsoft.com/office/drawing/2014/main" id="{724FD526-85E0-2173-D51D-43E98DF54789}"/>
              </a:ext>
            </a:extLst>
          </p:cNvPr>
          <p:cNvSpPr>
            <a:spLocks noGrp="1"/>
          </p:cNvSpPr>
          <p:nvPr>
            <p:ph type="sldNum" sz="quarter" idx="12"/>
          </p:nvPr>
        </p:nvSpPr>
        <p:spPr>
          <a:xfrm>
            <a:off x="11480357" y="6451888"/>
            <a:ext cx="457200" cy="338328"/>
          </a:xfrm>
        </p:spPr>
        <p:txBody>
          <a:bodyPr anchor="ctr">
            <a:normAutofit/>
          </a:bodyPr>
          <a:lstStyle/>
          <a:p>
            <a:pPr>
              <a:spcAft>
                <a:spcPts val="600"/>
              </a:spcAft>
            </a:pPr>
            <a:fld id="{8E274F5D-21DC-40EF-8DBA-AB9BB119E939}" type="slidenum">
              <a:rPr lang="en-US" smtClean="0"/>
              <a:pPr>
                <a:spcAft>
                  <a:spcPts val="600"/>
                </a:spcAft>
              </a:pPr>
              <a:t>1</a:t>
            </a:fld>
            <a:endParaRPr lang="en-US"/>
          </a:p>
        </p:txBody>
      </p:sp>
    </p:spTree>
    <p:extLst>
      <p:ext uri="{BB962C8B-B14F-4D97-AF65-F5344CB8AC3E}">
        <p14:creationId xmlns:p14="http://schemas.microsoft.com/office/powerpoint/2010/main" val="2517688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837CC-6ED5-5339-BC68-2A9C206BC0D7}"/>
              </a:ext>
            </a:extLst>
          </p:cNvPr>
          <p:cNvSpPr>
            <a:spLocks noGrp="1"/>
          </p:cNvSpPr>
          <p:nvPr>
            <p:ph type="title"/>
          </p:nvPr>
        </p:nvSpPr>
        <p:spPr>
          <a:xfrm>
            <a:off x="409980" y="4311805"/>
            <a:ext cx="8585337" cy="2368300"/>
          </a:xfrm>
        </p:spPr>
        <p:txBody>
          <a:bodyPr anchor="b">
            <a:normAutofit/>
          </a:bodyPr>
          <a:lstStyle/>
          <a:p>
            <a:r>
              <a:rPr lang="en-US"/>
              <a:t>Foundations of RAG</a:t>
            </a:r>
          </a:p>
        </p:txBody>
      </p:sp>
      <p:sp>
        <p:nvSpPr>
          <p:cNvPr id="4" name="Footer Placeholder 3">
            <a:extLst>
              <a:ext uri="{FF2B5EF4-FFF2-40B4-BE49-F238E27FC236}">
                <a16:creationId xmlns:a16="http://schemas.microsoft.com/office/drawing/2014/main" id="{BE217D35-DC18-D34F-5E3A-34FDEA639D46}"/>
              </a:ext>
            </a:extLst>
          </p:cNvPr>
          <p:cNvSpPr>
            <a:spLocks noGrp="1"/>
          </p:cNvSpPr>
          <p:nvPr>
            <p:ph type="ftr" sz="quarter" idx="11"/>
          </p:nvPr>
        </p:nvSpPr>
        <p:spPr>
          <a:xfrm>
            <a:off x="419100" y="219456"/>
            <a:ext cx="2656178" cy="338328"/>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1D96411B-BDED-C72B-D484-56E882AD9FD0}"/>
              </a:ext>
            </a:extLst>
          </p:cNvPr>
          <p:cNvSpPr>
            <a:spLocks noGrp="1"/>
          </p:cNvSpPr>
          <p:nvPr>
            <p:ph type="dt" sz="half" idx="10"/>
          </p:nvPr>
        </p:nvSpPr>
        <p:spPr>
          <a:xfrm>
            <a:off x="8801100" y="219456"/>
            <a:ext cx="1913256" cy="338328"/>
          </a:xfrm>
        </p:spPr>
        <p:txBody>
          <a:bodyPr anchor="ctr">
            <a:normAutofit/>
          </a:bodyPr>
          <a:lstStyle/>
          <a:p>
            <a:pPr>
              <a:spcAft>
                <a:spcPts val="600"/>
              </a:spcAft>
            </a:pPr>
            <a:fld id="{21359139-99F8-4B6E-8834-95F2B9D91EE4}" type="datetime1">
              <a:rPr lang="en-US" smtClean="0"/>
              <a:pPr>
                <a:spcAft>
                  <a:spcPts val="600"/>
                </a:spcAft>
              </a:pPr>
              <a:t>6/9/2026</a:t>
            </a:fld>
            <a:endParaRPr lang="en-US"/>
          </a:p>
        </p:txBody>
      </p:sp>
      <p:sp>
        <p:nvSpPr>
          <p:cNvPr id="6" name="Slide Number Placeholder 5">
            <a:extLst>
              <a:ext uri="{FF2B5EF4-FFF2-40B4-BE49-F238E27FC236}">
                <a16:creationId xmlns:a16="http://schemas.microsoft.com/office/drawing/2014/main" id="{CC513CA2-6D16-8361-8756-044BCD4BF533}"/>
              </a:ext>
            </a:extLst>
          </p:cNvPr>
          <p:cNvSpPr>
            <a:spLocks noGrp="1"/>
          </p:cNvSpPr>
          <p:nvPr>
            <p:ph type="sldNum" sz="quarter" idx="12"/>
          </p:nvPr>
        </p:nvSpPr>
        <p:spPr>
          <a:xfrm>
            <a:off x="11291658" y="219456"/>
            <a:ext cx="555948" cy="338328"/>
          </a:xfrm>
        </p:spPr>
        <p:txBody>
          <a:bodyPr anchor="ctr">
            <a:normAutofit/>
          </a:bodyPr>
          <a:lstStyle/>
          <a:p>
            <a:pPr>
              <a:spcAft>
                <a:spcPts val="600"/>
              </a:spcAft>
            </a:pPr>
            <a:fld id="{8E274F5D-21DC-40EF-8DBA-AB9BB119E939}" type="slidenum">
              <a:rPr lang="en-US" smtClean="0"/>
              <a:pPr>
                <a:spcAft>
                  <a:spcPts val="600"/>
                </a:spcAft>
              </a:pPr>
              <a:t>2</a:t>
            </a:fld>
            <a:endParaRPr lang="en-US"/>
          </a:p>
        </p:txBody>
      </p:sp>
    </p:spTree>
    <p:extLst>
      <p:ext uri="{BB962C8B-B14F-4D97-AF65-F5344CB8AC3E}">
        <p14:creationId xmlns:p14="http://schemas.microsoft.com/office/powerpoint/2010/main" val="31604278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7D1DA-6C8C-84D7-3271-FD1203D6FAF9}"/>
              </a:ext>
            </a:extLst>
          </p:cNvPr>
          <p:cNvSpPr>
            <a:spLocks noGrp="1"/>
          </p:cNvSpPr>
          <p:nvPr>
            <p:ph type="title"/>
          </p:nvPr>
        </p:nvSpPr>
        <p:spPr>
          <a:xfrm>
            <a:off x="7777906" y="1115568"/>
            <a:ext cx="3608254" cy="1389582"/>
          </a:xfrm>
        </p:spPr>
        <p:txBody>
          <a:bodyPr anchor="t">
            <a:normAutofit/>
          </a:bodyPr>
          <a:lstStyle/>
          <a:p>
            <a:r>
              <a:rPr lang="en-US" sz="2800"/>
              <a:t>Understanding Retrieval-Augmented Generation</a:t>
            </a:r>
          </a:p>
        </p:txBody>
      </p:sp>
      <p:sp>
        <p:nvSpPr>
          <p:cNvPr id="3" name="Footer Placeholder 2">
            <a:extLst>
              <a:ext uri="{FF2B5EF4-FFF2-40B4-BE49-F238E27FC236}">
                <a16:creationId xmlns:a16="http://schemas.microsoft.com/office/drawing/2014/main" id="{EA0F02FC-5CAD-632E-7D1E-0B5B539C711A}"/>
              </a:ext>
            </a:extLst>
          </p:cNvPr>
          <p:cNvSpPr>
            <a:spLocks noGrp="1"/>
          </p:cNvSpPr>
          <p:nvPr>
            <p:ph type="ftr" sz="quarter" idx="11"/>
          </p:nvPr>
        </p:nvSpPr>
        <p:spPr>
          <a:xfrm>
            <a:off x="429768" y="219456"/>
            <a:ext cx="2647915"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0A4D0251-0CFD-AF53-1D9A-BEC9877E25F9}"/>
              </a:ext>
            </a:extLst>
          </p:cNvPr>
          <p:cNvSpPr>
            <a:spLocks noGrp="1"/>
          </p:cNvSpPr>
          <p:nvPr>
            <p:ph type="dt" sz="half" idx="10"/>
          </p:nvPr>
        </p:nvSpPr>
        <p:spPr>
          <a:xfrm>
            <a:off x="7777905" y="219456"/>
            <a:ext cx="1586711" cy="338328"/>
          </a:xfrm>
        </p:spPr>
        <p:txBody>
          <a:bodyPr anchor="ctr">
            <a:normAutofit/>
          </a:bodyPr>
          <a:lstStyle/>
          <a:p>
            <a:pPr>
              <a:spcAft>
                <a:spcPts val="600"/>
              </a:spcAft>
            </a:pPr>
            <a:fld id="{F38C42AE-61C6-458B-86C3-22D39A5E8956}"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21B64B24-394F-080F-156B-8872DEFA75FF}"/>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3</a:t>
            </a:fld>
            <a:endParaRPr lang="en-US"/>
          </a:p>
        </p:txBody>
      </p:sp>
      <p:pic>
        <p:nvPicPr>
          <p:cNvPr id="8" name="Content Placeholder 7" descr="Intense businessman working in virtual reality.">
            <a:extLst>
              <a:ext uri="{FF2B5EF4-FFF2-40B4-BE49-F238E27FC236}">
                <a16:creationId xmlns:a16="http://schemas.microsoft.com/office/drawing/2014/main" id="{9FF2E4DC-5661-4C0C-970C-14C7272172A9}"/>
              </a:ext>
            </a:extLst>
          </p:cNvPr>
          <p:cNvPicPr>
            <a:picLocks noGrp="1" noChangeAspect="1"/>
          </p:cNvPicPr>
          <p:nvPr>
            <p:ph type="pic" sz="quarter" idx="15"/>
          </p:nvPr>
        </p:nvPicPr>
        <p:blipFill>
          <a:blip r:embed="rId3"/>
          <a:srcRect l="6245" r="7495" b="1"/>
          <a:stretch>
            <a:fillRect/>
          </a:stretch>
        </p:blipFill>
        <p:spPr>
          <a:xfrm>
            <a:off x="20" y="1181100"/>
            <a:ext cx="7336199" cy="5676900"/>
          </a:xfrm>
        </p:spPr>
      </p:pic>
      <p:sp>
        <p:nvSpPr>
          <p:cNvPr id="7" name="Content Placeholder 6">
            <a:extLst>
              <a:ext uri="{FF2B5EF4-FFF2-40B4-BE49-F238E27FC236}">
                <a16:creationId xmlns:a16="http://schemas.microsoft.com/office/drawing/2014/main" id="{1BBF2C97-B3CB-E096-70E0-50C2D2B8B73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777904" y="2705100"/>
            <a:ext cx="3608255" cy="3733800"/>
          </a:xfrm>
        </p:spPr>
        <p:txBody>
          <a:bodyPr>
            <a:normAutofit/>
          </a:bodyPr>
          <a:lstStyle/>
          <a:p>
            <a:pPr marL="0" indent="0">
              <a:lnSpc>
                <a:spcPct val="110000"/>
              </a:lnSpc>
              <a:spcBef>
                <a:spcPts val="2500"/>
              </a:spcBef>
              <a:buFont typeface="Arial" panose="020B0604020202020204" pitchFamily="34" charset="0"/>
              <a:buNone/>
            </a:pPr>
            <a:r>
              <a:rPr lang="en-US" b="1"/>
              <a:t>RAG Enhances LLMs</a:t>
            </a:r>
          </a:p>
          <a:p>
            <a:pPr marL="0" lvl="1" indent="0">
              <a:lnSpc>
                <a:spcPct val="110000"/>
              </a:lnSpc>
              <a:buFont typeface="Arial" panose="020B0604020202020204" pitchFamily="34" charset="0"/>
              <a:buNone/>
            </a:pPr>
            <a:r>
              <a:rPr lang="en-US"/>
              <a:t>RAG improves large language models by grounding answers in external data sources, reducing hallucinations.</a:t>
            </a:r>
          </a:p>
          <a:p>
            <a:pPr marL="0" indent="0">
              <a:lnSpc>
                <a:spcPct val="110000"/>
              </a:lnSpc>
              <a:spcBef>
                <a:spcPts val="2500"/>
              </a:spcBef>
              <a:buFont typeface="Arial" panose="020B0604020202020204" pitchFamily="34" charset="0"/>
              <a:buNone/>
            </a:pPr>
            <a:r>
              <a:rPr lang="en-US" b="1"/>
              <a:t>Embedding and Retrieval Process</a:t>
            </a:r>
          </a:p>
          <a:p>
            <a:pPr marL="0" lvl="1" indent="0">
              <a:lnSpc>
                <a:spcPct val="110000"/>
              </a:lnSpc>
              <a:buFont typeface="Arial" panose="020B0604020202020204" pitchFamily="34" charset="0"/>
              <a:buNone/>
            </a:pPr>
            <a:r>
              <a:rPr lang="en-US"/>
              <a:t>Documents and queries are converted into vector embeddings and matched in vector databases to find relevant data.</a:t>
            </a:r>
          </a:p>
          <a:p>
            <a:pPr marL="0" indent="0">
              <a:lnSpc>
                <a:spcPct val="110000"/>
              </a:lnSpc>
              <a:spcBef>
                <a:spcPts val="2500"/>
              </a:spcBef>
              <a:buFont typeface="Arial" panose="020B0604020202020204" pitchFamily="34" charset="0"/>
              <a:buNone/>
            </a:pPr>
            <a:r>
              <a:rPr lang="en-US" b="1"/>
              <a:t>Applications in Enterprises</a:t>
            </a:r>
          </a:p>
          <a:p>
            <a:pPr marL="0" lvl="1" indent="0">
              <a:lnSpc>
                <a:spcPct val="110000"/>
              </a:lnSpc>
              <a:buFont typeface="Arial" panose="020B0604020202020204" pitchFamily="34" charset="0"/>
              <a:buNone/>
            </a:pPr>
            <a:r>
              <a:rPr lang="en-US"/>
              <a:t>RAG is used in industries like healthcare, legal, and finance for accurate, real-time knowledge-based responses.</a:t>
            </a:r>
          </a:p>
        </p:txBody>
      </p:sp>
    </p:spTree>
    <p:extLst>
      <p:ext uri="{BB962C8B-B14F-4D97-AF65-F5344CB8AC3E}">
        <p14:creationId xmlns:p14="http://schemas.microsoft.com/office/powerpoint/2010/main" val="25860381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0881274-EE3C-8AD4-CF0E-CC4EE54011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35670" y="1677841"/>
            <a:ext cx="6580973" cy="878387"/>
          </a:xfrm>
          <a:prstGeom prst="rect">
            <a:avLst/>
          </a:prstGeom>
        </p:spPr>
      </p:pic>
      <p:pic>
        <p:nvPicPr>
          <p:cNvPr id="11" name="Picture 10">
            <a:extLst>
              <a:ext uri="{FF2B5EF4-FFF2-40B4-BE49-F238E27FC236}">
                <a16:creationId xmlns:a16="http://schemas.microsoft.com/office/drawing/2014/main" id="{9C663D6D-9F01-1206-08C7-EF4E0A6808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4586" y="3510579"/>
            <a:ext cx="8246306" cy="1920259"/>
          </a:xfrm>
          <a:prstGeom prst="rect">
            <a:avLst/>
          </a:prstGeom>
        </p:spPr>
      </p:pic>
      <p:graphicFrame>
        <p:nvGraphicFramePr>
          <p:cNvPr id="12" name="Object 11">
            <a:extLst>
              <a:ext uri="{FF2B5EF4-FFF2-40B4-BE49-F238E27FC236}">
                <a16:creationId xmlns:a16="http://schemas.microsoft.com/office/drawing/2014/main" id="{921A41BD-71DB-3E2E-E3A0-576DA05EBFC8}"/>
              </a:ext>
            </a:extLst>
          </p:cNvPr>
          <p:cNvGraphicFramePr>
            <a:graphicFrameLocks noChangeAspect="1"/>
          </p:cNvGraphicFramePr>
          <p:nvPr>
            <p:extLst>
              <p:ext uri="{D42A27DB-BD31-4B8C-83A1-F6EECF244321}">
                <p14:modId xmlns:p14="http://schemas.microsoft.com/office/powerpoint/2010/main" val="2573799762"/>
              </p:ext>
            </p:extLst>
          </p:nvPr>
        </p:nvGraphicFramePr>
        <p:xfrm>
          <a:off x="3973513" y="5430838"/>
          <a:ext cx="2139950" cy="527050"/>
        </p:xfrm>
        <a:graphic>
          <a:graphicData uri="http://schemas.openxmlformats.org/presentationml/2006/ole">
            <mc:AlternateContent xmlns:mc="http://schemas.openxmlformats.org/markup-compatibility/2006">
              <mc:Choice xmlns:v="urn:schemas-microsoft-com:vml" Requires="v">
                <p:oleObj name="Packager Shell Object" showAsIcon="1" r:id="rId4" imgW="2139792" imgH="527283" progId="Package">
                  <p:embed/>
                </p:oleObj>
              </mc:Choice>
              <mc:Fallback>
                <p:oleObj name="Packager Shell Object" showAsIcon="1" r:id="rId4" imgW="2139792" imgH="527283" progId="Package">
                  <p:embed/>
                  <p:pic>
                    <p:nvPicPr>
                      <p:cNvPr id="0" name=""/>
                      <p:cNvPicPr/>
                      <p:nvPr/>
                    </p:nvPicPr>
                    <p:blipFill>
                      <a:blip r:embed="rId5"/>
                      <a:stretch>
                        <a:fillRect/>
                      </a:stretch>
                    </p:blipFill>
                    <p:spPr>
                      <a:xfrm>
                        <a:off x="3973513" y="5430838"/>
                        <a:ext cx="2139950" cy="527050"/>
                      </a:xfrm>
                      <a:prstGeom prst="rect">
                        <a:avLst/>
                      </a:prstGeom>
                    </p:spPr>
                  </p:pic>
                </p:oleObj>
              </mc:Fallback>
            </mc:AlternateContent>
          </a:graphicData>
        </a:graphic>
      </p:graphicFrame>
    </p:spTree>
    <p:extLst>
      <p:ext uri="{BB962C8B-B14F-4D97-AF65-F5344CB8AC3E}">
        <p14:creationId xmlns:p14="http://schemas.microsoft.com/office/powerpoint/2010/main" val="2425426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91A97-2270-E81A-5AB7-A6AED53A8B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D013A0-F679-1EF7-C9D7-491BD8FC130F}"/>
              </a:ext>
            </a:extLst>
          </p:cNvPr>
          <p:cNvSpPr>
            <a:spLocks noGrp="1"/>
          </p:cNvSpPr>
          <p:nvPr>
            <p:ph type="title"/>
          </p:nvPr>
        </p:nvSpPr>
        <p:spPr/>
        <p:txBody>
          <a:bodyPr/>
          <a:lstStyle/>
          <a:p>
            <a:r>
              <a:rPr lang="en-US" noProof="0" dirty="0"/>
              <a:t>Building a RAG system</a:t>
            </a:r>
          </a:p>
        </p:txBody>
      </p:sp>
      <p:graphicFrame>
        <p:nvGraphicFramePr>
          <p:cNvPr id="3" name="Content Placeholder 2">
            <a:extLst>
              <a:ext uri="{FF2B5EF4-FFF2-40B4-BE49-F238E27FC236}">
                <a16:creationId xmlns:a16="http://schemas.microsoft.com/office/drawing/2014/main" id="{8C1A5700-361E-912D-68EC-B3ADCD706B39}"/>
              </a:ext>
            </a:extLst>
          </p:cNvPr>
          <p:cNvGraphicFramePr>
            <a:graphicFrameLocks noGrp="1"/>
          </p:cNvGraphicFramePr>
          <p:nvPr>
            <p:ph sz="quarter" idx="10"/>
          </p:nvPr>
        </p:nvGraphicFramePr>
        <p:xfrm>
          <a:off x="584200" y="1435100"/>
          <a:ext cx="11018838" cy="48339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20819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graphicEl>
                                              <a:dgm id="{FB7BED7C-5FA5-4781-9B1F-C416F492FE5C}"/>
                                            </p:graphicEl>
                                          </p:spTgt>
                                        </p:tgtEl>
                                        <p:attrNameLst>
                                          <p:attrName>style.visibility</p:attrName>
                                        </p:attrNameLst>
                                      </p:cBhvr>
                                      <p:to>
                                        <p:strVal val="visible"/>
                                      </p:to>
                                    </p:set>
                                    <p:animEffect transition="in" filter="fade">
                                      <p:cBhvr>
                                        <p:cTn id="7" dur="500"/>
                                        <p:tgtEl>
                                          <p:spTgt spid="3">
                                            <p:graphicEl>
                                              <a:dgm id="{FB7BED7C-5FA5-4781-9B1F-C416F492FE5C}"/>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graphicEl>
                                              <a:dgm id="{406411B0-3CD4-4A54-A0C5-1C1C399F91F1}"/>
                                            </p:graphicEl>
                                          </p:spTgt>
                                        </p:tgtEl>
                                        <p:attrNameLst>
                                          <p:attrName>style.visibility</p:attrName>
                                        </p:attrNameLst>
                                      </p:cBhvr>
                                      <p:to>
                                        <p:strVal val="visible"/>
                                      </p:to>
                                    </p:set>
                                    <p:animEffect transition="in" filter="fade">
                                      <p:cBhvr>
                                        <p:cTn id="12" dur="500"/>
                                        <p:tgtEl>
                                          <p:spTgt spid="3">
                                            <p:graphicEl>
                                              <a:dgm id="{406411B0-3CD4-4A54-A0C5-1C1C399F91F1}"/>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graphicEl>
                                              <a:dgm id="{1C91F63C-D6AF-4D45-A4E6-0E446A4749BD}"/>
                                            </p:graphicEl>
                                          </p:spTgt>
                                        </p:tgtEl>
                                        <p:attrNameLst>
                                          <p:attrName>style.visibility</p:attrName>
                                        </p:attrNameLst>
                                      </p:cBhvr>
                                      <p:to>
                                        <p:strVal val="visible"/>
                                      </p:to>
                                    </p:set>
                                    <p:animEffect transition="in" filter="fade">
                                      <p:cBhvr>
                                        <p:cTn id="15" dur="500"/>
                                        <p:tgtEl>
                                          <p:spTgt spid="3">
                                            <p:graphicEl>
                                              <a:dgm id="{1C91F63C-D6AF-4D45-A4E6-0E446A4749BD}"/>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graphicEl>
                                              <a:dgm id="{8F3EFA8D-23D4-4B33-A96F-155D61F10420}"/>
                                            </p:graphicEl>
                                          </p:spTgt>
                                        </p:tgtEl>
                                        <p:attrNameLst>
                                          <p:attrName>style.visibility</p:attrName>
                                        </p:attrNameLst>
                                      </p:cBhvr>
                                      <p:to>
                                        <p:strVal val="visible"/>
                                      </p:to>
                                    </p:set>
                                    <p:animEffect transition="in" filter="fade">
                                      <p:cBhvr>
                                        <p:cTn id="20" dur="500"/>
                                        <p:tgtEl>
                                          <p:spTgt spid="3">
                                            <p:graphicEl>
                                              <a:dgm id="{8F3EFA8D-23D4-4B33-A96F-155D61F10420}"/>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graphicEl>
                                              <a:dgm id="{AC9CAA2E-2916-494C-805E-E99CABEEC773}"/>
                                            </p:graphicEl>
                                          </p:spTgt>
                                        </p:tgtEl>
                                        <p:attrNameLst>
                                          <p:attrName>style.visibility</p:attrName>
                                        </p:attrNameLst>
                                      </p:cBhvr>
                                      <p:to>
                                        <p:strVal val="visible"/>
                                      </p:to>
                                    </p:set>
                                    <p:animEffect transition="in" filter="fade">
                                      <p:cBhvr>
                                        <p:cTn id="23" dur="500"/>
                                        <p:tgtEl>
                                          <p:spTgt spid="3">
                                            <p:graphicEl>
                                              <a:dgm id="{AC9CAA2E-2916-494C-805E-E99CABEEC773}"/>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graphicEl>
                                              <a:dgm id="{7EBC0F99-40D3-4F2A-B50C-EC1FCFA37909}"/>
                                            </p:graphicEl>
                                          </p:spTgt>
                                        </p:tgtEl>
                                        <p:attrNameLst>
                                          <p:attrName>style.visibility</p:attrName>
                                        </p:attrNameLst>
                                      </p:cBhvr>
                                      <p:to>
                                        <p:strVal val="visible"/>
                                      </p:to>
                                    </p:set>
                                    <p:animEffect transition="in" filter="fade">
                                      <p:cBhvr>
                                        <p:cTn id="28" dur="500"/>
                                        <p:tgtEl>
                                          <p:spTgt spid="3">
                                            <p:graphicEl>
                                              <a:dgm id="{7EBC0F99-40D3-4F2A-B50C-EC1FCFA37909}"/>
                                            </p:graphic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graphicEl>
                                              <a:dgm id="{58E92068-03E1-4619-BFB0-E1899AD1CC9E}"/>
                                            </p:graphicEl>
                                          </p:spTgt>
                                        </p:tgtEl>
                                        <p:attrNameLst>
                                          <p:attrName>style.visibility</p:attrName>
                                        </p:attrNameLst>
                                      </p:cBhvr>
                                      <p:to>
                                        <p:strVal val="visible"/>
                                      </p:to>
                                    </p:set>
                                    <p:animEffect transition="in" filter="fade">
                                      <p:cBhvr>
                                        <p:cTn id="31" dur="500"/>
                                        <p:tgtEl>
                                          <p:spTgt spid="3">
                                            <p:graphicEl>
                                              <a:dgm id="{58E92068-03E1-4619-BFB0-E1899AD1CC9E}"/>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graphicEl>
                                              <a:dgm id="{F6E3D06E-214A-4E59-9B5A-22B0B774835F}"/>
                                            </p:graphicEl>
                                          </p:spTgt>
                                        </p:tgtEl>
                                        <p:attrNameLst>
                                          <p:attrName>style.visibility</p:attrName>
                                        </p:attrNameLst>
                                      </p:cBhvr>
                                      <p:to>
                                        <p:strVal val="visible"/>
                                      </p:to>
                                    </p:set>
                                    <p:animEffect transition="in" filter="fade">
                                      <p:cBhvr>
                                        <p:cTn id="36" dur="500"/>
                                        <p:tgtEl>
                                          <p:spTgt spid="3">
                                            <p:graphicEl>
                                              <a:dgm id="{F6E3D06E-214A-4E59-9B5A-22B0B774835F}"/>
                                            </p:graphic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
                                            <p:graphicEl>
                                              <a:dgm id="{ACBFACFA-79CE-4240-8FE3-4068A490A061}"/>
                                            </p:graphicEl>
                                          </p:spTgt>
                                        </p:tgtEl>
                                        <p:attrNameLst>
                                          <p:attrName>style.visibility</p:attrName>
                                        </p:attrNameLst>
                                      </p:cBhvr>
                                      <p:to>
                                        <p:strVal val="visible"/>
                                      </p:to>
                                    </p:set>
                                    <p:animEffect transition="in" filter="fade">
                                      <p:cBhvr>
                                        <p:cTn id="39" dur="500"/>
                                        <p:tgtEl>
                                          <p:spTgt spid="3">
                                            <p:graphicEl>
                                              <a:dgm id="{ACBFACFA-79CE-4240-8FE3-4068A490A061}"/>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graphicEl>
                                              <a:dgm id="{CF13A996-356B-4C34-A79F-EE966D797991}"/>
                                            </p:graphicEl>
                                          </p:spTgt>
                                        </p:tgtEl>
                                        <p:attrNameLst>
                                          <p:attrName>style.visibility</p:attrName>
                                        </p:attrNameLst>
                                      </p:cBhvr>
                                      <p:to>
                                        <p:strVal val="visible"/>
                                      </p:to>
                                    </p:set>
                                    <p:animEffect transition="in" filter="fade">
                                      <p:cBhvr>
                                        <p:cTn id="44" dur="500"/>
                                        <p:tgtEl>
                                          <p:spTgt spid="3">
                                            <p:graphicEl>
                                              <a:dgm id="{CF13A996-356B-4C34-A79F-EE966D797991}"/>
                                            </p:graphic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
                                            <p:graphicEl>
                                              <a:dgm id="{C17A25A3-CA0D-4B31-A330-5E10CBE3A7F0}"/>
                                            </p:graphicEl>
                                          </p:spTgt>
                                        </p:tgtEl>
                                        <p:attrNameLst>
                                          <p:attrName>style.visibility</p:attrName>
                                        </p:attrNameLst>
                                      </p:cBhvr>
                                      <p:to>
                                        <p:strVal val="visible"/>
                                      </p:to>
                                    </p:set>
                                    <p:animEffect transition="in" filter="fade">
                                      <p:cBhvr>
                                        <p:cTn id="47" dur="500"/>
                                        <p:tgtEl>
                                          <p:spTgt spid="3">
                                            <p:graphicEl>
                                              <a:dgm id="{C17A25A3-CA0D-4B31-A330-5E10CBE3A7F0}"/>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graphicEl>
                                              <a:dgm id="{D2AE7613-3C80-46C6-AEB5-914810406613}"/>
                                            </p:graphicEl>
                                          </p:spTgt>
                                        </p:tgtEl>
                                        <p:attrNameLst>
                                          <p:attrName>style.visibility</p:attrName>
                                        </p:attrNameLst>
                                      </p:cBhvr>
                                      <p:to>
                                        <p:strVal val="visible"/>
                                      </p:to>
                                    </p:set>
                                    <p:animEffect transition="in" filter="fade">
                                      <p:cBhvr>
                                        <p:cTn id="52" dur="500"/>
                                        <p:tgtEl>
                                          <p:spTgt spid="3">
                                            <p:graphicEl>
                                              <a:dgm id="{D2AE7613-3C80-46C6-AEB5-914810406613}"/>
                                            </p:graphic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
                                            <p:graphicEl>
                                              <a:dgm id="{D5E3504B-5173-4FFC-8C2C-6BE086B520F0}"/>
                                            </p:graphicEl>
                                          </p:spTgt>
                                        </p:tgtEl>
                                        <p:attrNameLst>
                                          <p:attrName>style.visibility</p:attrName>
                                        </p:attrNameLst>
                                      </p:cBhvr>
                                      <p:to>
                                        <p:strVal val="visible"/>
                                      </p:to>
                                    </p:set>
                                    <p:animEffect transition="in" filter="fade">
                                      <p:cBhvr>
                                        <p:cTn id="55" dur="500"/>
                                        <p:tgtEl>
                                          <p:spTgt spid="3">
                                            <p:graphicEl>
                                              <a:dgm id="{D5E3504B-5173-4FFC-8C2C-6BE086B520F0}"/>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
                                            <p:graphicEl>
                                              <a:dgm id="{8F728BF3-21DE-43AF-8837-8540464EC969}"/>
                                            </p:graphicEl>
                                          </p:spTgt>
                                        </p:tgtEl>
                                        <p:attrNameLst>
                                          <p:attrName>style.visibility</p:attrName>
                                        </p:attrNameLst>
                                      </p:cBhvr>
                                      <p:to>
                                        <p:strVal val="visible"/>
                                      </p:to>
                                    </p:set>
                                    <p:animEffect transition="in" filter="fade">
                                      <p:cBhvr>
                                        <p:cTn id="60" dur="500"/>
                                        <p:tgtEl>
                                          <p:spTgt spid="3">
                                            <p:graphicEl>
                                              <a:dgm id="{8F728BF3-21DE-43AF-8837-8540464EC969}"/>
                                            </p:graphic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
                                            <p:graphicEl>
                                              <a:dgm id="{CA32E1BB-A7D1-4681-AFCC-9C06A0CF4925}"/>
                                            </p:graphicEl>
                                          </p:spTgt>
                                        </p:tgtEl>
                                        <p:attrNameLst>
                                          <p:attrName>style.visibility</p:attrName>
                                        </p:attrNameLst>
                                      </p:cBhvr>
                                      <p:to>
                                        <p:strVal val="visible"/>
                                      </p:to>
                                    </p:set>
                                    <p:animEffect transition="in" filter="fade">
                                      <p:cBhvr>
                                        <p:cTn id="63" dur="500"/>
                                        <p:tgtEl>
                                          <p:spTgt spid="3">
                                            <p:graphicEl>
                                              <a:dgm id="{CA32E1BB-A7D1-4681-AFCC-9C06A0CF4925}"/>
                                            </p:graphic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
                                            <p:graphicEl>
                                              <a:dgm id="{659E654E-A9F6-4456-B637-B686AD7F302A}"/>
                                            </p:graphicEl>
                                          </p:spTgt>
                                        </p:tgtEl>
                                        <p:attrNameLst>
                                          <p:attrName>style.visibility</p:attrName>
                                        </p:attrNameLst>
                                      </p:cBhvr>
                                      <p:to>
                                        <p:strVal val="visible"/>
                                      </p:to>
                                    </p:set>
                                    <p:animEffect transition="in" filter="fade">
                                      <p:cBhvr>
                                        <p:cTn id="68" dur="500"/>
                                        <p:tgtEl>
                                          <p:spTgt spid="3">
                                            <p:graphicEl>
                                              <a:dgm id="{659E654E-A9F6-4456-B637-B686AD7F302A}"/>
                                            </p:graphicEl>
                                          </p:spTgt>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
                                            <p:graphicEl>
                                              <a:dgm id="{5D1C96B3-C9AE-4C61-A3CE-96BA93BA35D2}"/>
                                            </p:graphicEl>
                                          </p:spTgt>
                                        </p:tgtEl>
                                        <p:attrNameLst>
                                          <p:attrName>style.visibility</p:attrName>
                                        </p:attrNameLst>
                                      </p:cBhvr>
                                      <p:to>
                                        <p:strVal val="visible"/>
                                      </p:to>
                                    </p:set>
                                    <p:animEffect transition="in" filter="fade">
                                      <p:cBhvr>
                                        <p:cTn id="71" dur="500"/>
                                        <p:tgtEl>
                                          <p:spTgt spid="3">
                                            <p:graphicEl>
                                              <a:dgm id="{5D1C96B3-C9AE-4C61-A3CE-96BA93BA35D2}"/>
                                            </p:graphic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3">
                                            <p:graphicEl>
                                              <a:dgm id="{14CAD866-257C-4CFC-B612-28721F791BC6}"/>
                                            </p:graphicEl>
                                          </p:spTgt>
                                        </p:tgtEl>
                                        <p:attrNameLst>
                                          <p:attrName>style.visibility</p:attrName>
                                        </p:attrNameLst>
                                      </p:cBhvr>
                                      <p:to>
                                        <p:strVal val="visible"/>
                                      </p:to>
                                    </p:set>
                                    <p:animEffect transition="in" filter="fade">
                                      <p:cBhvr>
                                        <p:cTn id="76" dur="500"/>
                                        <p:tgtEl>
                                          <p:spTgt spid="3">
                                            <p:graphicEl>
                                              <a:dgm id="{14CAD866-257C-4CFC-B612-28721F791BC6}"/>
                                            </p:graphicEl>
                                          </p:spTgt>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
                                            <p:graphicEl>
                                              <a:dgm id="{D797A488-9595-4BE0-A30A-964C8989070E}"/>
                                            </p:graphicEl>
                                          </p:spTgt>
                                        </p:tgtEl>
                                        <p:attrNameLst>
                                          <p:attrName>style.visibility</p:attrName>
                                        </p:attrNameLst>
                                      </p:cBhvr>
                                      <p:to>
                                        <p:strVal val="visible"/>
                                      </p:to>
                                    </p:set>
                                    <p:animEffect transition="in" filter="fade">
                                      <p:cBhvr>
                                        <p:cTn id="79" dur="500"/>
                                        <p:tgtEl>
                                          <p:spTgt spid="3">
                                            <p:graphicEl>
                                              <a:dgm id="{D797A488-9595-4BE0-A30A-964C8989070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04D3F-489C-430D-B5BB-645F2F152931}"/>
              </a:ext>
            </a:extLst>
          </p:cNvPr>
          <p:cNvSpPr>
            <a:spLocks noGrp="1"/>
          </p:cNvSpPr>
          <p:nvPr>
            <p:ph type="title"/>
          </p:nvPr>
        </p:nvSpPr>
        <p:spPr>
          <a:xfrm>
            <a:off x="419100" y="4607626"/>
            <a:ext cx="4419600" cy="1640774"/>
          </a:xfrm>
        </p:spPr>
        <p:txBody>
          <a:bodyPr anchor="t">
            <a:normAutofit/>
          </a:bodyPr>
          <a:lstStyle/>
          <a:p>
            <a:r>
              <a:rPr lang="en-US"/>
              <a:t>Core RAG Pipeline Components</a:t>
            </a:r>
          </a:p>
        </p:txBody>
      </p:sp>
      <p:pic>
        <p:nvPicPr>
          <p:cNvPr id="8" name="Content Placeholder 7" descr="Global communication and collaboration intricately involving electronic ropes and keys through social networking of smart phones equipped with AI.">
            <a:extLst>
              <a:ext uri="{FF2B5EF4-FFF2-40B4-BE49-F238E27FC236}">
                <a16:creationId xmlns:a16="http://schemas.microsoft.com/office/drawing/2014/main" id="{B42ED9DB-C211-404F-968A-A4072B678C10}"/>
              </a:ext>
            </a:extLst>
          </p:cNvPr>
          <p:cNvPicPr>
            <a:picLocks noGrp="1" noChangeAspect="1"/>
          </p:cNvPicPr>
          <p:nvPr>
            <p:ph type="pic" sz="quarter" idx="15"/>
          </p:nvPr>
        </p:nvPicPr>
        <p:blipFill>
          <a:blip r:embed="rId3"/>
          <a:srcRect l="15681" r="7705" b="-3"/>
          <a:stretch>
            <a:fillRect/>
          </a:stretch>
        </p:blipFill>
        <p:spPr>
          <a:xfrm>
            <a:off x="1914" y="10"/>
            <a:ext cx="4836786" cy="4214181"/>
          </a:xfrm>
        </p:spPr>
      </p:pic>
      <p:sp>
        <p:nvSpPr>
          <p:cNvPr id="3" name="Footer Placeholder 2">
            <a:extLst>
              <a:ext uri="{FF2B5EF4-FFF2-40B4-BE49-F238E27FC236}">
                <a16:creationId xmlns:a16="http://schemas.microsoft.com/office/drawing/2014/main" id="{8AF44ADD-DBEA-F00C-8444-404FCF4B2554}"/>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9CB6600B-8817-5236-9E91-C5E7CF8D02A4}"/>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E40CBDDE-C92B-C822-F2C6-F87BCCD978DF}"/>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6</a:t>
            </a:fld>
            <a:endParaRPr lang="en-US"/>
          </a:p>
        </p:txBody>
      </p:sp>
      <p:sp>
        <p:nvSpPr>
          <p:cNvPr id="7" name="Content Placeholder 6">
            <a:extLst>
              <a:ext uri="{FF2B5EF4-FFF2-40B4-BE49-F238E27FC236}">
                <a16:creationId xmlns:a16="http://schemas.microsoft.com/office/drawing/2014/main" id="{3025896A-3895-20AE-BBD1-1C754096392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Document Ingestion and Embeddings</a:t>
            </a:r>
          </a:p>
          <a:p>
            <a:pPr marL="0" lvl="1" indent="0">
              <a:buFont typeface="Arial" panose="020B0604020202020204" pitchFamily="34" charset="0"/>
              <a:buNone/>
            </a:pPr>
            <a:r>
              <a:rPr lang="en-US"/>
              <a:t>Collecting and preprocessing data from sources, then converting text into numerical embeddings for analysis.</a:t>
            </a:r>
          </a:p>
          <a:p>
            <a:pPr marL="0" indent="0">
              <a:spcBef>
                <a:spcPts val="2500"/>
              </a:spcBef>
              <a:buFont typeface="Arial" panose="020B0604020202020204" pitchFamily="34" charset="0"/>
              <a:buNone/>
            </a:pPr>
            <a:r>
              <a:rPr lang="en-US" b="1"/>
              <a:t>Vector Database Storage</a:t>
            </a:r>
          </a:p>
          <a:p>
            <a:pPr marL="0" lvl="1" indent="0">
              <a:buFont typeface="Arial" panose="020B0604020202020204" pitchFamily="34" charset="0"/>
              <a:buNone/>
            </a:pPr>
            <a:r>
              <a:rPr lang="en-US"/>
              <a:t>Storing embeddings efficiently using vector databases enabling quick similarity searches across data.</a:t>
            </a:r>
          </a:p>
          <a:p>
            <a:pPr marL="0" indent="0">
              <a:spcBef>
                <a:spcPts val="2500"/>
              </a:spcBef>
              <a:buFont typeface="Arial" panose="020B0604020202020204" pitchFamily="34" charset="0"/>
              <a:buNone/>
            </a:pPr>
            <a:r>
              <a:rPr lang="en-US" b="1"/>
              <a:t>Retrieval Layer Algorithms</a:t>
            </a:r>
          </a:p>
          <a:p>
            <a:pPr marL="0" lvl="1" indent="0">
              <a:buFont typeface="Arial" panose="020B0604020202020204" pitchFamily="34" charset="0"/>
              <a:buNone/>
            </a:pPr>
            <a:r>
              <a:rPr lang="en-US"/>
              <a:t>Using similarity search and hybrid methods to find the most relevant data chunks quickly and accurately.</a:t>
            </a:r>
          </a:p>
          <a:p>
            <a:pPr marL="0" indent="0">
              <a:spcBef>
                <a:spcPts val="2500"/>
              </a:spcBef>
              <a:buFont typeface="Arial" panose="020B0604020202020204" pitchFamily="34" charset="0"/>
              <a:buNone/>
            </a:pPr>
            <a:r>
              <a:rPr lang="en-US" b="1"/>
              <a:t>Generation with Large Language Models</a:t>
            </a:r>
          </a:p>
          <a:p>
            <a:pPr marL="0" lvl="1" indent="0">
              <a:buFont typeface="Arial" panose="020B0604020202020204" pitchFamily="34" charset="0"/>
              <a:buNone/>
            </a:pPr>
            <a:r>
              <a:rPr lang="en-US"/>
              <a:t>Generating context-aware responses using LLMs based on the retrieved relevant information.</a:t>
            </a:r>
          </a:p>
        </p:txBody>
      </p:sp>
    </p:spTree>
    <p:extLst>
      <p:ext uri="{BB962C8B-B14F-4D97-AF65-F5344CB8AC3E}">
        <p14:creationId xmlns:p14="http://schemas.microsoft.com/office/powerpoint/2010/main" val="10136294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F57A9-95C9-70E8-858D-AE386D3D7576}"/>
              </a:ext>
            </a:extLst>
          </p:cNvPr>
          <p:cNvSpPr>
            <a:spLocks noGrp="1"/>
          </p:cNvSpPr>
          <p:nvPr>
            <p:ph type="title"/>
          </p:nvPr>
        </p:nvSpPr>
        <p:spPr>
          <a:xfrm>
            <a:off x="419100" y="4607626"/>
            <a:ext cx="4419600" cy="1640774"/>
          </a:xfrm>
        </p:spPr>
        <p:txBody>
          <a:bodyPr anchor="t">
            <a:normAutofit/>
          </a:bodyPr>
          <a:lstStyle/>
          <a:p>
            <a:r>
              <a:rPr lang="en-US"/>
              <a:t>Benefits of RAG in Enterprise Environments</a:t>
            </a:r>
          </a:p>
        </p:txBody>
      </p:sp>
      <p:pic>
        <p:nvPicPr>
          <p:cNvPr id="8" name="Content Placeholder 7" descr="Digital concept which shows abstract network and concept of security optimization and internet technology  ">
            <a:extLst>
              <a:ext uri="{FF2B5EF4-FFF2-40B4-BE49-F238E27FC236}">
                <a16:creationId xmlns:a16="http://schemas.microsoft.com/office/drawing/2014/main" id="{B914AFD1-67C0-47F6-82A2-7F57D617FDFE}"/>
              </a:ext>
            </a:extLst>
          </p:cNvPr>
          <p:cNvPicPr>
            <a:picLocks noGrp="1" noChangeAspect="1"/>
          </p:cNvPicPr>
          <p:nvPr>
            <p:ph type="pic" sz="quarter" idx="15"/>
          </p:nvPr>
        </p:nvPicPr>
        <p:blipFill>
          <a:blip r:embed="rId3"/>
          <a:srcRect l="10973" r="14422" b="-2"/>
          <a:stretch>
            <a:fillRect/>
          </a:stretch>
        </p:blipFill>
        <p:spPr>
          <a:xfrm>
            <a:off x="1914" y="10"/>
            <a:ext cx="4836786" cy="4214181"/>
          </a:xfrm>
        </p:spPr>
      </p:pic>
      <p:sp>
        <p:nvSpPr>
          <p:cNvPr id="3" name="Footer Placeholder 2">
            <a:extLst>
              <a:ext uri="{FF2B5EF4-FFF2-40B4-BE49-F238E27FC236}">
                <a16:creationId xmlns:a16="http://schemas.microsoft.com/office/drawing/2014/main" id="{CE17EED3-20D8-AC0F-8157-D2EEA14C9B52}"/>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0CCEED9D-D53B-448F-7B01-3AC38934803E}"/>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F9AC62E9-06C8-C63B-9387-27E0FFB5A332}"/>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7</a:t>
            </a:fld>
            <a:endParaRPr lang="en-US"/>
          </a:p>
        </p:txBody>
      </p:sp>
      <p:sp>
        <p:nvSpPr>
          <p:cNvPr id="7" name="Content Placeholder 6">
            <a:extLst>
              <a:ext uri="{FF2B5EF4-FFF2-40B4-BE49-F238E27FC236}">
                <a16:creationId xmlns:a16="http://schemas.microsoft.com/office/drawing/2014/main" id="{D5ACD4A3-4C98-5E5C-4D90-2DA11681DD9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Reduced Hallucinations</a:t>
            </a:r>
          </a:p>
          <a:p>
            <a:pPr marL="0" lvl="1" indent="0">
              <a:buFont typeface="Arial" panose="020B0604020202020204" pitchFamily="34" charset="0"/>
              <a:buNone/>
            </a:pPr>
            <a:r>
              <a:rPr lang="en-US"/>
              <a:t>RAG reduces hallucinations by retrieving real data, ensuring accuracy in sensitive sectors like finance and law.</a:t>
            </a:r>
          </a:p>
          <a:p>
            <a:pPr marL="0" indent="0">
              <a:spcBef>
                <a:spcPts val="2500"/>
              </a:spcBef>
              <a:buFont typeface="Arial" panose="020B0604020202020204" pitchFamily="34" charset="0"/>
              <a:buNone/>
            </a:pPr>
            <a:r>
              <a:rPr lang="en-US" b="1"/>
              <a:t>Real-Time Knowledge Updates</a:t>
            </a:r>
          </a:p>
          <a:p>
            <a:pPr marL="0" lvl="1" indent="0">
              <a:buFont typeface="Arial" panose="020B0604020202020204" pitchFamily="34" charset="0"/>
              <a:buNone/>
            </a:pPr>
            <a:r>
              <a:rPr lang="en-US"/>
              <a:t>RAG allows immediate access to updated information without retraining, enabling dynamic enterprise support.</a:t>
            </a:r>
          </a:p>
          <a:p>
            <a:pPr marL="0" indent="0">
              <a:spcBef>
                <a:spcPts val="2500"/>
              </a:spcBef>
              <a:buFont typeface="Arial" panose="020B0604020202020204" pitchFamily="34" charset="0"/>
              <a:buNone/>
            </a:pPr>
            <a:r>
              <a:rPr lang="en-US" b="1"/>
              <a:t>Data Privacy and Compliance</a:t>
            </a:r>
          </a:p>
          <a:p>
            <a:pPr marL="0" lvl="1" indent="0">
              <a:buFont typeface="Arial" panose="020B0604020202020204" pitchFamily="34" charset="0"/>
              <a:buNone/>
            </a:pPr>
            <a:r>
              <a:rPr lang="en-US"/>
              <a:t>On-premise RAG deployments ensure sensitive data remains secure within organizational infrastructure.</a:t>
            </a:r>
          </a:p>
          <a:p>
            <a:pPr marL="0" indent="0">
              <a:spcBef>
                <a:spcPts val="2500"/>
              </a:spcBef>
              <a:buFont typeface="Arial" panose="020B0604020202020204" pitchFamily="34" charset="0"/>
              <a:buNone/>
            </a:pPr>
            <a:r>
              <a:rPr lang="en-US" b="1"/>
              <a:t>Cost Efficiency and Personalization</a:t>
            </a:r>
          </a:p>
          <a:p>
            <a:pPr marL="0" lvl="1" indent="0">
              <a:buFont typeface="Arial" panose="020B0604020202020204" pitchFamily="34" charset="0"/>
              <a:buNone/>
            </a:pPr>
            <a:r>
              <a:rPr lang="en-US"/>
              <a:t>RAG reduces retraining costs and supports personalized responses using user-specific data.</a:t>
            </a:r>
          </a:p>
        </p:txBody>
      </p:sp>
    </p:spTree>
    <p:extLst>
      <p:ext uri="{BB962C8B-B14F-4D97-AF65-F5344CB8AC3E}">
        <p14:creationId xmlns:p14="http://schemas.microsoft.com/office/powerpoint/2010/main" val="5329053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D9128-7ACB-27D3-A00F-A78DE4EAB00E}"/>
              </a:ext>
            </a:extLst>
          </p:cNvPr>
          <p:cNvSpPr>
            <a:spLocks noGrp="1"/>
          </p:cNvSpPr>
          <p:nvPr>
            <p:ph type="title"/>
          </p:nvPr>
        </p:nvSpPr>
        <p:spPr>
          <a:xfrm>
            <a:off x="419100" y="4607626"/>
            <a:ext cx="4419600" cy="1640774"/>
          </a:xfrm>
        </p:spPr>
        <p:txBody>
          <a:bodyPr anchor="t">
            <a:normAutofit/>
          </a:bodyPr>
          <a:lstStyle/>
          <a:p>
            <a:r>
              <a:rPr lang="en-US"/>
              <a:t>Challenges and Limitations of RAG</a:t>
            </a:r>
          </a:p>
        </p:txBody>
      </p:sp>
      <p:pic>
        <p:nvPicPr>
          <p:cNvPr id="8" name="Content Placeholder 7" descr="Euro currency with face mask, global economy recession concept">
            <a:extLst>
              <a:ext uri="{FF2B5EF4-FFF2-40B4-BE49-F238E27FC236}">
                <a16:creationId xmlns:a16="http://schemas.microsoft.com/office/drawing/2014/main" id="{396CA722-8ED7-42FC-8B40-F7DB574AA922}"/>
              </a:ext>
            </a:extLst>
          </p:cNvPr>
          <p:cNvPicPr>
            <a:picLocks noGrp="1" noChangeAspect="1"/>
          </p:cNvPicPr>
          <p:nvPr>
            <p:ph type="pic" sz="quarter" idx="15"/>
          </p:nvPr>
        </p:nvPicPr>
        <p:blipFill>
          <a:blip r:embed="rId3"/>
          <a:srcRect l="18176" r="17264" b="2"/>
          <a:stretch>
            <a:fillRect/>
          </a:stretch>
        </p:blipFill>
        <p:spPr>
          <a:xfrm>
            <a:off x="1914" y="10"/>
            <a:ext cx="4836786" cy="4214181"/>
          </a:xfrm>
        </p:spPr>
      </p:pic>
      <p:sp>
        <p:nvSpPr>
          <p:cNvPr id="3" name="Footer Placeholder 2">
            <a:extLst>
              <a:ext uri="{FF2B5EF4-FFF2-40B4-BE49-F238E27FC236}">
                <a16:creationId xmlns:a16="http://schemas.microsoft.com/office/drawing/2014/main" id="{26892CBF-9E15-5B3C-257C-7865B953C701}"/>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3E5BCAD5-046E-1859-5BB6-CFDDE3AB93EF}"/>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7421729E-7989-92A0-993D-B6E3AB0AF983}"/>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8</a:t>
            </a:fld>
            <a:endParaRPr lang="en-US"/>
          </a:p>
        </p:txBody>
      </p:sp>
      <p:sp>
        <p:nvSpPr>
          <p:cNvPr id="7" name="Content Placeholder 6">
            <a:extLst>
              <a:ext uri="{FF2B5EF4-FFF2-40B4-BE49-F238E27FC236}">
                <a16:creationId xmlns:a16="http://schemas.microsoft.com/office/drawing/2014/main" id="{490C6671-CF46-A1C6-D1D3-943A36950C2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Retrieval Accuracy Challenges</a:t>
            </a:r>
          </a:p>
          <a:p>
            <a:pPr marL="0" lvl="1" indent="0">
              <a:buFont typeface="Arial" panose="020B0604020202020204" pitchFamily="34" charset="0"/>
              <a:buNone/>
            </a:pPr>
            <a:r>
              <a:rPr lang="en-US"/>
              <a:t>Retrieving irrelevant or low-quality data leads to incorrect responses, mitigated by re-ranking and hybrid search.</a:t>
            </a:r>
          </a:p>
          <a:p>
            <a:pPr marL="0" indent="0">
              <a:spcBef>
                <a:spcPts val="2500"/>
              </a:spcBef>
              <a:buFont typeface="Arial" panose="020B0604020202020204" pitchFamily="34" charset="0"/>
              <a:buNone/>
            </a:pPr>
            <a:r>
              <a:rPr lang="en-US" b="1"/>
              <a:t>Latency and Performance</a:t>
            </a:r>
          </a:p>
          <a:p>
            <a:pPr marL="0" lvl="1" indent="0">
              <a:buFont typeface="Arial" panose="020B0604020202020204" pitchFamily="34" charset="0"/>
              <a:buNone/>
            </a:pPr>
            <a:r>
              <a:rPr lang="en-US"/>
              <a:t>Additional computation in retrieval causes latency; optimized vector databases and inference engines reduce delays.</a:t>
            </a:r>
          </a:p>
          <a:p>
            <a:pPr marL="0" indent="0">
              <a:spcBef>
                <a:spcPts val="2500"/>
              </a:spcBef>
              <a:buFont typeface="Arial" panose="020B0604020202020204" pitchFamily="34" charset="0"/>
              <a:buNone/>
            </a:pPr>
            <a:r>
              <a:rPr lang="en-US" b="1"/>
              <a:t>Data Preprocessing and Chunking</a:t>
            </a:r>
          </a:p>
          <a:p>
            <a:pPr marL="0" lvl="1" indent="0">
              <a:buFont typeface="Arial" panose="020B0604020202020204" pitchFamily="34" charset="0"/>
              <a:buNone/>
            </a:pPr>
            <a:r>
              <a:rPr lang="en-US"/>
              <a:t>Proper document structuring and chunking are critical to maintain context and retrieval precision in RAG.</a:t>
            </a:r>
          </a:p>
          <a:p>
            <a:pPr marL="0" indent="0">
              <a:spcBef>
                <a:spcPts val="2500"/>
              </a:spcBef>
              <a:buFont typeface="Arial" panose="020B0604020202020204" pitchFamily="34" charset="0"/>
              <a:buNone/>
            </a:pPr>
            <a:r>
              <a:rPr lang="en-US" b="1"/>
              <a:t>Security and System Complexity</a:t>
            </a:r>
          </a:p>
          <a:p>
            <a:pPr marL="0" lvl="1" indent="0">
              <a:buFont typeface="Arial" panose="020B0604020202020204" pitchFamily="34" charset="0"/>
              <a:buNone/>
            </a:pPr>
            <a:r>
              <a:rPr lang="en-US"/>
              <a:t>Security concerns and system complexity increase with multi-tenant setups and advanced RAG techniques.</a:t>
            </a:r>
          </a:p>
        </p:txBody>
      </p:sp>
    </p:spTree>
    <p:extLst>
      <p:ext uri="{BB962C8B-B14F-4D97-AF65-F5344CB8AC3E}">
        <p14:creationId xmlns:p14="http://schemas.microsoft.com/office/powerpoint/2010/main" val="5461657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2372A-4C04-A54A-4803-0F2D3146E81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41DB89D-F991-6B5B-A103-9678D7BBC1C6}"/>
              </a:ext>
            </a:extLst>
          </p:cNvPr>
          <p:cNvSpPr>
            <a:spLocks noGrp="1"/>
          </p:cNvSpPr>
          <p:nvPr>
            <p:ph type="title"/>
          </p:nvPr>
        </p:nvSpPr>
        <p:spPr>
          <a:xfrm>
            <a:off x="588263" y="2873414"/>
            <a:ext cx="4159950" cy="1107996"/>
          </a:xfrm>
        </p:spPr>
        <p:txBody>
          <a:bodyPr/>
          <a:lstStyle/>
          <a:p>
            <a:r>
              <a:rPr lang="en-US" dirty="0"/>
              <a:t>Which model should I use?</a:t>
            </a:r>
          </a:p>
        </p:txBody>
      </p:sp>
      <p:pic>
        <p:nvPicPr>
          <p:cNvPr id="2" name="Picture 2" descr="Image">
            <a:extLst>
              <a:ext uri="{FF2B5EF4-FFF2-40B4-BE49-F238E27FC236}">
                <a16:creationId xmlns:a16="http://schemas.microsoft.com/office/drawing/2014/main" id="{53CB8D5B-C96C-2595-EE1B-2AD74D19C880}"/>
              </a:ext>
            </a:extLst>
          </p:cNvPr>
          <p:cNvPicPr>
            <a:picLocks noGrp="1" noChangeAspect="1" noChangeArrowheads="1"/>
          </p:cNvPicPr>
          <p:nvPr>
            <p:ph type="pic" sz="quarter" idx="11"/>
          </p:nvPr>
        </p:nvPicPr>
        <p:blipFill rotWithShape="1">
          <a:blip r:embed="rId3">
            <a:extLst>
              <a:ext uri="{28A0092B-C50C-407E-A947-70E740481C1C}">
                <a14:useLocalDpi xmlns:a14="http://schemas.microsoft.com/office/drawing/2010/main" val="0"/>
              </a:ext>
            </a:extLst>
          </a:blip>
          <a:srcRect l="527" t="6397" r="4459" b="9326"/>
          <a:stretch/>
        </p:blipFill>
        <p:spPr bwMode="auto">
          <a:xfrm>
            <a:off x="4912024" y="234403"/>
            <a:ext cx="7279976" cy="638919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3F729CF-BD05-1439-5328-54AD34BB769F}"/>
              </a:ext>
            </a:extLst>
          </p:cNvPr>
          <p:cNvSpPr txBox="1"/>
          <p:nvPr/>
        </p:nvSpPr>
        <p:spPr>
          <a:xfrm>
            <a:off x="588263" y="6218443"/>
            <a:ext cx="6811818" cy="369332"/>
          </a:xfrm>
          <a:prstGeom prst="rect">
            <a:avLst/>
          </a:prstGeom>
          <a:noFill/>
        </p:spPr>
        <p:txBody>
          <a:bodyPr wrap="square">
            <a:spAutoFit/>
          </a:bodyPr>
          <a:lstStyle/>
          <a:p>
            <a:r>
              <a:rPr lang="en-US" b="1" dirty="0"/>
              <a:t>Source: https://lmsys.org/</a:t>
            </a:r>
            <a:endParaRPr lang="en-UA" b="1" dirty="0"/>
          </a:p>
        </p:txBody>
      </p:sp>
    </p:spTree>
    <p:extLst>
      <p:ext uri="{BB962C8B-B14F-4D97-AF65-F5344CB8AC3E}">
        <p14:creationId xmlns:p14="http://schemas.microsoft.com/office/powerpoint/2010/main" val="30272622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E2E59-43C3-23EE-4DC9-34BDA4E2D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5C7AAB-EB33-1BAB-13C1-CA48538B4DA2}"/>
              </a:ext>
            </a:extLst>
          </p:cNvPr>
          <p:cNvSpPr>
            <a:spLocks noGrp="1"/>
          </p:cNvSpPr>
          <p:nvPr>
            <p:ph type="title"/>
          </p:nvPr>
        </p:nvSpPr>
        <p:spPr>
          <a:xfrm>
            <a:off x="588263" y="5436128"/>
            <a:ext cx="11018520" cy="553998"/>
          </a:xfrm>
        </p:spPr>
        <p:txBody>
          <a:bodyPr/>
          <a:lstStyle/>
          <a:p>
            <a:r>
              <a:rPr lang="en-US" dirty="0"/>
              <a:t>Model choice matters in the real world</a:t>
            </a:r>
          </a:p>
        </p:txBody>
      </p:sp>
      <p:grpSp>
        <p:nvGrpSpPr>
          <p:cNvPr id="3" name="Group 2">
            <a:extLst>
              <a:ext uri="{FF2B5EF4-FFF2-40B4-BE49-F238E27FC236}">
                <a16:creationId xmlns:a16="http://schemas.microsoft.com/office/drawing/2014/main" id="{1C92F41A-7338-EDDA-86C9-AF95DD84FF46}"/>
              </a:ext>
            </a:extLst>
          </p:cNvPr>
          <p:cNvGrpSpPr/>
          <p:nvPr/>
        </p:nvGrpSpPr>
        <p:grpSpPr>
          <a:xfrm>
            <a:off x="5541539" y="1281952"/>
            <a:ext cx="4250866" cy="3537402"/>
            <a:chOff x="5494605" y="1375441"/>
            <a:chExt cx="5667821" cy="4716537"/>
          </a:xfrm>
        </p:grpSpPr>
        <p:sp>
          <p:nvSpPr>
            <p:cNvPr id="4" name="Circle: Hollow 3">
              <a:extLst>
                <a:ext uri="{FF2B5EF4-FFF2-40B4-BE49-F238E27FC236}">
                  <a16:creationId xmlns:a16="http://schemas.microsoft.com/office/drawing/2014/main" id="{3D1EC694-ECA8-7203-2AD5-9C257D347CBB}"/>
                </a:ext>
              </a:extLst>
            </p:cNvPr>
            <p:cNvSpPr>
              <a:spLocks noChangeAspect="1"/>
            </p:cNvSpPr>
            <p:nvPr/>
          </p:nvSpPr>
          <p:spPr bwMode="auto">
            <a:xfrm>
              <a:off x="7579585" y="1941234"/>
              <a:ext cx="3582841" cy="3582841"/>
            </a:xfrm>
            <a:prstGeom prst="donut">
              <a:avLst>
                <a:gd name="adj" fmla="val 11141"/>
              </a:avLst>
            </a:prstGeom>
            <a:solidFill>
              <a:srgbClr val="49C5B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defTabSz="699354" fontAlgn="base">
                <a:spcBef>
                  <a:spcPct val="0"/>
                </a:spcBef>
                <a:spcAft>
                  <a:spcPct val="0"/>
                </a:spcAft>
                <a:buClrTx/>
                <a:defRPr/>
              </a:pPr>
              <a:endParaRPr lang="en-US" sz="1500" kern="1200">
                <a:solidFill>
                  <a:srgbClr val="091F2C"/>
                </a:solidFill>
                <a:latin typeface="Segoe UI"/>
                <a:ea typeface="Segoe UI" pitchFamily="34" charset="0"/>
                <a:cs typeface="Segoe UI" pitchFamily="34" charset="0"/>
              </a:endParaRPr>
            </a:p>
          </p:txBody>
        </p:sp>
        <p:sp>
          <p:nvSpPr>
            <p:cNvPr id="5" name="TextBox 4">
              <a:extLst>
                <a:ext uri="{FF2B5EF4-FFF2-40B4-BE49-F238E27FC236}">
                  <a16:creationId xmlns:a16="http://schemas.microsoft.com/office/drawing/2014/main" id="{C2079B8A-8C6B-99B2-F592-494E36755E38}"/>
                </a:ext>
              </a:extLst>
            </p:cNvPr>
            <p:cNvSpPr txBox="1">
              <a:spLocks noChangeAspect="1"/>
            </p:cNvSpPr>
            <p:nvPr/>
          </p:nvSpPr>
          <p:spPr>
            <a:xfrm rot="21287264">
              <a:off x="7791596" y="2155314"/>
              <a:ext cx="3154680" cy="3154680"/>
            </a:xfrm>
            <a:prstGeom prst="rect">
              <a:avLst/>
            </a:prstGeom>
            <a:noFill/>
          </p:spPr>
          <p:txBody>
            <a:bodyPr spcFirstLastPara="1" wrap="square" lIns="0" tIns="0" rIns="0" bIns="0" numCol="1" rtlCol="0">
              <a:prstTxWarp prst="textArchUp">
                <a:avLst>
                  <a:gd name="adj" fmla="val 11454765"/>
                </a:avLst>
              </a:prstTxWarp>
              <a:spAutoFit/>
            </a:bodyPr>
            <a:lstStyle/>
            <a:p>
              <a:pPr algn="ctr" defTabSz="555371">
                <a:buClrTx/>
                <a:defRPr/>
              </a:pPr>
              <a:r>
                <a:rPr lang="en-GB" sz="900" kern="1200" dirty="0">
                  <a:solidFill>
                    <a:schemeClr val="bg1"/>
                  </a:solidFill>
                  <a:latin typeface="+mj-lt"/>
                  <a:ea typeface="+mn-ea"/>
                  <a:cs typeface="+mn-cs"/>
                </a:rPr>
                <a:t>Capacity and cost trade offs</a:t>
              </a:r>
            </a:p>
          </p:txBody>
        </p:sp>
        <p:sp>
          <p:nvSpPr>
            <p:cNvPr id="6" name="TextBox 5">
              <a:extLst>
                <a:ext uri="{FF2B5EF4-FFF2-40B4-BE49-F238E27FC236}">
                  <a16:creationId xmlns:a16="http://schemas.microsoft.com/office/drawing/2014/main" id="{073C2933-FCF9-9304-6B39-77B7FF3DC3E1}"/>
                </a:ext>
              </a:extLst>
            </p:cNvPr>
            <p:cNvSpPr txBox="1">
              <a:spLocks noChangeAspect="1"/>
            </p:cNvSpPr>
            <p:nvPr/>
          </p:nvSpPr>
          <p:spPr>
            <a:xfrm rot="4756797">
              <a:off x="7827627" y="2155313"/>
              <a:ext cx="3154680" cy="3154680"/>
            </a:xfrm>
            <a:prstGeom prst="rect">
              <a:avLst/>
            </a:prstGeom>
            <a:noFill/>
          </p:spPr>
          <p:txBody>
            <a:bodyPr spcFirstLastPara="1" wrap="square" lIns="0" tIns="0" rIns="0" bIns="0" numCol="1" rtlCol="0">
              <a:prstTxWarp prst="textArchUp">
                <a:avLst>
                  <a:gd name="adj" fmla="val 11454765"/>
                </a:avLst>
              </a:prstTxWarp>
              <a:spAutoFit/>
            </a:bodyPr>
            <a:lstStyle/>
            <a:p>
              <a:pPr algn="ctr" defTabSz="555371">
                <a:buClrTx/>
                <a:defRPr/>
              </a:pPr>
              <a:r>
                <a:rPr lang="en-GB" sz="900" kern="1200" dirty="0">
                  <a:solidFill>
                    <a:schemeClr val="bg1"/>
                  </a:solidFill>
                  <a:latin typeface="+mj-lt"/>
                  <a:ea typeface="+mn-ea"/>
                  <a:cs typeface="+mn-cs"/>
                </a:rPr>
                <a:t>Monitoring</a:t>
              </a:r>
            </a:p>
          </p:txBody>
        </p:sp>
        <p:sp>
          <p:nvSpPr>
            <p:cNvPr id="7"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7D766C97-4AC8-46C8-9F6E-2A5AFAFA991A}"/>
                </a:ext>
              </a:extLst>
            </p:cNvPr>
            <p:cNvSpPr>
              <a:spLocks noChangeAspect="1"/>
            </p:cNvSpPr>
            <p:nvPr/>
          </p:nvSpPr>
          <p:spPr>
            <a:xfrm flipV="1">
              <a:off x="8092744" y="2454394"/>
              <a:ext cx="2556522" cy="2556521"/>
            </a:xfrm>
            <a:prstGeom prst="arc">
              <a:avLst>
                <a:gd name="adj1" fmla="val 8319039"/>
                <a:gd name="adj2" fmla="val 6621275"/>
              </a:avLst>
            </a:prstGeom>
            <a:ln w="25400">
              <a:solidFill>
                <a:srgbClr val="49C5B1"/>
              </a:solidFill>
              <a:prstDash val="dash"/>
              <a:headEnd type="arrow"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555371">
                <a:buClrTx/>
                <a:defRPr/>
              </a:pPr>
              <a:endParaRPr lang="en-GB" sz="1072" kern="1200">
                <a:solidFill>
                  <a:prstClr val="black"/>
                </a:solidFill>
                <a:latin typeface="Segoe UI"/>
              </a:endParaRPr>
            </a:p>
          </p:txBody>
        </p:sp>
        <p:sp>
          <p:nvSpPr>
            <p:cNvPr id="8" name="TextBox 7">
              <a:extLst>
                <a:ext uri="{FF2B5EF4-FFF2-40B4-BE49-F238E27FC236}">
                  <a16:creationId xmlns:a16="http://schemas.microsoft.com/office/drawing/2014/main" id="{5B69CD42-8D68-53A8-D525-68AA445321DA}"/>
                </a:ext>
              </a:extLst>
            </p:cNvPr>
            <p:cNvSpPr txBox="1">
              <a:spLocks noChangeAspect="1"/>
            </p:cNvSpPr>
            <p:nvPr/>
          </p:nvSpPr>
          <p:spPr>
            <a:xfrm rot="16881835">
              <a:off x="7793665" y="2155314"/>
              <a:ext cx="3154680" cy="3154680"/>
            </a:xfrm>
            <a:prstGeom prst="rect">
              <a:avLst/>
            </a:prstGeom>
            <a:noFill/>
          </p:spPr>
          <p:txBody>
            <a:bodyPr spcFirstLastPara="1" wrap="square" lIns="0" tIns="0" rIns="0" bIns="0" numCol="1" rtlCol="0">
              <a:prstTxWarp prst="textArchUp">
                <a:avLst>
                  <a:gd name="adj" fmla="val 11454765"/>
                </a:avLst>
              </a:prstTxWarp>
              <a:spAutoFit/>
            </a:bodyPr>
            <a:lstStyle/>
            <a:p>
              <a:pPr algn="ctr" defTabSz="555371">
                <a:buClrTx/>
                <a:defRPr/>
              </a:pPr>
              <a:r>
                <a:rPr lang="en-GB" sz="900" kern="1200" dirty="0">
                  <a:solidFill>
                    <a:schemeClr val="bg1"/>
                  </a:solidFill>
                  <a:latin typeface="+mj-lt"/>
                  <a:ea typeface="+mn-ea"/>
                  <a:cs typeface="+mn-cs"/>
                </a:rPr>
                <a:t>Security and data privacy</a:t>
              </a:r>
            </a:p>
          </p:txBody>
        </p:sp>
        <p:sp>
          <p:nvSpPr>
            <p:cNvPr id="9" name="TextBox 8"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502FF563-2B9F-C61D-F551-284E40FE5C4B}"/>
                </a:ext>
              </a:extLst>
            </p:cNvPr>
            <p:cNvSpPr txBox="1"/>
            <p:nvPr/>
          </p:nvSpPr>
          <p:spPr>
            <a:xfrm>
              <a:off x="8139896" y="5725319"/>
              <a:ext cx="2458081" cy="366659"/>
            </a:xfrm>
            <a:prstGeom prst="rect">
              <a:avLst/>
            </a:prstGeom>
            <a:noFill/>
          </p:spPr>
          <p:txBody>
            <a:bodyPr wrap="square" lIns="43734" tIns="21867" rIns="43734" bIns="21867" rtlCol="0">
              <a:spAutoFit/>
            </a:bodyPr>
            <a:lstStyle/>
            <a:p>
              <a:pPr algn="ctr" defTabSz="555371">
                <a:buClrTx/>
                <a:defRPr/>
              </a:pPr>
              <a:r>
                <a:rPr lang="en-GB" sz="1500" dirty="0">
                  <a:solidFill>
                    <a:srgbClr val="49C5B1"/>
                  </a:solidFill>
                  <a:latin typeface="+mj-lt"/>
                </a:rPr>
                <a:t>Operationalize</a:t>
              </a:r>
              <a:r>
                <a:rPr lang="en-GB" sz="1500" kern="1200" dirty="0">
                  <a:solidFill>
                    <a:srgbClr val="49C5B1"/>
                  </a:solidFill>
                  <a:latin typeface="+mj-lt"/>
                  <a:ea typeface="+mn-ea"/>
                  <a:cs typeface="+mn-cs"/>
                </a:rPr>
                <a:t> </a:t>
              </a:r>
            </a:p>
          </p:txBody>
        </p:sp>
        <p:sp>
          <p:nvSpPr>
            <p:cNvPr id="10" name="TextBox 9">
              <a:extLst>
                <a:ext uri="{FF2B5EF4-FFF2-40B4-BE49-F238E27FC236}">
                  <a16:creationId xmlns:a16="http://schemas.microsoft.com/office/drawing/2014/main" id="{6E87C1C8-0949-1D4F-4529-103D231636D0}"/>
                </a:ext>
              </a:extLst>
            </p:cNvPr>
            <p:cNvSpPr txBox="1">
              <a:spLocks noChangeAspect="1"/>
            </p:cNvSpPr>
            <p:nvPr/>
          </p:nvSpPr>
          <p:spPr>
            <a:xfrm rot="8914425">
              <a:off x="7794699" y="2155314"/>
              <a:ext cx="3154680" cy="3154680"/>
            </a:xfrm>
            <a:prstGeom prst="rect">
              <a:avLst/>
            </a:prstGeom>
            <a:noFill/>
          </p:spPr>
          <p:txBody>
            <a:bodyPr spcFirstLastPara="1" wrap="square" lIns="0" tIns="0" rIns="0" bIns="0" numCol="1" rtlCol="0">
              <a:prstTxWarp prst="textArchUp">
                <a:avLst>
                  <a:gd name="adj" fmla="val 11454765"/>
                </a:avLst>
              </a:prstTxWarp>
              <a:spAutoFit/>
            </a:bodyPr>
            <a:lstStyle/>
            <a:p>
              <a:pPr algn="ctr" defTabSz="555371">
                <a:buClrTx/>
                <a:defRPr/>
              </a:pPr>
              <a:r>
                <a:rPr lang="en-GB" sz="900" kern="1200">
                  <a:solidFill>
                    <a:srgbClr val="FFFFFF"/>
                  </a:solidFill>
                  <a:latin typeface="Segoe UI Semibold"/>
                  <a:ea typeface="+mn-ea"/>
                  <a:cs typeface="+mn-cs"/>
                </a:rPr>
                <a:t>Deploy LLM App/UI</a:t>
              </a:r>
            </a:p>
          </p:txBody>
        </p:sp>
        <p:sp>
          <p:nvSpPr>
            <p:cNvPr id="11" name="TextBox 10">
              <a:extLst>
                <a:ext uri="{FF2B5EF4-FFF2-40B4-BE49-F238E27FC236}">
                  <a16:creationId xmlns:a16="http://schemas.microsoft.com/office/drawing/2014/main" id="{C038E9ED-B6F9-82D6-0E96-0F54315DB37A}"/>
                </a:ext>
              </a:extLst>
            </p:cNvPr>
            <p:cNvSpPr txBox="1">
              <a:spLocks noChangeAspect="1"/>
            </p:cNvSpPr>
            <p:nvPr/>
          </p:nvSpPr>
          <p:spPr>
            <a:xfrm rot="13323263">
              <a:off x="7794699" y="2155314"/>
              <a:ext cx="3154680" cy="3154680"/>
            </a:xfrm>
            <a:prstGeom prst="rect">
              <a:avLst/>
            </a:prstGeom>
            <a:noFill/>
          </p:spPr>
          <p:txBody>
            <a:bodyPr spcFirstLastPara="1" wrap="square" lIns="0" tIns="0" rIns="0" bIns="0" numCol="1" rtlCol="0">
              <a:prstTxWarp prst="textArchUp">
                <a:avLst>
                  <a:gd name="adj" fmla="val 11454765"/>
                </a:avLst>
              </a:prstTxWarp>
              <a:spAutoFit/>
            </a:bodyPr>
            <a:lstStyle/>
            <a:p>
              <a:pPr algn="ctr" defTabSz="555371">
                <a:buClrTx/>
                <a:defRPr/>
              </a:pPr>
              <a:r>
                <a:rPr lang="en-GB" sz="900" kern="1200" dirty="0">
                  <a:solidFill>
                    <a:schemeClr val="bg1"/>
                  </a:solidFill>
                  <a:latin typeface="+mj-lt"/>
                  <a:ea typeface="+mn-ea"/>
                  <a:cs typeface="+mn-cs"/>
                </a:rPr>
                <a:t>Content Filtering</a:t>
              </a:r>
            </a:p>
          </p:txBody>
        </p:sp>
        <p:sp>
          <p:nvSpPr>
            <p:cNvPr id="12" name="PREPARE FOR APP DEPLOYMENT"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AAFDDEA8-DF15-C6AA-E768-46D67DC49DCC}"/>
                </a:ext>
              </a:extLst>
            </p:cNvPr>
            <p:cNvSpPr txBox="1"/>
            <p:nvPr/>
          </p:nvSpPr>
          <p:spPr>
            <a:xfrm rot="21253932">
              <a:off x="5494605" y="1375441"/>
              <a:ext cx="3943516" cy="2744172"/>
            </a:xfrm>
            <a:prstGeom prst="ellipse">
              <a:avLst/>
            </a:prstGeom>
            <a:noFill/>
          </p:spPr>
          <p:txBody>
            <a:bodyPr wrap="none" rtlCol="0">
              <a:prstTxWarp prst="textArchUp">
                <a:avLst>
                  <a:gd name="adj" fmla="val 12686236"/>
                </a:avLst>
              </a:prstTxWarp>
              <a:spAutoFit/>
            </a:bodyPr>
            <a:lstStyle/>
            <a:p>
              <a:pPr algn="ctr" defTabSz="544222">
                <a:lnSpc>
                  <a:spcPct val="120000"/>
                </a:lnSpc>
                <a:buClrTx/>
                <a:defRPr/>
              </a:pPr>
              <a:r>
                <a:rPr lang="en-US" sz="750" kern="1200" spc="24" dirty="0">
                  <a:ln w="3175">
                    <a:noFill/>
                  </a:ln>
                  <a:solidFill>
                    <a:schemeClr val="tx2"/>
                  </a:solidFill>
                  <a:latin typeface="+mj-lt"/>
                  <a:ea typeface="+mn-ea"/>
                  <a:cs typeface="Segoe UI Semibold" panose="020B0702040204020203" pitchFamily="34" charset="0"/>
                </a:rPr>
                <a:t>ADVANCE PROJECT</a:t>
              </a:r>
              <a:endParaRPr lang="en-US" sz="750" u="sng" kern="1200" spc="24" dirty="0">
                <a:ln w="3175">
                  <a:noFill/>
                </a:ln>
                <a:solidFill>
                  <a:schemeClr val="tx2"/>
                </a:solidFill>
                <a:latin typeface="+mj-lt"/>
                <a:ea typeface="+mn-ea"/>
                <a:cs typeface="Segoe UI Semibold" panose="020B0702040204020203" pitchFamily="34" charset="0"/>
              </a:endParaRPr>
            </a:p>
          </p:txBody>
        </p:sp>
        <p:sp>
          <p:nvSpPr>
            <p:cNvPr id="13" name="SEND FEEDBACK"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BCDA7382-B5FC-5922-753E-3FE36037ECED}"/>
                </a:ext>
              </a:extLst>
            </p:cNvPr>
            <p:cNvSpPr txBox="1"/>
            <p:nvPr/>
          </p:nvSpPr>
          <p:spPr>
            <a:xfrm>
              <a:off x="6699366" y="4755930"/>
              <a:ext cx="1720517" cy="783090"/>
            </a:xfrm>
            <a:prstGeom prst="rect">
              <a:avLst/>
            </a:prstGeom>
            <a:noFill/>
          </p:spPr>
          <p:txBody>
            <a:bodyPr wrap="none" rtlCol="0">
              <a:prstTxWarp prst="textArchDown">
                <a:avLst>
                  <a:gd name="adj" fmla="val 1663301"/>
                </a:avLst>
              </a:prstTxWarp>
              <a:spAutoFit/>
            </a:bodyPr>
            <a:lstStyle/>
            <a:p>
              <a:pPr algn="ctr" defTabSz="544222">
                <a:lnSpc>
                  <a:spcPct val="120000"/>
                </a:lnSpc>
                <a:buClrTx/>
                <a:defRPr/>
              </a:pPr>
              <a:r>
                <a:rPr lang="en-US" sz="750" kern="1200" spc="24" dirty="0">
                  <a:ln w="3175">
                    <a:noFill/>
                  </a:ln>
                  <a:solidFill>
                    <a:srgbClr val="49C5B1"/>
                  </a:solidFill>
                  <a:latin typeface="+mj-lt"/>
                  <a:ea typeface="+mn-ea"/>
                  <a:cs typeface="Segoe UI Semibold" panose="020B0702040204020203" pitchFamily="34" charset="0"/>
                </a:rPr>
                <a:t>REVERT PROJECT</a:t>
              </a:r>
            </a:p>
          </p:txBody>
        </p:sp>
        <p:sp>
          <p:nvSpPr>
            <p:cNvPr id="14"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2FBDBC05-36C7-1DB3-1008-4776CF53D364}"/>
                </a:ext>
              </a:extLst>
            </p:cNvPr>
            <p:cNvSpPr>
              <a:spLocks noChangeAspect="1"/>
            </p:cNvSpPr>
            <p:nvPr/>
          </p:nvSpPr>
          <p:spPr>
            <a:xfrm flipV="1">
              <a:off x="5807773" y="1891732"/>
              <a:ext cx="3608275" cy="3608274"/>
            </a:xfrm>
            <a:prstGeom prst="arc">
              <a:avLst>
                <a:gd name="adj1" fmla="val 3543377"/>
                <a:gd name="adj2" fmla="val 7877199"/>
              </a:avLst>
            </a:prstGeom>
            <a:ln w="25400">
              <a:solidFill>
                <a:schemeClr val="accent1"/>
              </a:solidFill>
              <a:prstDash val="dash"/>
              <a:headEnd type="arrow"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555371">
                <a:buClrTx/>
                <a:defRPr/>
              </a:pPr>
              <a:endParaRPr lang="en-GB" sz="1072" kern="1200">
                <a:solidFill>
                  <a:prstClr val="black"/>
                </a:solidFill>
                <a:latin typeface="Segoe UI"/>
              </a:endParaRPr>
            </a:p>
          </p:txBody>
        </p:sp>
        <p:sp>
          <p:nvSpPr>
            <p:cNvPr id="15"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23BFC22E-1472-AE78-141A-67EE05B15AC0}"/>
                </a:ext>
              </a:extLst>
            </p:cNvPr>
            <p:cNvSpPr>
              <a:spLocks noChangeAspect="1"/>
            </p:cNvSpPr>
            <p:nvPr/>
          </p:nvSpPr>
          <p:spPr>
            <a:xfrm flipH="1">
              <a:off x="5597118" y="1766566"/>
              <a:ext cx="3943514" cy="3943513"/>
            </a:xfrm>
            <a:prstGeom prst="arc">
              <a:avLst>
                <a:gd name="adj1" fmla="val 2950208"/>
                <a:gd name="adj2" fmla="val 7486031"/>
              </a:avLst>
            </a:prstGeom>
            <a:ln w="25400">
              <a:solidFill>
                <a:schemeClr val="accent3"/>
              </a:solidFill>
              <a:prstDash val="dash"/>
              <a:headEnd type="arrow"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555371">
                <a:buClrTx/>
                <a:defRPr/>
              </a:pPr>
              <a:endParaRPr lang="en-GB" sz="1072" kern="1200">
                <a:solidFill>
                  <a:prstClr val="black"/>
                </a:solidFill>
                <a:latin typeface="Segoe UI"/>
              </a:endParaRPr>
            </a:p>
          </p:txBody>
        </p:sp>
      </p:grpSp>
      <p:grpSp>
        <p:nvGrpSpPr>
          <p:cNvPr id="16" name="Group 15">
            <a:extLst>
              <a:ext uri="{FF2B5EF4-FFF2-40B4-BE49-F238E27FC236}">
                <a16:creationId xmlns:a16="http://schemas.microsoft.com/office/drawing/2014/main" id="{74833D08-A324-61A7-8716-D22BF6263058}"/>
              </a:ext>
            </a:extLst>
          </p:cNvPr>
          <p:cNvGrpSpPr/>
          <p:nvPr/>
        </p:nvGrpSpPr>
        <p:grpSpPr>
          <a:xfrm>
            <a:off x="2192766" y="2024836"/>
            <a:ext cx="2050050" cy="2794517"/>
            <a:chOff x="1029575" y="2365954"/>
            <a:chExt cx="2733400" cy="3726022"/>
          </a:xfrm>
        </p:grpSpPr>
        <p:sp>
          <p:nvSpPr>
            <p:cNvPr id="17" name="Circle: Hollow 16">
              <a:extLst>
                <a:ext uri="{FF2B5EF4-FFF2-40B4-BE49-F238E27FC236}">
                  <a16:creationId xmlns:a16="http://schemas.microsoft.com/office/drawing/2014/main" id="{6362ACF1-9F35-3C3D-B88F-AC2FD2230201}"/>
                </a:ext>
              </a:extLst>
            </p:cNvPr>
            <p:cNvSpPr>
              <a:spLocks noChangeAspect="1"/>
            </p:cNvSpPr>
            <p:nvPr/>
          </p:nvSpPr>
          <p:spPr bwMode="auto">
            <a:xfrm>
              <a:off x="1029575" y="2365954"/>
              <a:ext cx="2733400" cy="2733400"/>
            </a:xfrm>
            <a:prstGeom prst="donut">
              <a:avLst>
                <a:gd name="adj" fmla="val 12613"/>
              </a:avLst>
            </a:prstGeom>
            <a:solidFill>
              <a:srgbClr val="8661C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defTabSz="699354" fontAlgn="base">
                <a:spcBef>
                  <a:spcPct val="0"/>
                </a:spcBef>
                <a:spcAft>
                  <a:spcPct val="0"/>
                </a:spcAft>
                <a:buClrTx/>
                <a:defRPr/>
              </a:pPr>
              <a:endParaRPr lang="en-US" sz="1500" kern="1200">
                <a:solidFill>
                  <a:srgbClr val="091F2C"/>
                </a:solidFill>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8C66300D-4FE4-C28D-F493-719213BFBEEB}"/>
                </a:ext>
              </a:extLst>
            </p:cNvPr>
            <p:cNvSpPr txBox="1">
              <a:spLocks noChangeAspect="1"/>
            </p:cNvSpPr>
            <p:nvPr/>
          </p:nvSpPr>
          <p:spPr>
            <a:xfrm rot="16200000">
              <a:off x="1230416" y="2566794"/>
              <a:ext cx="2331720" cy="2331720"/>
            </a:xfrm>
            <a:prstGeom prst="rect">
              <a:avLst/>
            </a:prstGeom>
            <a:noFill/>
          </p:spPr>
          <p:txBody>
            <a:bodyPr spcFirstLastPara="1" wrap="square" lIns="0" tIns="0" rIns="0" bIns="0" numCol="1" rtlCol="0">
              <a:prstTxWarp prst="textArchUp">
                <a:avLst>
                  <a:gd name="adj" fmla="val 14201488"/>
                </a:avLst>
              </a:prstTxWarp>
              <a:spAutoFit/>
            </a:bodyPr>
            <a:lstStyle/>
            <a:p>
              <a:r>
                <a:rPr lang="en-GB" sz="900" dirty="0">
                  <a:solidFill>
                    <a:schemeClr val="bg1"/>
                  </a:solidFill>
                  <a:latin typeface="+mj-lt"/>
                </a:rPr>
                <a:t>Pick a flagship model</a:t>
              </a:r>
              <a:endParaRPr lang="en-GB" sz="900" kern="1200" dirty="0">
                <a:solidFill>
                  <a:schemeClr val="bg1"/>
                </a:solidFill>
                <a:latin typeface="+mj-lt"/>
                <a:ea typeface="+mn-ea"/>
                <a:cs typeface="+mn-cs"/>
              </a:endParaRPr>
            </a:p>
          </p:txBody>
        </p:sp>
        <p:sp>
          <p:nvSpPr>
            <p:cNvPr id="19" name="TextBox 18">
              <a:extLst>
                <a:ext uri="{FF2B5EF4-FFF2-40B4-BE49-F238E27FC236}">
                  <a16:creationId xmlns:a16="http://schemas.microsoft.com/office/drawing/2014/main" id="{14B6A1A1-5F87-4EEC-E220-ACA69D116167}"/>
                </a:ext>
              </a:extLst>
            </p:cNvPr>
            <p:cNvSpPr txBox="1">
              <a:spLocks noChangeAspect="1"/>
            </p:cNvSpPr>
            <p:nvPr/>
          </p:nvSpPr>
          <p:spPr>
            <a:xfrm rot="11682144">
              <a:off x="1230415" y="2566794"/>
              <a:ext cx="2331720" cy="2331720"/>
            </a:xfrm>
            <a:prstGeom prst="rect">
              <a:avLst/>
            </a:prstGeom>
            <a:noFill/>
          </p:spPr>
          <p:txBody>
            <a:bodyPr spcFirstLastPara="1" wrap="square" lIns="0" tIns="0" rIns="0" bIns="0" numCol="1" rtlCol="0">
              <a:prstTxWarp prst="textArchUp">
                <a:avLst>
                  <a:gd name="adj" fmla="val 13727663"/>
                </a:avLst>
              </a:prstTxWarp>
              <a:spAutoFit/>
            </a:bodyPr>
            <a:lstStyle/>
            <a:p>
              <a:r>
                <a:rPr lang="en-GB" sz="900" kern="1200" dirty="0">
                  <a:solidFill>
                    <a:schemeClr val="bg1"/>
                  </a:solidFill>
                  <a:latin typeface="+mj-lt"/>
                  <a:ea typeface="+mn-ea"/>
                  <a:cs typeface="+mn-cs"/>
                </a:rPr>
                <a:t>Define use cases</a:t>
              </a:r>
            </a:p>
          </p:txBody>
        </p:sp>
        <p:sp>
          <p:nvSpPr>
            <p:cNvPr id="20" name="TextBox 19">
              <a:extLst>
                <a:ext uri="{FF2B5EF4-FFF2-40B4-BE49-F238E27FC236}">
                  <a16:creationId xmlns:a16="http://schemas.microsoft.com/office/drawing/2014/main" id="{ACB3D8E0-36E7-200B-21F2-B37D05A03C96}"/>
                </a:ext>
              </a:extLst>
            </p:cNvPr>
            <p:cNvSpPr txBox="1">
              <a:spLocks noChangeAspect="1"/>
            </p:cNvSpPr>
            <p:nvPr/>
          </p:nvSpPr>
          <p:spPr>
            <a:xfrm rot="5400000">
              <a:off x="1240333" y="2587495"/>
              <a:ext cx="2331720" cy="2331720"/>
            </a:xfrm>
            <a:prstGeom prst="rect">
              <a:avLst/>
            </a:prstGeom>
            <a:noFill/>
          </p:spPr>
          <p:txBody>
            <a:bodyPr spcFirstLastPara="1" wrap="square" lIns="0" tIns="0" rIns="0" bIns="0" numCol="1" rtlCol="0">
              <a:prstTxWarp prst="textArchUp">
                <a:avLst>
                  <a:gd name="adj" fmla="val 12970969"/>
                </a:avLst>
              </a:prstTxWarp>
              <a:spAutoFit/>
            </a:bodyPr>
            <a:lstStyle/>
            <a:p>
              <a:r>
                <a:rPr lang="en-GB" sz="900" kern="1200" dirty="0">
                  <a:solidFill>
                    <a:schemeClr val="bg1"/>
                  </a:solidFill>
                  <a:latin typeface="+mj-lt"/>
                  <a:ea typeface="+mn-ea"/>
                  <a:cs typeface="+mn-cs"/>
                </a:rPr>
                <a:t>           Build proto</a:t>
              </a:r>
              <a:r>
                <a:rPr lang="en-GB" sz="900" dirty="0">
                  <a:solidFill>
                    <a:schemeClr val="bg1"/>
                  </a:solidFill>
                  <a:latin typeface="+mj-lt"/>
                </a:rPr>
                <a:t>types</a:t>
              </a:r>
              <a:endParaRPr lang="en-GB" sz="900" kern="1200" dirty="0">
                <a:solidFill>
                  <a:schemeClr val="bg1"/>
                </a:solidFill>
                <a:latin typeface="+mj-lt"/>
                <a:ea typeface="+mn-ea"/>
                <a:cs typeface="+mn-cs"/>
              </a:endParaRPr>
            </a:p>
          </p:txBody>
        </p:sp>
        <p:sp>
          <p:nvSpPr>
            <p:cNvPr id="21"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823BA9C7-BD69-7738-87C5-54C2D93D2D59}"/>
                </a:ext>
              </a:extLst>
            </p:cNvPr>
            <p:cNvSpPr>
              <a:spLocks noChangeAspect="1"/>
            </p:cNvSpPr>
            <p:nvPr/>
          </p:nvSpPr>
          <p:spPr>
            <a:xfrm flipV="1">
              <a:off x="1481875" y="2818254"/>
              <a:ext cx="1828801" cy="1828800"/>
            </a:xfrm>
            <a:prstGeom prst="arc">
              <a:avLst>
                <a:gd name="adj1" fmla="val 8319039"/>
                <a:gd name="adj2" fmla="val 6621275"/>
              </a:avLst>
            </a:prstGeom>
            <a:ln w="25400">
              <a:solidFill>
                <a:srgbClr val="8661C5"/>
              </a:solidFill>
              <a:prstDash val="dash"/>
              <a:headEnd type="arrow"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555371">
                <a:buClrTx/>
                <a:defRPr/>
              </a:pPr>
              <a:endParaRPr lang="en-GB" sz="1072" kern="1200">
                <a:solidFill>
                  <a:prstClr val="black"/>
                </a:solidFill>
                <a:latin typeface="Segoe UI"/>
              </a:endParaRPr>
            </a:p>
          </p:txBody>
        </p:sp>
        <p:sp>
          <p:nvSpPr>
            <p:cNvPr id="22" name="TextBox 21">
              <a:extLst>
                <a:ext uri="{FF2B5EF4-FFF2-40B4-BE49-F238E27FC236}">
                  <a16:creationId xmlns:a16="http://schemas.microsoft.com/office/drawing/2014/main" id="{5CB05421-44C3-57A1-3C4A-629CB2FF9823}"/>
                </a:ext>
              </a:extLst>
            </p:cNvPr>
            <p:cNvSpPr txBox="1">
              <a:spLocks noChangeAspect="1"/>
            </p:cNvSpPr>
            <p:nvPr/>
          </p:nvSpPr>
          <p:spPr>
            <a:xfrm rot="1643445">
              <a:off x="1177369" y="2553674"/>
              <a:ext cx="2480459" cy="2480459"/>
            </a:xfrm>
            <a:prstGeom prst="rect">
              <a:avLst/>
            </a:prstGeom>
            <a:noFill/>
          </p:spPr>
          <p:txBody>
            <a:bodyPr spcFirstLastPara="1" wrap="square" lIns="0" tIns="0" rIns="0" bIns="0" numCol="1" rtlCol="0">
              <a:prstTxWarp prst="textArchUp">
                <a:avLst>
                  <a:gd name="adj" fmla="val 12613819"/>
                </a:avLst>
              </a:prstTxWarp>
              <a:spAutoFit/>
            </a:bodyPr>
            <a:lstStyle/>
            <a:p>
              <a:r>
                <a:rPr lang="en-GB" sz="900" dirty="0">
                  <a:solidFill>
                    <a:schemeClr val="bg1"/>
                  </a:solidFill>
                  <a:latin typeface="+mj-lt"/>
                </a:rPr>
                <a:t>Establish feasibility </a:t>
              </a:r>
              <a:endParaRPr lang="en-GB" sz="900" kern="1200" dirty="0">
                <a:solidFill>
                  <a:schemeClr val="bg1"/>
                </a:solidFill>
                <a:latin typeface="+mj-lt"/>
                <a:ea typeface="+mn-ea"/>
                <a:cs typeface="+mn-cs"/>
              </a:endParaRPr>
            </a:p>
          </p:txBody>
        </p:sp>
        <p:sp>
          <p:nvSpPr>
            <p:cNvPr id="23" name="TextBox 22"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48D15E9F-6A86-F743-B78C-3D005045CA25}"/>
                </a:ext>
              </a:extLst>
            </p:cNvPr>
            <p:cNvSpPr txBox="1"/>
            <p:nvPr/>
          </p:nvSpPr>
          <p:spPr>
            <a:xfrm>
              <a:off x="1217028" y="5725317"/>
              <a:ext cx="2358495" cy="366659"/>
            </a:xfrm>
            <a:prstGeom prst="rect">
              <a:avLst/>
            </a:prstGeom>
            <a:noFill/>
          </p:spPr>
          <p:txBody>
            <a:bodyPr wrap="square" lIns="43734" tIns="21867" rIns="43734" bIns="21867" rtlCol="0">
              <a:spAutoFit/>
            </a:bodyPr>
            <a:lstStyle/>
            <a:p>
              <a:pPr algn="ctr" defTabSz="555371">
                <a:buClrTx/>
                <a:defRPr/>
              </a:pPr>
              <a:r>
                <a:rPr lang="en-GB" sz="1500" kern="1200" dirty="0">
                  <a:solidFill>
                    <a:srgbClr val="8661C5"/>
                  </a:solidFill>
                  <a:latin typeface="+mj-lt"/>
                  <a:ea typeface="+mn-ea"/>
                  <a:cs typeface="+mn-cs"/>
                </a:rPr>
                <a:t>Prototype</a:t>
              </a:r>
            </a:p>
          </p:txBody>
        </p:sp>
      </p:grpSp>
      <p:grpSp>
        <p:nvGrpSpPr>
          <p:cNvPr id="24" name="Group 23">
            <a:extLst>
              <a:ext uri="{FF2B5EF4-FFF2-40B4-BE49-F238E27FC236}">
                <a16:creationId xmlns:a16="http://schemas.microsoft.com/office/drawing/2014/main" id="{ECA08865-170D-ACA1-6869-3294E3B86449}"/>
              </a:ext>
            </a:extLst>
          </p:cNvPr>
          <p:cNvGrpSpPr/>
          <p:nvPr/>
        </p:nvGrpSpPr>
        <p:grpSpPr>
          <a:xfrm>
            <a:off x="2788516" y="1560499"/>
            <a:ext cx="4098609" cy="3258855"/>
            <a:chOff x="1823908" y="1746837"/>
            <a:chExt cx="5464812" cy="4345141"/>
          </a:xfrm>
        </p:grpSpPr>
        <p:sp>
          <p:nvSpPr>
            <p:cNvPr id="25" name="Circle: Hollow 24">
              <a:extLst>
                <a:ext uri="{FF2B5EF4-FFF2-40B4-BE49-F238E27FC236}">
                  <a16:creationId xmlns:a16="http://schemas.microsoft.com/office/drawing/2014/main" id="{C076095D-9CDC-44F0-FA1D-5C4C9A9144CB}"/>
                </a:ext>
              </a:extLst>
            </p:cNvPr>
            <p:cNvSpPr>
              <a:spLocks noChangeAspect="1"/>
            </p:cNvSpPr>
            <p:nvPr/>
          </p:nvSpPr>
          <p:spPr bwMode="auto">
            <a:xfrm rot="1000141">
              <a:off x="4051772" y="2114180"/>
              <a:ext cx="3236948" cy="3236948"/>
            </a:xfrm>
            <a:prstGeom prst="donut">
              <a:avLst>
                <a:gd name="adj" fmla="val 11285"/>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defTabSz="699354" fontAlgn="base">
                <a:spcBef>
                  <a:spcPct val="0"/>
                </a:spcBef>
                <a:spcAft>
                  <a:spcPct val="0"/>
                </a:spcAft>
                <a:buClrTx/>
                <a:defRPr/>
              </a:pPr>
              <a:endParaRPr lang="en-US" sz="1500" kern="1200">
                <a:solidFill>
                  <a:srgbClr val="091F2C"/>
                </a:solidFill>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AC795906-75CF-B213-174D-AF7A24C01188}"/>
                </a:ext>
              </a:extLst>
            </p:cNvPr>
            <p:cNvSpPr txBox="1">
              <a:spLocks noChangeAspect="1"/>
            </p:cNvSpPr>
            <p:nvPr/>
          </p:nvSpPr>
          <p:spPr>
            <a:xfrm rot="10800000">
              <a:off x="4252926" y="2315334"/>
              <a:ext cx="2834640" cy="2834640"/>
            </a:xfrm>
            <a:prstGeom prst="rect">
              <a:avLst/>
            </a:prstGeom>
            <a:noFill/>
          </p:spPr>
          <p:txBody>
            <a:bodyPr spcFirstLastPara="1" wrap="square" lIns="0" tIns="0" rIns="0" bIns="0" numCol="1" rtlCol="0">
              <a:prstTxWarp prst="textArchUp">
                <a:avLst>
                  <a:gd name="adj" fmla="val 11454765"/>
                </a:avLst>
              </a:prstTxWarp>
              <a:spAutoFit/>
            </a:bodyPr>
            <a:lstStyle/>
            <a:p>
              <a:pPr algn="ctr" defTabSz="555371">
                <a:buClrTx/>
                <a:defRPr/>
              </a:pPr>
              <a:r>
                <a:rPr lang="en-GB" sz="900" kern="1200" dirty="0">
                  <a:solidFill>
                    <a:schemeClr val="bg1"/>
                  </a:solidFill>
                  <a:latin typeface="+mj-lt"/>
                  <a:ea typeface="+mn-ea"/>
                  <a:cs typeface="+mn-cs"/>
                </a:rPr>
                <a:t>Model selection</a:t>
              </a:r>
            </a:p>
          </p:txBody>
        </p:sp>
        <p:sp>
          <p:nvSpPr>
            <p:cNvPr id="27" name="TextBox 26">
              <a:extLst>
                <a:ext uri="{FF2B5EF4-FFF2-40B4-BE49-F238E27FC236}">
                  <a16:creationId xmlns:a16="http://schemas.microsoft.com/office/drawing/2014/main" id="{71A24109-C2A2-36E2-BB7B-BAE4EDC26141}"/>
                </a:ext>
              </a:extLst>
            </p:cNvPr>
            <p:cNvSpPr txBox="1">
              <a:spLocks noChangeAspect="1"/>
            </p:cNvSpPr>
            <p:nvPr/>
          </p:nvSpPr>
          <p:spPr>
            <a:xfrm>
              <a:off x="4252927" y="2315334"/>
              <a:ext cx="2834640" cy="2834640"/>
            </a:xfrm>
            <a:prstGeom prst="rect">
              <a:avLst/>
            </a:prstGeom>
            <a:noFill/>
          </p:spPr>
          <p:txBody>
            <a:bodyPr spcFirstLastPara="1" wrap="square" lIns="0" tIns="0" rIns="0" bIns="0" numCol="1" rtlCol="0">
              <a:prstTxWarp prst="textArchUp">
                <a:avLst>
                  <a:gd name="adj" fmla="val 11454765"/>
                </a:avLst>
              </a:prstTxWarp>
              <a:spAutoFit/>
            </a:bodyPr>
            <a:lstStyle/>
            <a:p>
              <a:pPr algn="ctr" defTabSz="555371">
                <a:buClrTx/>
                <a:defRPr/>
              </a:pPr>
              <a:r>
                <a:rPr lang="en-GB" sz="900" kern="1200" dirty="0">
                  <a:solidFill>
                    <a:schemeClr val="bg1"/>
                  </a:solidFill>
                  <a:latin typeface="+mj-lt"/>
                  <a:ea typeface="+mn-ea"/>
                  <a:cs typeface="+mn-cs"/>
                </a:rPr>
                <a:t> Techniques - Prompt Engineering, RAG, Fine-tuning</a:t>
              </a:r>
            </a:p>
          </p:txBody>
        </p:sp>
        <p:sp>
          <p:nvSpPr>
            <p:cNvPr id="28"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BF92F5D9-AD5D-36F3-B767-5B3A84F71B89}"/>
                </a:ext>
              </a:extLst>
            </p:cNvPr>
            <p:cNvSpPr>
              <a:spLocks noChangeAspect="1"/>
            </p:cNvSpPr>
            <p:nvPr/>
          </p:nvSpPr>
          <p:spPr>
            <a:xfrm flipV="1">
              <a:off x="4527246" y="2589654"/>
              <a:ext cx="2286001" cy="2286000"/>
            </a:xfrm>
            <a:prstGeom prst="arc">
              <a:avLst>
                <a:gd name="adj1" fmla="val 7569981"/>
                <a:gd name="adj2" fmla="val 6808147"/>
              </a:avLst>
            </a:prstGeom>
            <a:ln w="25400">
              <a:solidFill>
                <a:schemeClr val="tx2"/>
              </a:solidFill>
              <a:prstDash val="dash"/>
              <a:headEnd type="arrow"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555371">
                <a:buClrTx/>
                <a:defRPr/>
              </a:pPr>
              <a:endParaRPr lang="en-GB" sz="1072" kern="1200">
                <a:solidFill>
                  <a:prstClr val="black"/>
                </a:solidFill>
                <a:latin typeface="Segoe UI"/>
              </a:endParaRPr>
            </a:p>
          </p:txBody>
        </p:sp>
        <p:sp>
          <p:nvSpPr>
            <p:cNvPr id="29" name="REVERT PROJECT"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887BFE2F-8577-8C3A-F4F6-433087212C91}"/>
                </a:ext>
              </a:extLst>
            </p:cNvPr>
            <p:cNvSpPr txBox="1"/>
            <p:nvPr/>
          </p:nvSpPr>
          <p:spPr>
            <a:xfrm>
              <a:off x="2845531" y="4546725"/>
              <a:ext cx="1576387" cy="738205"/>
            </a:xfrm>
            <a:prstGeom prst="rect">
              <a:avLst/>
            </a:prstGeom>
            <a:noFill/>
          </p:spPr>
          <p:txBody>
            <a:bodyPr wrap="none" rtlCol="0">
              <a:prstTxWarp prst="textArchDown">
                <a:avLst>
                  <a:gd name="adj" fmla="val 1375053"/>
                </a:avLst>
              </a:prstTxWarp>
              <a:spAutoFit/>
            </a:bodyPr>
            <a:lstStyle/>
            <a:p>
              <a:pPr algn="ctr" defTabSz="544222">
                <a:lnSpc>
                  <a:spcPct val="120000"/>
                </a:lnSpc>
                <a:buClrTx/>
                <a:defRPr/>
              </a:pPr>
              <a:r>
                <a:rPr lang="en-US" sz="750" kern="1200" spc="24">
                  <a:ln w="3175">
                    <a:noFill/>
                  </a:ln>
                  <a:solidFill>
                    <a:schemeClr val="tx2"/>
                  </a:solidFill>
                  <a:latin typeface="+mj-lt"/>
                  <a:ea typeface="+mn-ea"/>
                  <a:cs typeface="Segoe UI Semibold" panose="020B0702040204020203" pitchFamily="34" charset="0"/>
                </a:rPr>
                <a:t>REVERT PROJECT</a:t>
              </a:r>
            </a:p>
          </p:txBody>
        </p:sp>
        <p:sp>
          <p:nvSpPr>
            <p:cNvPr id="30" name="ADVANCE PROJECT"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A04E94D5-59A2-9F4F-000B-92F34F0D880A}"/>
                </a:ext>
              </a:extLst>
            </p:cNvPr>
            <p:cNvSpPr txBox="1"/>
            <p:nvPr/>
          </p:nvSpPr>
          <p:spPr>
            <a:xfrm>
              <a:off x="2726810" y="1746837"/>
              <a:ext cx="2474951" cy="1222996"/>
            </a:xfrm>
            <a:prstGeom prst="ellipse">
              <a:avLst/>
            </a:prstGeom>
            <a:noFill/>
          </p:spPr>
          <p:txBody>
            <a:bodyPr wrap="none" rtlCol="0">
              <a:prstTxWarp prst="textArchUp">
                <a:avLst>
                  <a:gd name="adj" fmla="val 12451684"/>
                </a:avLst>
              </a:prstTxWarp>
              <a:spAutoFit/>
            </a:bodyPr>
            <a:lstStyle/>
            <a:p>
              <a:pPr algn="ctr" defTabSz="544222">
                <a:lnSpc>
                  <a:spcPct val="120000"/>
                </a:lnSpc>
                <a:buClrTx/>
                <a:defRPr/>
              </a:pPr>
              <a:r>
                <a:rPr lang="en-US" sz="750" kern="1200" spc="24">
                  <a:ln w="3175">
                    <a:noFill/>
                  </a:ln>
                  <a:solidFill>
                    <a:srgbClr val="8661C5"/>
                  </a:solidFill>
                  <a:latin typeface="+mj-lt"/>
                  <a:ea typeface="+mn-ea"/>
                  <a:cs typeface="Segoe UI Semibold" panose="020B0702040204020203" pitchFamily="34" charset="0"/>
                </a:rPr>
                <a:t>ADVANCE PROJECT </a:t>
              </a:r>
            </a:p>
          </p:txBody>
        </p:sp>
        <p:sp>
          <p:nvSpPr>
            <p:cNvPr id="31"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4C39DE32-76B2-32AD-AB3F-87E2BBC6FA96}"/>
                </a:ext>
              </a:extLst>
            </p:cNvPr>
            <p:cNvSpPr>
              <a:spLocks noChangeAspect="1"/>
            </p:cNvSpPr>
            <p:nvPr/>
          </p:nvSpPr>
          <p:spPr>
            <a:xfrm flipV="1">
              <a:off x="2175883" y="2059711"/>
              <a:ext cx="3608275" cy="3608274"/>
            </a:xfrm>
            <a:prstGeom prst="arc">
              <a:avLst>
                <a:gd name="adj1" fmla="val 3543377"/>
                <a:gd name="adj2" fmla="val 7877199"/>
              </a:avLst>
            </a:prstGeom>
            <a:ln w="25400">
              <a:solidFill>
                <a:srgbClr val="8661C5"/>
              </a:solidFill>
              <a:prstDash val="dash"/>
              <a:headEnd type="arrow"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555371">
                <a:buClrTx/>
                <a:defRPr/>
              </a:pPr>
              <a:endParaRPr lang="en-GB" sz="1072" kern="1200">
                <a:solidFill>
                  <a:prstClr val="black"/>
                </a:solidFill>
                <a:latin typeface="Segoe UI"/>
              </a:endParaRPr>
            </a:p>
          </p:txBody>
        </p:sp>
        <p:sp>
          <p:nvSpPr>
            <p:cNvPr id="32" name="Inner &gt; Middle"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FFA9DAF0-A3E2-11B1-E1A6-A77582F7D532}"/>
                </a:ext>
              </a:extLst>
            </p:cNvPr>
            <p:cNvSpPr>
              <a:spLocks noChangeAspect="1"/>
            </p:cNvSpPr>
            <p:nvPr/>
          </p:nvSpPr>
          <p:spPr>
            <a:xfrm flipH="1">
              <a:off x="1823908" y="1828042"/>
              <a:ext cx="3608275" cy="3608274"/>
            </a:xfrm>
            <a:prstGeom prst="arc">
              <a:avLst>
                <a:gd name="adj1" fmla="val 3234220"/>
                <a:gd name="adj2" fmla="val 7877199"/>
              </a:avLst>
            </a:prstGeom>
            <a:ln w="25400">
              <a:solidFill>
                <a:schemeClr val="tx2"/>
              </a:solidFill>
              <a:prstDash val="dash"/>
              <a:headEnd type="arrow"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555371">
                <a:buClrTx/>
                <a:defRPr/>
              </a:pPr>
              <a:endParaRPr lang="en-GB" sz="1072" kern="1200">
                <a:solidFill>
                  <a:prstClr val="black"/>
                </a:solidFill>
                <a:latin typeface="Segoe UI"/>
              </a:endParaRPr>
            </a:p>
          </p:txBody>
        </p:sp>
        <p:sp>
          <p:nvSpPr>
            <p:cNvPr id="33" name="TextBox 32" descr="This slide is a diagram of the ML hero scenarios with key activities in each loop and transitions between indicated to show a lifecycle.&#10;&#10;The set-up and management scenario surrounds the 3 data science loops, indicating the role of security, privacy, cost, and policy controls.&#10;&#10;The data science loops from left to right:&#10;&#10;The starting point is the business need, which begins the Inner Loop scenario activities of hypothesis development, gathering and preparing data, prototyping or acquiring model architecture, and experimentation &amp; evaluation which continue until the ML pro has come up with a prototype that is work advancing to the next loop. &#10;&#10;Once a decision has been made to invest further in the project, it enters the Middle loop activities: iteration &amp; collaborative training, cloud scale training, evaluating results, and offline validation. These activities may continue for some time until the model is ready to advance toward production.&#10;&#10;The model will then undergo work to prepare it for production as part of transitioning to the Outer loop activities of deploying as a candidate, collecting online metrics, validating online performance, promoting to production, and monitoring. This will continue until either the model needs to return to Middle loop for retraining or be replaced by a challenger model.">
              <a:extLst>
                <a:ext uri="{FF2B5EF4-FFF2-40B4-BE49-F238E27FC236}">
                  <a16:creationId xmlns:a16="http://schemas.microsoft.com/office/drawing/2014/main" id="{00FC7BA6-5767-1CEC-430E-FF05A86944E3}"/>
                </a:ext>
              </a:extLst>
            </p:cNvPr>
            <p:cNvSpPr txBox="1"/>
            <p:nvPr/>
          </p:nvSpPr>
          <p:spPr>
            <a:xfrm>
              <a:off x="4253419" y="5725319"/>
              <a:ext cx="2833656" cy="366659"/>
            </a:xfrm>
            <a:prstGeom prst="rect">
              <a:avLst/>
            </a:prstGeom>
            <a:noFill/>
          </p:spPr>
          <p:txBody>
            <a:bodyPr wrap="square" lIns="43734" tIns="21867" rIns="43734" bIns="21867" rtlCol="0" anchor="t">
              <a:spAutoFit/>
            </a:bodyPr>
            <a:lstStyle/>
            <a:p>
              <a:pPr algn="ctr" defTabSz="555371">
                <a:buClrTx/>
                <a:defRPr/>
              </a:pPr>
              <a:r>
                <a:rPr lang="en-GB" sz="1500" kern="1200" dirty="0">
                  <a:solidFill>
                    <a:schemeClr val="tx2"/>
                  </a:solidFill>
                  <a:latin typeface="+mj-lt"/>
                  <a:ea typeface="+mn-ea"/>
                  <a:cs typeface="+mn-cs"/>
                </a:rPr>
                <a:t>Optimize</a:t>
              </a:r>
            </a:p>
          </p:txBody>
        </p:sp>
      </p:grpSp>
      <p:sp>
        <p:nvSpPr>
          <p:cNvPr id="34" name="Rectangle 33">
            <a:extLst>
              <a:ext uri="{FF2B5EF4-FFF2-40B4-BE49-F238E27FC236}">
                <a16:creationId xmlns:a16="http://schemas.microsoft.com/office/drawing/2014/main" id="{82A85444-4B1C-54C4-F9F1-A47965D54E3B}"/>
              </a:ext>
            </a:extLst>
          </p:cNvPr>
          <p:cNvSpPr/>
          <p:nvPr/>
        </p:nvSpPr>
        <p:spPr bwMode="auto">
          <a:xfrm>
            <a:off x="2665462" y="2556431"/>
            <a:ext cx="1165493" cy="101415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99354" fontAlgn="base">
              <a:spcBef>
                <a:spcPct val="0"/>
              </a:spcBef>
              <a:spcAft>
                <a:spcPct val="0"/>
              </a:spcAft>
            </a:pPr>
            <a:r>
              <a:rPr lang="en-US" sz="1500" dirty="0">
                <a:solidFill>
                  <a:srgbClr val="463668"/>
                </a:solidFill>
              </a:rPr>
              <a:t>Can AI solve my use case?</a:t>
            </a:r>
          </a:p>
        </p:txBody>
      </p:sp>
      <p:sp>
        <p:nvSpPr>
          <p:cNvPr id="35" name="Rectangle 34">
            <a:extLst>
              <a:ext uri="{FF2B5EF4-FFF2-40B4-BE49-F238E27FC236}">
                <a16:creationId xmlns:a16="http://schemas.microsoft.com/office/drawing/2014/main" id="{8CDD5C9E-2755-43E8-3C68-F18C6232F4C8}"/>
              </a:ext>
            </a:extLst>
          </p:cNvPr>
          <p:cNvSpPr/>
          <p:nvPr/>
        </p:nvSpPr>
        <p:spPr bwMode="auto">
          <a:xfrm>
            <a:off x="5021569" y="2482409"/>
            <a:ext cx="1281708" cy="108365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99354" fontAlgn="base">
              <a:spcBef>
                <a:spcPct val="0"/>
              </a:spcBef>
              <a:spcAft>
                <a:spcPct val="0"/>
              </a:spcAft>
            </a:pPr>
            <a:r>
              <a:rPr lang="en-US" sz="1500" dirty="0">
                <a:solidFill>
                  <a:schemeClr val="accent1">
                    <a:lumMod val="75000"/>
                  </a:schemeClr>
                </a:solidFill>
              </a:rPr>
              <a:t>What is the best model for my use case?</a:t>
            </a:r>
          </a:p>
        </p:txBody>
      </p:sp>
      <p:sp>
        <p:nvSpPr>
          <p:cNvPr id="36" name="Rectangle 35">
            <a:extLst>
              <a:ext uri="{FF2B5EF4-FFF2-40B4-BE49-F238E27FC236}">
                <a16:creationId xmlns:a16="http://schemas.microsoft.com/office/drawing/2014/main" id="{77C423FC-CC20-07BC-D8B0-D0B6ADBABCAC}"/>
              </a:ext>
            </a:extLst>
          </p:cNvPr>
          <p:cNvSpPr/>
          <p:nvPr/>
        </p:nvSpPr>
        <p:spPr bwMode="auto">
          <a:xfrm>
            <a:off x="7647092" y="2482409"/>
            <a:ext cx="1577603" cy="11313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ctr" anchorCtr="0" forceAA="0" compatLnSpc="1">
            <a:prstTxWarp prst="textNoShape">
              <a:avLst/>
            </a:prstTxWarp>
            <a:noAutofit/>
          </a:bodyPr>
          <a:lstStyle/>
          <a:p>
            <a:pPr algn="ctr" defTabSz="699354" fontAlgn="base">
              <a:spcBef>
                <a:spcPct val="0"/>
              </a:spcBef>
              <a:spcAft>
                <a:spcPct val="0"/>
              </a:spcAft>
            </a:pPr>
            <a:r>
              <a:rPr lang="en-US" sz="1500" dirty="0">
                <a:solidFill>
                  <a:srgbClr val="225B62"/>
                </a:solidFill>
              </a:rPr>
              <a:t>Can I scale for real-world workloads?</a:t>
            </a:r>
          </a:p>
        </p:txBody>
      </p:sp>
    </p:spTree>
    <p:extLst>
      <p:ext uri="{BB962C8B-B14F-4D97-AF65-F5344CB8AC3E}">
        <p14:creationId xmlns:p14="http://schemas.microsoft.com/office/powerpoint/2010/main" val="34342291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F816D-A0F6-353A-0F3C-819D04475CD7}"/>
              </a:ext>
            </a:extLst>
          </p:cNvPr>
          <p:cNvSpPr>
            <a:spLocks noGrp="1"/>
          </p:cNvSpPr>
          <p:nvPr>
            <p:ph type="title"/>
          </p:nvPr>
        </p:nvSpPr>
        <p:spPr>
          <a:xfrm>
            <a:off x="409980" y="4311805"/>
            <a:ext cx="8585337" cy="2368300"/>
          </a:xfrm>
        </p:spPr>
        <p:txBody>
          <a:bodyPr anchor="b">
            <a:normAutofit/>
          </a:bodyPr>
          <a:lstStyle/>
          <a:p>
            <a:r>
              <a:rPr lang="en-US"/>
              <a:t>Types of RAG Architectures</a:t>
            </a:r>
          </a:p>
        </p:txBody>
      </p:sp>
      <p:sp>
        <p:nvSpPr>
          <p:cNvPr id="4" name="Footer Placeholder 3">
            <a:extLst>
              <a:ext uri="{FF2B5EF4-FFF2-40B4-BE49-F238E27FC236}">
                <a16:creationId xmlns:a16="http://schemas.microsoft.com/office/drawing/2014/main" id="{AC33911A-EDD0-688C-4BFD-0002D953B221}"/>
              </a:ext>
            </a:extLst>
          </p:cNvPr>
          <p:cNvSpPr>
            <a:spLocks noGrp="1"/>
          </p:cNvSpPr>
          <p:nvPr>
            <p:ph type="ftr" sz="quarter" idx="11"/>
          </p:nvPr>
        </p:nvSpPr>
        <p:spPr>
          <a:xfrm>
            <a:off x="419100" y="219456"/>
            <a:ext cx="2656178" cy="338328"/>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22BB0E1A-4FC2-7601-036E-051295A761B0}"/>
              </a:ext>
            </a:extLst>
          </p:cNvPr>
          <p:cNvSpPr>
            <a:spLocks noGrp="1"/>
          </p:cNvSpPr>
          <p:nvPr>
            <p:ph type="dt" sz="half" idx="10"/>
          </p:nvPr>
        </p:nvSpPr>
        <p:spPr>
          <a:xfrm>
            <a:off x="8801100" y="219456"/>
            <a:ext cx="1913256" cy="338328"/>
          </a:xfrm>
        </p:spPr>
        <p:txBody>
          <a:bodyPr anchor="ctr">
            <a:normAutofit/>
          </a:bodyPr>
          <a:lstStyle/>
          <a:p>
            <a:pPr>
              <a:spcAft>
                <a:spcPts val="600"/>
              </a:spcAft>
            </a:pPr>
            <a:fld id="{21359139-99F8-4B6E-8834-95F2B9D91EE4}" type="datetime1">
              <a:rPr lang="en-US" smtClean="0"/>
              <a:pPr>
                <a:spcAft>
                  <a:spcPts val="600"/>
                </a:spcAft>
              </a:pPr>
              <a:t>6/9/2026</a:t>
            </a:fld>
            <a:endParaRPr lang="en-US"/>
          </a:p>
        </p:txBody>
      </p:sp>
      <p:sp>
        <p:nvSpPr>
          <p:cNvPr id="6" name="Slide Number Placeholder 5">
            <a:extLst>
              <a:ext uri="{FF2B5EF4-FFF2-40B4-BE49-F238E27FC236}">
                <a16:creationId xmlns:a16="http://schemas.microsoft.com/office/drawing/2014/main" id="{A9A57810-9B4C-7A62-7612-FFA52F223ED7}"/>
              </a:ext>
            </a:extLst>
          </p:cNvPr>
          <p:cNvSpPr>
            <a:spLocks noGrp="1"/>
          </p:cNvSpPr>
          <p:nvPr>
            <p:ph type="sldNum" sz="quarter" idx="12"/>
          </p:nvPr>
        </p:nvSpPr>
        <p:spPr>
          <a:xfrm>
            <a:off x="11291658" y="219456"/>
            <a:ext cx="555948" cy="338328"/>
          </a:xfrm>
        </p:spPr>
        <p:txBody>
          <a:bodyPr anchor="ctr">
            <a:normAutofit/>
          </a:bodyPr>
          <a:lstStyle/>
          <a:p>
            <a:pPr>
              <a:spcAft>
                <a:spcPts val="600"/>
              </a:spcAft>
            </a:pPr>
            <a:fld id="{8E274F5D-21DC-40EF-8DBA-AB9BB119E939}" type="slidenum">
              <a:rPr lang="en-US" smtClean="0"/>
              <a:pPr>
                <a:spcAft>
                  <a:spcPts val="600"/>
                </a:spcAft>
              </a:pPr>
              <a:t>11</a:t>
            </a:fld>
            <a:endParaRPr lang="en-US"/>
          </a:p>
        </p:txBody>
      </p:sp>
    </p:spTree>
    <p:extLst>
      <p:ext uri="{BB962C8B-B14F-4D97-AF65-F5344CB8AC3E}">
        <p14:creationId xmlns:p14="http://schemas.microsoft.com/office/powerpoint/2010/main" val="25765568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0CB90-5B8E-E9F4-58E9-87F11D930330}"/>
              </a:ext>
            </a:extLst>
          </p:cNvPr>
          <p:cNvSpPr>
            <a:spLocks noGrp="1"/>
          </p:cNvSpPr>
          <p:nvPr>
            <p:ph type="title"/>
          </p:nvPr>
        </p:nvSpPr>
        <p:spPr/>
        <p:txBody>
          <a:bodyPr anchor="t">
            <a:normAutofit/>
          </a:bodyPr>
          <a:lstStyle/>
          <a:p>
            <a:r>
              <a:rPr lang="en-US" dirty="0"/>
              <a:t>RAG Fusion and Multi-Query Retrieval</a:t>
            </a:r>
          </a:p>
        </p:txBody>
      </p:sp>
      <p:sp>
        <p:nvSpPr>
          <p:cNvPr id="3" name="Footer Placeholder 2">
            <a:extLst>
              <a:ext uri="{FF2B5EF4-FFF2-40B4-BE49-F238E27FC236}">
                <a16:creationId xmlns:a16="http://schemas.microsoft.com/office/drawing/2014/main" id="{01DC9210-E889-7AAB-EC84-5CFBE3172C86}"/>
              </a:ext>
            </a:extLst>
          </p:cNvPr>
          <p:cNvSpPr>
            <a:spLocks noGrp="1"/>
          </p:cNvSpPr>
          <p:nvPr>
            <p:ph type="ftr" sz="quarter" idx="11"/>
          </p:nvPr>
        </p:nvSpPr>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FB791075-3C03-0F0D-5370-FB300F138127}"/>
              </a:ext>
            </a:extLst>
          </p:cNvPr>
          <p:cNvSpPr>
            <a:spLocks noGrp="1"/>
          </p:cNvSpPr>
          <p:nvPr>
            <p:ph type="dt" sz="half" idx="10"/>
          </p:nvPr>
        </p:nvSpPr>
        <p:spPr/>
        <p:txBody>
          <a:bodyPr anchor="ctr">
            <a:normAutofit/>
          </a:bodyPr>
          <a:lstStyle/>
          <a:p>
            <a:pPr>
              <a:spcAft>
                <a:spcPts val="600"/>
              </a:spcAft>
            </a:pPr>
            <a:fld id="{F38C42AE-61C6-458B-86C3-22D39A5E8956}"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5B9CD922-50B6-26EB-9FEF-A7DE9661EA55}"/>
              </a:ext>
            </a:extLst>
          </p:cNvPr>
          <p:cNvSpPr>
            <a:spLocks noGrp="1"/>
          </p:cNvSpPr>
          <p:nvPr>
            <p:ph type="sldNum" sz="quarter" idx="12"/>
          </p:nvPr>
        </p:nvSpPr>
        <p:spPr/>
        <p:txBody>
          <a:bodyPr anchor="ctr">
            <a:normAutofit/>
          </a:bodyPr>
          <a:lstStyle/>
          <a:p>
            <a:pPr>
              <a:spcAft>
                <a:spcPts val="600"/>
              </a:spcAft>
            </a:pPr>
            <a:fld id="{8E274F5D-21DC-40EF-8DBA-AB9BB119E939}" type="slidenum">
              <a:rPr lang="en-US" smtClean="0"/>
              <a:pPr>
                <a:spcAft>
                  <a:spcPts val="600"/>
                </a:spcAft>
              </a:pPr>
              <a:t>12</a:t>
            </a:fld>
            <a:endParaRPr lang="en-US"/>
          </a:p>
        </p:txBody>
      </p:sp>
      <p:sp>
        <p:nvSpPr>
          <p:cNvPr id="7" name="Content Placeholder 6">
            <a:extLst>
              <a:ext uri="{FF2B5EF4-FFF2-40B4-BE49-F238E27FC236}">
                <a16:creationId xmlns:a16="http://schemas.microsoft.com/office/drawing/2014/main" id="{21B3FD4D-F50F-C527-B404-86D33A4C44D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lnSpc>
                <a:spcPct val="110000"/>
              </a:lnSpc>
              <a:spcBef>
                <a:spcPts val="2500"/>
              </a:spcBef>
              <a:buFont typeface="Arial" panose="020B0604020202020204" pitchFamily="34" charset="0"/>
              <a:buNone/>
            </a:pPr>
            <a:r>
              <a:rPr lang="en-US" sz="1200" b="1"/>
              <a:t>Multiple Query Generation</a:t>
            </a:r>
          </a:p>
          <a:p>
            <a:pPr marL="0" lvl="1" indent="0">
              <a:lnSpc>
                <a:spcPct val="110000"/>
              </a:lnSpc>
              <a:buFont typeface="Arial" panose="020B0604020202020204" pitchFamily="34" charset="0"/>
              <a:buNone/>
            </a:pPr>
            <a:r>
              <a:rPr lang="en-US" sz="1200"/>
              <a:t>RAG Fusion generates multiple semantically related queries to capture diverse relevant information beyond single query limits.</a:t>
            </a:r>
          </a:p>
          <a:p>
            <a:pPr marL="0" indent="0">
              <a:lnSpc>
                <a:spcPct val="110000"/>
              </a:lnSpc>
              <a:spcBef>
                <a:spcPts val="2500"/>
              </a:spcBef>
              <a:buFont typeface="Arial" panose="020B0604020202020204" pitchFamily="34" charset="0"/>
              <a:buNone/>
            </a:pPr>
            <a:r>
              <a:rPr lang="en-US" sz="1200" b="1"/>
              <a:t>Merged and Refined Results</a:t>
            </a:r>
          </a:p>
          <a:p>
            <a:pPr marL="0" lvl="1" indent="0">
              <a:lnSpc>
                <a:spcPct val="110000"/>
              </a:lnSpc>
              <a:buFont typeface="Arial" panose="020B0604020202020204" pitchFamily="34" charset="0"/>
              <a:buNone/>
            </a:pPr>
            <a:r>
              <a:rPr lang="en-US" sz="1200"/>
              <a:t>The system merges and refines results from various queries to produce a comprehensive and accurate answer.</a:t>
            </a:r>
          </a:p>
          <a:p>
            <a:pPr marL="0" indent="0">
              <a:lnSpc>
                <a:spcPct val="110000"/>
              </a:lnSpc>
              <a:spcBef>
                <a:spcPts val="2500"/>
              </a:spcBef>
              <a:buFont typeface="Arial" panose="020B0604020202020204" pitchFamily="34" charset="0"/>
              <a:buNone/>
            </a:pPr>
            <a:r>
              <a:rPr lang="en-US" sz="1200" b="1"/>
              <a:t>Applications and Challenges</a:t>
            </a:r>
          </a:p>
          <a:p>
            <a:pPr marL="0" lvl="1" indent="0">
              <a:lnSpc>
                <a:spcPct val="110000"/>
              </a:lnSpc>
              <a:buFont typeface="Arial" panose="020B0604020202020204" pitchFamily="34" charset="0"/>
              <a:buNone/>
            </a:pPr>
            <a:r>
              <a:rPr lang="en-US" sz="1200"/>
              <a:t>RAG Fusion enhances retrieval in complex, multilingual domains but requires optimizations to manage computational overhead.</a:t>
            </a:r>
          </a:p>
        </p:txBody>
      </p:sp>
      <p:pic>
        <p:nvPicPr>
          <p:cNvPr id="1030" name="Picture 6" descr="Advanced RAG: Multi-Query Retriever Approach | by Kamal Dhungana | Medium">
            <a:extLst>
              <a:ext uri="{FF2B5EF4-FFF2-40B4-BE49-F238E27FC236}">
                <a16:creationId xmlns:a16="http://schemas.microsoft.com/office/drawing/2014/main" id="{6DA2BCFE-2A74-F88A-C1E1-1353170E08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7001" y="81340"/>
            <a:ext cx="7517296" cy="3188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73505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1A6F4-A2B4-371E-0E0C-73B563983B94}"/>
              </a:ext>
            </a:extLst>
          </p:cNvPr>
          <p:cNvSpPr>
            <a:spLocks noGrp="1"/>
          </p:cNvSpPr>
          <p:nvPr>
            <p:ph type="title"/>
          </p:nvPr>
        </p:nvSpPr>
        <p:spPr/>
        <p:txBody>
          <a:bodyPr anchor="t">
            <a:normAutofit/>
          </a:bodyPr>
          <a:lstStyle/>
          <a:p>
            <a:r>
              <a:rPr lang="en-US" dirty="0"/>
              <a:t>Graph-Based RAG for Complex Data</a:t>
            </a:r>
          </a:p>
        </p:txBody>
      </p:sp>
      <p:sp>
        <p:nvSpPr>
          <p:cNvPr id="3" name="Footer Placeholder 2">
            <a:extLst>
              <a:ext uri="{FF2B5EF4-FFF2-40B4-BE49-F238E27FC236}">
                <a16:creationId xmlns:a16="http://schemas.microsoft.com/office/drawing/2014/main" id="{D326F659-BC1C-B9A5-00DD-0A3D8661F9BE}"/>
              </a:ext>
            </a:extLst>
          </p:cNvPr>
          <p:cNvSpPr>
            <a:spLocks noGrp="1"/>
          </p:cNvSpPr>
          <p:nvPr>
            <p:ph type="ftr" sz="quarter" idx="11"/>
          </p:nvPr>
        </p:nvSpPr>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70E5114F-F038-F23A-41A1-3C8BA028CC39}"/>
              </a:ext>
            </a:extLst>
          </p:cNvPr>
          <p:cNvSpPr>
            <a:spLocks noGrp="1"/>
          </p:cNvSpPr>
          <p:nvPr>
            <p:ph type="dt" sz="half" idx="10"/>
          </p:nvPr>
        </p:nvSpPr>
        <p:spPr/>
        <p:txBody>
          <a:bodyPr anchor="ctr">
            <a:normAutofit/>
          </a:bodyPr>
          <a:lstStyle/>
          <a:p>
            <a:pPr>
              <a:spcAft>
                <a:spcPts val="600"/>
              </a:spcAft>
            </a:pPr>
            <a:fld id="{F38C42AE-61C6-458B-86C3-22D39A5E8956}"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F7E2F6DC-19E1-D4C6-C371-69974BD9139A}"/>
              </a:ext>
            </a:extLst>
          </p:cNvPr>
          <p:cNvSpPr>
            <a:spLocks noGrp="1"/>
          </p:cNvSpPr>
          <p:nvPr>
            <p:ph type="sldNum" sz="quarter" idx="12"/>
          </p:nvPr>
        </p:nvSpPr>
        <p:spPr/>
        <p:txBody>
          <a:bodyPr anchor="ctr">
            <a:normAutofit/>
          </a:bodyPr>
          <a:lstStyle/>
          <a:p>
            <a:pPr>
              <a:spcAft>
                <a:spcPts val="600"/>
              </a:spcAft>
            </a:pPr>
            <a:fld id="{8E274F5D-21DC-40EF-8DBA-AB9BB119E939}" type="slidenum">
              <a:rPr lang="en-US" smtClean="0"/>
              <a:pPr>
                <a:spcAft>
                  <a:spcPts val="600"/>
                </a:spcAft>
              </a:pPr>
              <a:t>13</a:t>
            </a:fld>
            <a:endParaRPr lang="en-US"/>
          </a:p>
        </p:txBody>
      </p:sp>
      <p:sp>
        <p:nvSpPr>
          <p:cNvPr id="7" name="Content Placeholder 6">
            <a:extLst>
              <a:ext uri="{FF2B5EF4-FFF2-40B4-BE49-F238E27FC236}">
                <a16:creationId xmlns:a16="http://schemas.microsoft.com/office/drawing/2014/main" id="{41F47A09-8219-1C36-D401-6FE7DDF88DE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lnSpcReduction="20000"/>
          </a:bodyPr>
          <a:lstStyle/>
          <a:p>
            <a:pPr marL="0" indent="0">
              <a:spcBef>
                <a:spcPts val="2500"/>
              </a:spcBef>
              <a:buFont typeface="Arial" panose="020B0604020202020204" pitchFamily="34" charset="0"/>
              <a:buNone/>
            </a:pPr>
            <a:r>
              <a:rPr lang="en-US" b="1" dirty="0"/>
              <a:t>Knowledge Graph Modeling</a:t>
            </a:r>
          </a:p>
          <a:p>
            <a:pPr marL="0" lvl="1" indent="0">
              <a:buFont typeface="Arial" panose="020B0604020202020204" pitchFamily="34" charset="0"/>
              <a:buNone/>
            </a:pPr>
            <a:r>
              <a:rPr lang="en-US" dirty="0"/>
              <a:t>Graph RAG uses knowledge graphs to represent entities and their structured relationships, enabling deeper reasoning.</a:t>
            </a:r>
          </a:p>
          <a:p>
            <a:pPr marL="0" indent="0">
              <a:spcBef>
                <a:spcPts val="2500"/>
              </a:spcBef>
              <a:buFont typeface="Arial" panose="020B0604020202020204" pitchFamily="34" charset="0"/>
              <a:buNone/>
            </a:pPr>
            <a:r>
              <a:rPr lang="en-US" b="1" dirty="0"/>
              <a:t>Graph Traversal for Queries</a:t>
            </a:r>
          </a:p>
          <a:p>
            <a:pPr marL="0" lvl="1" indent="0">
              <a:buFont typeface="Arial" panose="020B0604020202020204" pitchFamily="34" charset="0"/>
              <a:buNone/>
            </a:pPr>
            <a:r>
              <a:rPr lang="en-US" dirty="0"/>
              <a:t>Queries traverse the graph to identify relevant paths, delivering context-rich and accurate responses.</a:t>
            </a:r>
          </a:p>
          <a:p>
            <a:pPr marL="0" indent="0">
              <a:spcBef>
                <a:spcPts val="2500"/>
              </a:spcBef>
              <a:buFont typeface="Arial" panose="020B0604020202020204" pitchFamily="34" charset="0"/>
              <a:buNone/>
            </a:pPr>
            <a:r>
              <a:rPr lang="en-US" b="1" dirty="0"/>
              <a:t>Application in Complex Domains</a:t>
            </a:r>
          </a:p>
          <a:p>
            <a:pPr marL="0" lvl="1" indent="0">
              <a:buFont typeface="Arial" panose="020B0604020202020204" pitchFamily="34" charset="0"/>
              <a:buNone/>
            </a:pPr>
            <a:r>
              <a:rPr lang="en-US" dirty="0"/>
              <a:t>Graph RAG is effective in complex sectors like healthcare, compliance, and telecommunications requiring relationship understanding.</a:t>
            </a:r>
          </a:p>
          <a:p>
            <a:pPr marL="0" indent="0">
              <a:spcBef>
                <a:spcPts val="2500"/>
              </a:spcBef>
              <a:buFont typeface="Arial" panose="020B0604020202020204" pitchFamily="34" charset="0"/>
              <a:buNone/>
            </a:pPr>
            <a:r>
              <a:rPr lang="en-US" b="1" dirty="0"/>
              <a:t>Challenges and Benefits</a:t>
            </a:r>
          </a:p>
          <a:p>
            <a:pPr marL="0" lvl="1" indent="0">
              <a:buFont typeface="Arial" panose="020B0604020202020204" pitchFamily="34" charset="0"/>
              <a:buNone/>
            </a:pPr>
            <a:r>
              <a:rPr lang="en-US" dirty="0"/>
              <a:t>Building graphs demands data extraction and entity mapping; however, it enables multi-hop reasoning and improved accuracy.</a:t>
            </a:r>
          </a:p>
        </p:txBody>
      </p:sp>
      <p:pic>
        <p:nvPicPr>
          <p:cNvPr id="3074" name="Picture 2" descr="Knowledge Graph RAG Infographic">
            <a:extLst>
              <a:ext uri="{FF2B5EF4-FFF2-40B4-BE49-F238E27FC236}">
                <a16:creationId xmlns:a16="http://schemas.microsoft.com/office/drawing/2014/main" id="{859B13B5-B61B-D716-A406-6AEAE946EE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513" y="832402"/>
            <a:ext cx="3657600"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22693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ubtitle 10">
            <a:extLst>
              <a:ext uri="{FF2B5EF4-FFF2-40B4-BE49-F238E27FC236}">
                <a16:creationId xmlns:a16="http://schemas.microsoft.com/office/drawing/2014/main" id="{298F02B1-D6B8-31CE-D6BA-735982BA833E}"/>
              </a:ext>
            </a:extLst>
          </p:cNvPr>
          <p:cNvSpPr>
            <a:spLocks noGrp="1"/>
          </p:cNvSpPr>
          <p:nvPr>
            <p:ph type="subTitle" idx="1"/>
          </p:nvPr>
        </p:nvSpPr>
        <p:spPr>
          <a:xfrm>
            <a:off x="1285460" y="869150"/>
            <a:ext cx="6340740" cy="905862"/>
          </a:xfrm>
        </p:spPr>
        <p:txBody>
          <a:bodyPr/>
          <a:lstStyle/>
          <a:p>
            <a:pPr lvl="0" eaLnBrk="0" fontAlgn="base" hangingPunct="0">
              <a:lnSpc>
                <a:spcPct val="100000"/>
              </a:lnSpc>
              <a:spcBef>
                <a:spcPct val="0"/>
              </a:spcBef>
              <a:spcAft>
                <a:spcPct val="0"/>
              </a:spcAft>
            </a:pPr>
            <a:r>
              <a:rPr lang="en-US" altLang="en-US" b="1" dirty="0">
                <a:latin typeface="Arial" panose="020B0604020202020204" pitchFamily="34" charset="0"/>
              </a:rPr>
              <a:t>KG‑RAG vs Standard RAG (Infographic Table)</a:t>
            </a:r>
          </a:p>
          <a:p>
            <a:pPr lvl="0" eaLnBrk="0" fontAlgn="base" hangingPunct="0">
              <a:lnSpc>
                <a:spcPct val="100000"/>
              </a:lnSpc>
              <a:spcBef>
                <a:spcPct val="0"/>
              </a:spcBef>
              <a:spcAft>
                <a:spcPct val="0"/>
              </a:spcAft>
            </a:pPr>
            <a:endParaRPr lang="en-US" altLang="en-US" sz="3600" dirty="0">
              <a:latin typeface="Arial" panose="020B0604020202020204" pitchFamily="34" charset="0"/>
            </a:endParaRPr>
          </a:p>
          <a:p>
            <a:endParaRPr lang="en-US" dirty="0"/>
          </a:p>
        </p:txBody>
      </p:sp>
      <p:sp>
        <p:nvSpPr>
          <p:cNvPr id="4" name="Footer Placeholder 3">
            <a:extLst>
              <a:ext uri="{FF2B5EF4-FFF2-40B4-BE49-F238E27FC236}">
                <a16:creationId xmlns:a16="http://schemas.microsoft.com/office/drawing/2014/main" id="{7C33B1B5-2A1D-E673-D794-CFA74A3FE72D}"/>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0A96FA0D-CB84-CC4A-4D84-AEA2A829EFF3}"/>
              </a:ext>
            </a:extLst>
          </p:cNvPr>
          <p:cNvSpPr>
            <a:spLocks noGrp="1"/>
          </p:cNvSpPr>
          <p:nvPr>
            <p:ph type="dt" sz="half" idx="10"/>
          </p:nvPr>
        </p:nvSpPr>
        <p:spPr/>
        <p:txBody>
          <a:bodyPr/>
          <a:lstStyle/>
          <a:p>
            <a:fld id="{86709B22-BFE8-4BFE-80D5-4133DC0C2AC6}" type="datetime1">
              <a:rPr lang="en-US" smtClean="0"/>
              <a:t>6/9/2026</a:t>
            </a:fld>
            <a:endParaRPr lang="en-US"/>
          </a:p>
        </p:txBody>
      </p:sp>
      <p:sp>
        <p:nvSpPr>
          <p:cNvPr id="6" name="Slide Number Placeholder 5">
            <a:extLst>
              <a:ext uri="{FF2B5EF4-FFF2-40B4-BE49-F238E27FC236}">
                <a16:creationId xmlns:a16="http://schemas.microsoft.com/office/drawing/2014/main" id="{76C0B857-094C-0D45-6D5A-D4E96A75FFC2}"/>
              </a:ext>
            </a:extLst>
          </p:cNvPr>
          <p:cNvSpPr>
            <a:spLocks noGrp="1"/>
          </p:cNvSpPr>
          <p:nvPr>
            <p:ph type="sldNum" sz="quarter" idx="12"/>
          </p:nvPr>
        </p:nvSpPr>
        <p:spPr/>
        <p:txBody>
          <a:bodyPr/>
          <a:lstStyle/>
          <a:p>
            <a:fld id="{8E274F5D-21DC-40EF-8DBA-AB9BB119E939}" type="slidenum">
              <a:rPr lang="en-US" smtClean="0"/>
              <a:t>14</a:t>
            </a:fld>
            <a:endParaRPr lang="en-US"/>
          </a:p>
        </p:txBody>
      </p:sp>
      <p:graphicFrame>
        <p:nvGraphicFramePr>
          <p:cNvPr id="8" name="Content Placeholder 7">
            <a:extLst>
              <a:ext uri="{FF2B5EF4-FFF2-40B4-BE49-F238E27FC236}">
                <a16:creationId xmlns:a16="http://schemas.microsoft.com/office/drawing/2014/main" id="{1751C35C-742F-93CF-332E-8AC99B7E0D71}"/>
              </a:ext>
            </a:extLst>
          </p:cNvPr>
          <p:cNvGraphicFramePr>
            <a:graphicFrameLocks noGrp="1"/>
          </p:cNvGraphicFramePr>
          <p:nvPr>
            <p:ph sz="quarter" idx="4294967295"/>
            <p:extLst>
              <p:ext uri="{D42A27DB-BD31-4B8C-83A1-F6EECF244321}">
                <p14:modId xmlns:p14="http://schemas.microsoft.com/office/powerpoint/2010/main" val="1609426039"/>
              </p:ext>
            </p:extLst>
          </p:nvPr>
        </p:nvGraphicFramePr>
        <p:xfrm>
          <a:off x="1603208" y="2643809"/>
          <a:ext cx="7381764" cy="2535498"/>
        </p:xfrm>
        <a:graphic>
          <a:graphicData uri="http://schemas.openxmlformats.org/drawingml/2006/table">
            <a:tbl>
              <a:tblPr/>
              <a:tblGrid>
                <a:gridCol w="2460588">
                  <a:extLst>
                    <a:ext uri="{9D8B030D-6E8A-4147-A177-3AD203B41FA5}">
                      <a16:colId xmlns:a16="http://schemas.microsoft.com/office/drawing/2014/main" val="2395181801"/>
                    </a:ext>
                  </a:extLst>
                </a:gridCol>
                <a:gridCol w="2460588">
                  <a:extLst>
                    <a:ext uri="{9D8B030D-6E8A-4147-A177-3AD203B41FA5}">
                      <a16:colId xmlns:a16="http://schemas.microsoft.com/office/drawing/2014/main" val="3904317153"/>
                    </a:ext>
                  </a:extLst>
                </a:gridCol>
                <a:gridCol w="2460588">
                  <a:extLst>
                    <a:ext uri="{9D8B030D-6E8A-4147-A177-3AD203B41FA5}">
                      <a16:colId xmlns:a16="http://schemas.microsoft.com/office/drawing/2014/main" val="2124533640"/>
                    </a:ext>
                  </a:extLst>
                </a:gridCol>
              </a:tblGrid>
              <a:tr h="327161">
                <a:tc>
                  <a:txBody>
                    <a:bodyPr/>
                    <a:lstStyle/>
                    <a:p>
                      <a:pPr>
                        <a:buNone/>
                      </a:pPr>
                      <a:r>
                        <a:rPr lang="en-US" sz="1000" dirty="0"/>
                        <a:t>Feature</a:t>
                      </a:r>
                    </a:p>
                  </a:txBody>
                  <a:tcPr marL="52881" marR="52881" marT="26441" marB="26441" anchor="ctr">
                    <a:lnL>
                      <a:noFill/>
                    </a:lnL>
                    <a:lnR>
                      <a:noFill/>
                    </a:lnR>
                    <a:lnT>
                      <a:noFill/>
                    </a:lnT>
                    <a:lnB>
                      <a:noFill/>
                    </a:lnB>
                    <a:noFill/>
                  </a:tcPr>
                </a:tc>
                <a:tc>
                  <a:txBody>
                    <a:bodyPr/>
                    <a:lstStyle/>
                    <a:p>
                      <a:pPr>
                        <a:buNone/>
                      </a:pPr>
                      <a:r>
                        <a:rPr lang="en-US" sz="1000"/>
                        <a:t>Standard RAG</a:t>
                      </a:r>
                    </a:p>
                  </a:txBody>
                  <a:tcPr marL="52881" marR="52881" marT="26441" marB="26441" anchor="ctr">
                    <a:lnL>
                      <a:noFill/>
                    </a:lnL>
                    <a:lnR>
                      <a:noFill/>
                    </a:lnR>
                    <a:lnT>
                      <a:noFill/>
                    </a:lnT>
                    <a:lnB>
                      <a:noFill/>
                    </a:lnB>
                    <a:noFill/>
                  </a:tcPr>
                </a:tc>
                <a:tc>
                  <a:txBody>
                    <a:bodyPr/>
                    <a:lstStyle/>
                    <a:p>
                      <a:pPr>
                        <a:buNone/>
                      </a:pPr>
                      <a:r>
                        <a:rPr lang="en-US" sz="1000" dirty="0"/>
                        <a:t>KG‑Enhanced RAG</a:t>
                      </a:r>
                    </a:p>
                  </a:txBody>
                  <a:tcPr marL="52881" marR="52881" marT="26441" marB="26441" anchor="ctr">
                    <a:lnL>
                      <a:noFill/>
                    </a:lnL>
                    <a:lnR>
                      <a:noFill/>
                    </a:lnR>
                    <a:lnT>
                      <a:noFill/>
                    </a:lnT>
                    <a:lnB>
                      <a:noFill/>
                    </a:lnB>
                    <a:noFill/>
                  </a:tcPr>
                </a:tc>
                <a:extLst>
                  <a:ext uri="{0D108BD9-81ED-4DB2-BD59-A6C34878D82A}">
                    <a16:rowId xmlns:a16="http://schemas.microsoft.com/office/drawing/2014/main" val="1541860056"/>
                  </a:ext>
                </a:extLst>
              </a:tr>
              <a:tr h="327161">
                <a:tc>
                  <a:txBody>
                    <a:bodyPr/>
                    <a:lstStyle/>
                    <a:p>
                      <a:pPr>
                        <a:buNone/>
                      </a:pPr>
                      <a:r>
                        <a:rPr lang="en-US" sz="1000" b="1"/>
                        <a:t>Semantic Search</a:t>
                      </a:r>
                      <a:endParaRPr lang="en-US" sz="1000"/>
                    </a:p>
                  </a:txBody>
                  <a:tcPr marL="52881" marR="52881" marT="26441" marB="26441" anchor="ctr">
                    <a:lnL>
                      <a:noFill/>
                    </a:lnL>
                    <a:lnR>
                      <a:noFill/>
                    </a:lnR>
                    <a:lnT>
                      <a:noFill/>
                    </a:lnT>
                    <a:lnB>
                      <a:noFill/>
                    </a:lnB>
                    <a:noFill/>
                  </a:tcPr>
                </a:tc>
                <a:tc>
                  <a:txBody>
                    <a:bodyPr/>
                    <a:lstStyle/>
                    <a:p>
                      <a:pPr>
                        <a:buNone/>
                      </a:pPr>
                      <a:r>
                        <a:rPr lang="en-US" sz="1000"/>
                        <a:t>Yes</a:t>
                      </a:r>
                    </a:p>
                  </a:txBody>
                  <a:tcPr marL="52881" marR="52881" marT="26441" marB="26441" anchor="ctr">
                    <a:lnL>
                      <a:noFill/>
                    </a:lnL>
                    <a:lnR>
                      <a:noFill/>
                    </a:lnR>
                    <a:lnT>
                      <a:noFill/>
                    </a:lnT>
                    <a:lnB>
                      <a:noFill/>
                    </a:lnB>
                    <a:noFill/>
                  </a:tcPr>
                </a:tc>
                <a:tc>
                  <a:txBody>
                    <a:bodyPr/>
                    <a:lstStyle/>
                    <a:p>
                      <a:pPr>
                        <a:buNone/>
                      </a:pPr>
                      <a:r>
                        <a:rPr lang="en-US" sz="1000"/>
                        <a:t>Yes</a:t>
                      </a:r>
                    </a:p>
                  </a:txBody>
                  <a:tcPr marL="52881" marR="52881" marT="26441" marB="26441" anchor="ctr">
                    <a:lnL>
                      <a:noFill/>
                    </a:lnL>
                    <a:lnR>
                      <a:noFill/>
                    </a:lnR>
                    <a:lnT>
                      <a:noFill/>
                    </a:lnT>
                    <a:lnB>
                      <a:noFill/>
                    </a:lnB>
                    <a:noFill/>
                  </a:tcPr>
                </a:tc>
                <a:extLst>
                  <a:ext uri="{0D108BD9-81ED-4DB2-BD59-A6C34878D82A}">
                    <a16:rowId xmlns:a16="http://schemas.microsoft.com/office/drawing/2014/main" val="1638470388"/>
                  </a:ext>
                </a:extLst>
              </a:tr>
              <a:tr h="327161">
                <a:tc>
                  <a:txBody>
                    <a:bodyPr/>
                    <a:lstStyle/>
                    <a:p>
                      <a:pPr>
                        <a:buNone/>
                      </a:pPr>
                      <a:r>
                        <a:rPr lang="en-US" sz="1000" b="1"/>
                        <a:t>Structured Reasoning</a:t>
                      </a:r>
                      <a:endParaRPr lang="en-US" sz="1000"/>
                    </a:p>
                  </a:txBody>
                  <a:tcPr marL="52881" marR="52881" marT="26441" marB="26441" anchor="ctr">
                    <a:lnL>
                      <a:noFill/>
                    </a:lnL>
                    <a:lnR>
                      <a:noFill/>
                    </a:lnR>
                    <a:lnT>
                      <a:noFill/>
                    </a:lnT>
                    <a:lnB>
                      <a:noFill/>
                    </a:lnB>
                    <a:noFill/>
                  </a:tcPr>
                </a:tc>
                <a:tc>
                  <a:txBody>
                    <a:bodyPr/>
                    <a:lstStyle/>
                    <a:p>
                      <a:pPr>
                        <a:buNone/>
                      </a:pPr>
                      <a:r>
                        <a:rPr lang="en-US" sz="1000"/>
                        <a:t>No</a:t>
                      </a:r>
                    </a:p>
                  </a:txBody>
                  <a:tcPr marL="52881" marR="52881" marT="26441" marB="26441" anchor="ctr">
                    <a:lnL>
                      <a:noFill/>
                    </a:lnL>
                    <a:lnR>
                      <a:noFill/>
                    </a:lnR>
                    <a:lnT>
                      <a:noFill/>
                    </a:lnT>
                    <a:lnB>
                      <a:noFill/>
                    </a:lnB>
                    <a:noFill/>
                  </a:tcPr>
                </a:tc>
                <a:tc>
                  <a:txBody>
                    <a:bodyPr/>
                    <a:lstStyle/>
                    <a:p>
                      <a:pPr>
                        <a:buNone/>
                      </a:pPr>
                      <a:r>
                        <a:rPr lang="en-US" sz="1000"/>
                        <a:t>Yes</a:t>
                      </a:r>
                    </a:p>
                  </a:txBody>
                  <a:tcPr marL="52881" marR="52881" marT="26441" marB="26441" anchor="ctr">
                    <a:lnL>
                      <a:noFill/>
                    </a:lnL>
                    <a:lnR>
                      <a:noFill/>
                    </a:lnR>
                    <a:lnT>
                      <a:noFill/>
                    </a:lnT>
                    <a:lnB>
                      <a:noFill/>
                    </a:lnB>
                    <a:noFill/>
                  </a:tcPr>
                </a:tc>
                <a:extLst>
                  <a:ext uri="{0D108BD9-81ED-4DB2-BD59-A6C34878D82A}">
                    <a16:rowId xmlns:a16="http://schemas.microsoft.com/office/drawing/2014/main" val="2147095744"/>
                  </a:ext>
                </a:extLst>
              </a:tr>
              <a:tr h="327161">
                <a:tc>
                  <a:txBody>
                    <a:bodyPr/>
                    <a:lstStyle/>
                    <a:p>
                      <a:pPr>
                        <a:buNone/>
                      </a:pPr>
                      <a:r>
                        <a:rPr lang="en-US" sz="1000" b="1"/>
                        <a:t>Explainability</a:t>
                      </a:r>
                      <a:endParaRPr lang="en-US" sz="1000"/>
                    </a:p>
                  </a:txBody>
                  <a:tcPr marL="52881" marR="52881" marT="26441" marB="26441" anchor="ctr">
                    <a:lnL>
                      <a:noFill/>
                    </a:lnL>
                    <a:lnR>
                      <a:noFill/>
                    </a:lnR>
                    <a:lnT>
                      <a:noFill/>
                    </a:lnT>
                    <a:lnB>
                      <a:noFill/>
                    </a:lnB>
                    <a:noFill/>
                  </a:tcPr>
                </a:tc>
                <a:tc>
                  <a:txBody>
                    <a:bodyPr/>
                    <a:lstStyle/>
                    <a:p>
                      <a:pPr>
                        <a:buNone/>
                      </a:pPr>
                      <a:r>
                        <a:rPr lang="en-US" sz="1000"/>
                        <a:t>Low</a:t>
                      </a:r>
                    </a:p>
                  </a:txBody>
                  <a:tcPr marL="52881" marR="52881" marT="26441" marB="26441" anchor="ctr">
                    <a:lnL>
                      <a:noFill/>
                    </a:lnL>
                    <a:lnR>
                      <a:noFill/>
                    </a:lnR>
                    <a:lnT>
                      <a:noFill/>
                    </a:lnT>
                    <a:lnB>
                      <a:noFill/>
                    </a:lnB>
                    <a:noFill/>
                  </a:tcPr>
                </a:tc>
                <a:tc>
                  <a:txBody>
                    <a:bodyPr/>
                    <a:lstStyle/>
                    <a:p>
                      <a:pPr>
                        <a:buNone/>
                      </a:pPr>
                      <a:r>
                        <a:rPr lang="en-US" sz="1000"/>
                        <a:t>High</a:t>
                      </a:r>
                    </a:p>
                  </a:txBody>
                  <a:tcPr marL="52881" marR="52881" marT="26441" marB="26441" anchor="ctr">
                    <a:lnL>
                      <a:noFill/>
                    </a:lnL>
                    <a:lnR>
                      <a:noFill/>
                    </a:lnR>
                    <a:lnT>
                      <a:noFill/>
                    </a:lnT>
                    <a:lnB>
                      <a:noFill/>
                    </a:lnB>
                    <a:noFill/>
                  </a:tcPr>
                </a:tc>
                <a:extLst>
                  <a:ext uri="{0D108BD9-81ED-4DB2-BD59-A6C34878D82A}">
                    <a16:rowId xmlns:a16="http://schemas.microsoft.com/office/drawing/2014/main" val="4120886823"/>
                  </a:ext>
                </a:extLst>
              </a:tr>
              <a:tr h="327161">
                <a:tc>
                  <a:txBody>
                    <a:bodyPr/>
                    <a:lstStyle/>
                    <a:p>
                      <a:pPr>
                        <a:buNone/>
                      </a:pPr>
                      <a:r>
                        <a:rPr lang="en-US" sz="1000" b="1"/>
                        <a:t>Multi‑Hop Logic</a:t>
                      </a:r>
                      <a:endParaRPr lang="en-US" sz="1000"/>
                    </a:p>
                  </a:txBody>
                  <a:tcPr marL="52881" marR="52881" marT="26441" marB="26441" anchor="ctr">
                    <a:lnL>
                      <a:noFill/>
                    </a:lnL>
                    <a:lnR>
                      <a:noFill/>
                    </a:lnR>
                    <a:lnT>
                      <a:noFill/>
                    </a:lnT>
                    <a:lnB>
                      <a:noFill/>
                    </a:lnB>
                    <a:noFill/>
                  </a:tcPr>
                </a:tc>
                <a:tc>
                  <a:txBody>
                    <a:bodyPr/>
                    <a:lstStyle/>
                    <a:p>
                      <a:pPr>
                        <a:buNone/>
                      </a:pPr>
                      <a:r>
                        <a:rPr lang="en-US" sz="1000"/>
                        <a:t>Weak</a:t>
                      </a:r>
                    </a:p>
                  </a:txBody>
                  <a:tcPr marL="52881" marR="52881" marT="26441" marB="26441" anchor="ctr">
                    <a:lnL>
                      <a:noFill/>
                    </a:lnL>
                    <a:lnR>
                      <a:noFill/>
                    </a:lnR>
                    <a:lnT>
                      <a:noFill/>
                    </a:lnT>
                    <a:lnB>
                      <a:noFill/>
                    </a:lnB>
                    <a:noFill/>
                  </a:tcPr>
                </a:tc>
                <a:tc>
                  <a:txBody>
                    <a:bodyPr/>
                    <a:lstStyle/>
                    <a:p>
                      <a:pPr>
                        <a:buNone/>
                      </a:pPr>
                      <a:r>
                        <a:rPr lang="en-US" sz="1000"/>
                        <a:t>Strong</a:t>
                      </a:r>
                    </a:p>
                  </a:txBody>
                  <a:tcPr marL="52881" marR="52881" marT="26441" marB="26441" anchor="ctr">
                    <a:lnL>
                      <a:noFill/>
                    </a:lnL>
                    <a:lnR>
                      <a:noFill/>
                    </a:lnR>
                    <a:lnT>
                      <a:noFill/>
                    </a:lnT>
                    <a:lnB>
                      <a:noFill/>
                    </a:lnB>
                    <a:noFill/>
                  </a:tcPr>
                </a:tc>
                <a:extLst>
                  <a:ext uri="{0D108BD9-81ED-4DB2-BD59-A6C34878D82A}">
                    <a16:rowId xmlns:a16="http://schemas.microsoft.com/office/drawing/2014/main" val="112371143"/>
                  </a:ext>
                </a:extLst>
              </a:tr>
              <a:tr h="327161">
                <a:tc>
                  <a:txBody>
                    <a:bodyPr/>
                    <a:lstStyle/>
                    <a:p>
                      <a:pPr>
                        <a:buNone/>
                      </a:pPr>
                      <a:r>
                        <a:rPr lang="en-US" sz="1000" b="1"/>
                        <a:t>Entity Linking</a:t>
                      </a:r>
                      <a:endParaRPr lang="en-US" sz="1000"/>
                    </a:p>
                  </a:txBody>
                  <a:tcPr marL="52881" marR="52881" marT="26441" marB="26441" anchor="ctr">
                    <a:lnL>
                      <a:noFill/>
                    </a:lnL>
                    <a:lnR>
                      <a:noFill/>
                    </a:lnR>
                    <a:lnT>
                      <a:noFill/>
                    </a:lnT>
                    <a:lnB>
                      <a:noFill/>
                    </a:lnB>
                    <a:noFill/>
                  </a:tcPr>
                </a:tc>
                <a:tc>
                  <a:txBody>
                    <a:bodyPr/>
                    <a:lstStyle/>
                    <a:p>
                      <a:pPr>
                        <a:buNone/>
                      </a:pPr>
                      <a:r>
                        <a:rPr lang="en-US" sz="1000"/>
                        <a:t>No</a:t>
                      </a:r>
                    </a:p>
                  </a:txBody>
                  <a:tcPr marL="52881" marR="52881" marT="26441" marB="26441" anchor="ctr">
                    <a:lnL>
                      <a:noFill/>
                    </a:lnL>
                    <a:lnR>
                      <a:noFill/>
                    </a:lnR>
                    <a:lnT>
                      <a:noFill/>
                    </a:lnT>
                    <a:lnB>
                      <a:noFill/>
                    </a:lnB>
                    <a:noFill/>
                  </a:tcPr>
                </a:tc>
                <a:tc>
                  <a:txBody>
                    <a:bodyPr/>
                    <a:lstStyle/>
                    <a:p>
                      <a:pPr>
                        <a:buNone/>
                      </a:pPr>
                      <a:r>
                        <a:rPr lang="en-US" sz="1000"/>
                        <a:t>Yes</a:t>
                      </a:r>
                    </a:p>
                  </a:txBody>
                  <a:tcPr marL="52881" marR="52881" marT="26441" marB="26441" anchor="ctr">
                    <a:lnL>
                      <a:noFill/>
                    </a:lnL>
                    <a:lnR>
                      <a:noFill/>
                    </a:lnR>
                    <a:lnT>
                      <a:noFill/>
                    </a:lnT>
                    <a:lnB>
                      <a:noFill/>
                    </a:lnB>
                    <a:noFill/>
                  </a:tcPr>
                </a:tc>
                <a:extLst>
                  <a:ext uri="{0D108BD9-81ED-4DB2-BD59-A6C34878D82A}">
                    <a16:rowId xmlns:a16="http://schemas.microsoft.com/office/drawing/2014/main" val="2526045077"/>
                  </a:ext>
                </a:extLst>
              </a:tr>
              <a:tr h="572532">
                <a:tc>
                  <a:txBody>
                    <a:bodyPr/>
                    <a:lstStyle/>
                    <a:p>
                      <a:pPr>
                        <a:buNone/>
                      </a:pPr>
                      <a:r>
                        <a:rPr lang="en-US" sz="1000" b="1"/>
                        <a:t>Best For</a:t>
                      </a:r>
                      <a:endParaRPr lang="en-US" sz="1000"/>
                    </a:p>
                  </a:txBody>
                  <a:tcPr marL="52881" marR="52881" marT="26441" marB="26441" anchor="ctr">
                    <a:lnL>
                      <a:noFill/>
                    </a:lnL>
                    <a:lnR>
                      <a:noFill/>
                    </a:lnR>
                    <a:lnT>
                      <a:noFill/>
                    </a:lnT>
                    <a:lnB>
                      <a:noFill/>
                    </a:lnB>
                    <a:noFill/>
                  </a:tcPr>
                </a:tc>
                <a:tc>
                  <a:txBody>
                    <a:bodyPr/>
                    <a:lstStyle/>
                    <a:p>
                      <a:pPr>
                        <a:buNone/>
                      </a:pPr>
                      <a:r>
                        <a:rPr lang="en-US" sz="1000"/>
                        <a:t>General Q&amp;A</a:t>
                      </a:r>
                    </a:p>
                  </a:txBody>
                  <a:tcPr marL="52881" marR="52881" marT="26441" marB="26441" anchor="ctr">
                    <a:lnL>
                      <a:noFill/>
                    </a:lnL>
                    <a:lnR>
                      <a:noFill/>
                    </a:lnR>
                    <a:lnT>
                      <a:noFill/>
                    </a:lnT>
                    <a:lnB>
                      <a:noFill/>
                    </a:lnB>
                    <a:noFill/>
                  </a:tcPr>
                </a:tc>
                <a:tc>
                  <a:txBody>
                    <a:bodyPr/>
                    <a:lstStyle/>
                    <a:p>
                      <a:pPr>
                        <a:buNone/>
                      </a:pPr>
                      <a:r>
                        <a:rPr lang="en-US" sz="1000" dirty="0"/>
                        <a:t>Enterprise, compliance, finance, supply chain</a:t>
                      </a:r>
                    </a:p>
                  </a:txBody>
                  <a:tcPr marL="52881" marR="52881" marT="26441" marB="26441" anchor="ctr">
                    <a:lnL>
                      <a:noFill/>
                    </a:lnL>
                    <a:lnR>
                      <a:noFill/>
                    </a:lnR>
                    <a:lnT>
                      <a:noFill/>
                    </a:lnT>
                    <a:lnB>
                      <a:noFill/>
                    </a:lnB>
                    <a:noFill/>
                  </a:tcPr>
                </a:tc>
                <a:extLst>
                  <a:ext uri="{0D108BD9-81ED-4DB2-BD59-A6C34878D82A}">
                    <a16:rowId xmlns:a16="http://schemas.microsoft.com/office/drawing/2014/main" val="1730255979"/>
                  </a:ext>
                </a:extLst>
              </a:tr>
            </a:tbl>
          </a:graphicData>
        </a:graphic>
      </p:graphicFrame>
    </p:spTree>
    <p:extLst>
      <p:ext uri="{BB962C8B-B14F-4D97-AF65-F5344CB8AC3E}">
        <p14:creationId xmlns:p14="http://schemas.microsoft.com/office/powerpoint/2010/main" val="1009817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FC8D6-ED21-94F5-1830-2FF3F20A21F0}"/>
              </a:ext>
            </a:extLst>
          </p:cNvPr>
          <p:cNvSpPr>
            <a:spLocks noGrp="1"/>
          </p:cNvSpPr>
          <p:nvPr>
            <p:ph type="title"/>
          </p:nvPr>
        </p:nvSpPr>
        <p:spPr>
          <a:xfrm>
            <a:off x="419100" y="4607626"/>
            <a:ext cx="4419600" cy="1640774"/>
          </a:xfrm>
        </p:spPr>
        <p:txBody>
          <a:bodyPr anchor="t">
            <a:normAutofit/>
          </a:bodyPr>
          <a:lstStyle/>
          <a:p>
            <a:r>
              <a:rPr lang="en-US"/>
              <a:t>Agentic and Memory-Driven RAG</a:t>
            </a:r>
          </a:p>
        </p:txBody>
      </p:sp>
      <p:pic>
        <p:nvPicPr>
          <p:cNvPr id="8" name="Content Placeholder 7" descr="Abstract digital cyber space motion background">
            <a:extLst>
              <a:ext uri="{FF2B5EF4-FFF2-40B4-BE49-F238E27FC236}">
                <a16:creationId xmlns:a16="http://schemas.microsoft.com/office/drawing/2014/main" id="{C0F77B0A-8C22-4519-A9C2-EFD328E52C3B}"/>
              </a:ext>
            </a:extLst>
          </p:cNvPr>
          <p:cNvPicPr>
            <a:picLocks noGrp="1" noChangeAspect="1"/>
          </p:cNvPicPr>
          <p:nvPr>
            <p:ph type="pic" sz="quarter" idx="15"/>
          </p:nvPr>
        </p:nvPicPr>
        <p:blipFill>
          <a:blip r:embed="rId3"/>
          <a:srcRect l="27007" r="8434" b="2"/>
          <a:stretch>
            <a:fillRect/>
          </a:stretch>
        </p:blipFill>
        <p:spPr>
          <a:xfrm>
            <a:off x="1914" y="10"/>
            <a:ext cx="4836786" cy="4214181"/>
          </a:xfrm>
        </p:spPr>
      </p:pic>
      <p:sp>
        <p:nvSpPr>
          <p:cNvPr id="3" name="Footer Placeholder 2">
            <a:extLst>
              <a:ext uri="{FF2B5EF4-FFF2-40B4-BE49-F238E27FC236}">
                <a16:creationId xmlns:a16="http://schemas.microsoft.com/office/drawing/2014/main" id="{78C60FF0-7278-1D00-6D28-8D34BED689D4}"/>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98EA8A21-E5FD-40BE-E9A8-C5AFCA57C7E8}"/>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EF589BC5-4570-B31F-8CC8-9B2140404235}"/>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15</a:t>
            </a:fld>
            <a:endParaRPr lang="en-US"/>
          </a:p>
        </p:txBody>
      </p:sp>
      <p:sp>
        <p:nvSpPr>
          <p:cNvPr id="7" name="Content Placeholder 6">
            <a:extLst>
              <a:ext uri="{FF2B5EF4-FFF2-40B4-BE49-F238E27FC236}">
                <a16:creationId xmlns:a16="http://schemas.microsoft.com/office/drawing/2014/main" id="{2487C0F4-7877-2934-15A5-FB6C0C54D50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Agentic RAG Architecture</a:t>
            </a:r>
          </a:p>
          <a:p>
            <a:pPr marL="0" lvl="1" indent="0">
              <a:buFont typeface="Arial" panose="020B0604020202020204" pitchFamily="34" charset="0"/>
              <a:buNone/>
            </a:pPr>
            <a:r>
              <a:rPr lang="en-US"/>
              <a:t>Agentic RAG enables autonomous AI agents to dynamically handle queries and workflows with multi-step reasoning.</a:t>
            </a:r>
          </a:p>
          <a:p>
            <a:pPr marL="0" indent="0">
              <a:spcBef>
                <a:spcPts val="2500"/>
              </a:spcBef>
              <a:buFont typeface="Arial" panose="020B0604020202020204" pitchFamily="34" charset="0"/>
              <a:buNone/>
            </a:pPr>
            <a:r>
              <a:rPr lang="en-US" b="1"/>
              <a:t>Memory-Driven RAG</a:t>
            </a:r>
          </a:p>
          <a:p>
            <a:pPr marL="0" lvl="1" indent="0">
              <a:buFont typeface="Arial" panose="020B0604020202020204" pitchFamily="34" charset="0"/>
              <a:buNone/>
            </a:pPr>
            <a:r>
              <a:rPr lang="en-US"/>
              <a:t>Memory RAG stores past interactions to maintain context and provide personalized, context-aware responses.</a:t>
            </a:r>
          </a:p>
          <a:p>
            <a:pPr marL="0" indent="0">
              <a:spcBef>
                <a:spcPts val="2500"/>
              </a:spcBef>
              <a:buFont typeface="Arial" panose="020B0604020202020204" pitchFamily="34" charset="0"/>
              <a:buNone/>
            </a:pPr>
            <a:r>
              <a:rPr lang="en-US" b="1"/>
              <a:t>Combined Adaptive Systems</a:t>
            </a:r>
          </a:p>
          <a:p>
            <a:pPr marL="0" lvl="1" indent="0">
              <a:buFont typeface="Arial" panose="020B0604020202020204" pitchFamily="34" charset="0"/>
              <a:buNone/>
            </a:pPr>
            <a:r>
              <a:rPr lang="en-US"/>
              <a:t>Integrating agentic and memory-driven RAG creates highly adaptive AI systems for complex and personalized tasks.</a:t>
            </a:r>
          </a:p>
        </p:txBody>
      </p:sp>
    </p:spTree>
    <p:extLst>
      <p:ext uri="{BB962C8B-B14F-4D97-AF65-F5344CB8AC3E}">
        <p14:creationId xmlns:p14="http://schemas.microsoft.com/office/powerpoint/2010/main" val="22366426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0A9AB-ED60-E762-64D3-81D398DA2D0B}"/>
              </a:ext>
            </a:extLst>
          </p:cNvPr>
          <p:cNvSpPr>
            <a:spLocks noGrp="1"/>
          </p:cNvSpPr>
          <p:nvPr>
            <p:ph type="title"/>
          </p:nvPr>
        </p:nvSpPr>
        <p:spPr>
          <a:xfrm>
            <a:off x="409980" y="4311805"/>
            <a:ext cx="8585337" cy="2368300"/>
          </a:xfrm>
        </p:spPr>
        <p:txBody>
          <a:bodyPr anchor="b">
            <a:normAutofit/>
          </a:bodyPr>
          <a:lstStyle/>
          <a:p>
            <a:r>
              <a:rPr lang="en-US"/>
              <a:t>Alternatives to RAG</a:t>
            </a:r>
          </a:p>
        </p:txBody>
      </p:sp>
      <p:sp>
        <p:nvSpPr>
          <p:cNvPr id="4" name="Footer Placeholder 3">
            <a:extLst>
              <a:ext uri="{FF2B5EF4-FFF2-40B4-BE49-F238E27FC236}">
                <a16:creationId xmlns:a16="http://schemas.microsoft.com/office/drawing/2014/main" id="{608F7C13-7034-F8D9-C4C0-1ACCB2DA1B56}"/>
              </a:ext>
            </a:extLst>
          </p:cNvPr>
          <p:cNvSpPr>
            <a:spLocks noGrp="1"/>
          </p:cNvSpPr>
          <p:nvPr>
            <p:ph type="ftr" sz="quarter" idx="11"/>
          </p:nvPr>
        </p:nvSpPr>
        <p:spPr>
          <a:xfrm>
            <a:off x="419100" y="219456"/>
            <a:ext cx="2656178" cy="338328"/>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779D5CEE-7D4E-7F9A-3A8E-E94C144D0C9B}"/>
              </a:ext>
            </a:extLst>
          </p:cNvPr>
          <p:cNvSpPr>
            <a:spLocks noGrp="1"/>
          </p:cNvSpPr>
          <p:nvPr>
            <p:ph type="dt" sz="half" idx="10"/>
          </p:nvPr>
        </p:nvSpPr>
        <p:spPr>
          <a:xfrm>
            <a:off x="8801100" y="219456"/>
            <a:ext cx="1913256" cy="338328"/>
          </a:xfrm>
        </p:spPr>
        <p:txBody>
          <a:bodyPr anchor="ctr">
            <a:normAutofit/>
          </a:bodyPr>
          <a:lstStyle/>
          <a:p>
            <a:pPr>
              <a:spcAft>
                <a:spcPts val="600"/>
              </a:spcAft>
            </a:pPr>
            <a:fld id="{21359139-99F8-4B6E-8834-95F2B9D91EE4}" type="datetime1">
              <a:rPr lang="en-US" smtClean="0"/>
              <a:pPr>
                <a:spcAft>
                  <a:spcPts val="600"/>
                </a:spcAft>
              </a:pPr>
              <a:t>6/9/2026</a:t>
            </a:fld>
            <a:endParaRPr lang="en-US"/>
          </a:p>
        </p:txBody>
      </p:sp>
      <p:sp>
        <p:nvSpPr>
          <p:cNvPr id="6" name="Slide Number Placeholder 5">
            <a:extLst>
              <a:ext uri="{FF2B5EF4-FFF2-40B4-BE49-F238E27FC236}">
                <a16:creationId xmlns:a16="http://schemas.microsoft.com/office/drawing/2014/main" id="{2A8BCBDA-2AFE-9020-5B32-27572E2BD485}"/>
              </a:ext>
            </a:extLst>
          </p:cNvPr>
          <p:cNvSpPr>
            <a:spLocks noGrp="1"/>
          </p:cNvSpPr>
          <p:nvPr>
            <p:ph type="sldNum" sz="quarter" idx="12"/>
          </p:nvPr>
        </p:nvSpPr>
        <p:spPr>
          <a:xfrm>
            <a:off x="11291658" y="219456"/>
            <a:ext cx="555948" cy="338328"/>
          </a:xfrm>
        </p:spPr>
        <p:txBody>
          <a:bodyPr anchor="ctr">
            <a:normAutofit/>
          </a:bodyPr>
          <a:lstStyle/>
          <a:p>
            <a:pPr>
              <a:spcAft>
                <a:spcPts val="600"/>
              </a:spcAft>
            </a:pPr>
            <a:fld id="{8E274F5D-21DC-40EF-8DBA-AB9BB119E939}" type="slidenum">
              <a:rPr lang="en-US" smtClean="0"/>
              <a:pPr>
                <a:spcAft>
                  <a:spcPts val="600"/>
                </a:spcAft>
              </a:pPr>
              <a:t>16</a:t>
            </a:fld>
            <a:endParaRPr lang="en-US"/>
          </a:p>
        </p:txBody>
      </p:sp>
    </p:spTree>
    <p:extLst>
      <p:ext uri="{BB962C8B-B14F-4D97-AF65-F5344CB8AC3E}">
        <p14:creationId xmlns:p14="http://schemas.microsoft.com/office/powerpoint/2010/main" val="8060703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F99A5-B05F-F717-2AD2-3BCD4E61142F}"/>
              </a:ext>
            </a:extLst>
          </p:cNvPr>
          <p:cNvSpPr>
            <a:spLocks noGrp="1"/>
          </p:cNvSpPr>
          <p:nvPr>
            <p:ph type="title"/>
          </p:nvPr>
        </p:nvSpPr>
        <p:spPr>
          <a:xfrm>
            <a:off x="419100" y="4607626"/>
            <a:ext cx="4419600" cy="1640774"/>
          </a:xfrm>
        </p:spPr>
        <p:txBody>
          <a:bodyPr anchor="t">
            <a:normAutofit/>
          </a:bodyPr>
          <a:lstStyle/>
          <a:p>
            <a:r>
              <a:rPr lang="en-US"/>
              <a:t>Fine-Tuning Large Language Models</a:t>
            </a:r>
          </a:p>
        </p:txBody>
      </p:sp>
      <p:pic>
        <p:nvPicPr>
          <p:cNvPr id="8" name="Content Placeholder 7" descr="Social connections">
            <a:extLst>
              <a:ext uri="{FF2B5EF4-FFF2-40B4-BE49-F238E27FC236}">
                <a16:creationId xmlns:a16="http://schemas.microsoft.com/office/drawing/2014/main" id="{796DB5FF-BB12-4BE2-AB5E-BD74CE445583}"/>
              </a:ext>
            </a:extLst>
          </p:cNvPr>
          <p:cNvPicPr>
            <a:picLocks noGrp="1" noChangeAspect="1"/>
          </p:cNvPicPr>
          <p:nvPr>
            <p:ph type="pic" sz="quarter" idx="15"/>
          </p:nvPr>
        </p:nvPicPr>
        <p:blipFill>
          <a:blip r:embed="rId3"/>
          <a:srcRect l="13920" r="-2" b="-2"/>
          <a:stretch>
            <a:fillRect/>
          </a:stretch>
        </p:blipFill>
        <p:spPr>
          <a:xfrm>
            <a:off x="1914" y="10"/>
            <a:ext cx="4836786" cy="4214181"/>
          </a:xfrm>
        </p:spPr>
      </p:pic>
      <p:sp>
        <p:nvSpPr>
          <p:cNvPr id="3" name="Footer Placeholder 2">
            <a:extLst>
              <a:ext uri="{FF2B5EF4-FFF2-40B4-BE49-F238E27FC236}">
                <a16:creationId xmlns:a16="http://schemas.microsoft.com/office/drawing/2014/main" id="{448875DE-2993-C7D7-F38C-091FF9BD1356}"/>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ABEE1A00-F258-6479-1047-5A61D5F45C4E}"/>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6F9508EB-A938-45A8-1261-1B88F82BDC28}"/>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17</a:t>
            </a:fld>
            <a:endParaRPr lang="en-US"/>
          </a:p>
        </p:txBody>
      </p:sp>
      <p:sp>
        <p:nvSpPr>
          <p:cNvPr id="7" name="Content Placeholder 6">
            <a:extLst>
              <a:ext uri="{FF2B5EF4-FFF2-40B4-BE49-F238E27FC236}">
                <a16:creationId xmlns:a16="http://schemas.microsoft.com/office/drawing/2014/main" id="{1C3F71DA-0C6F-53A6-4BCE-43D3EFD6D27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Purpose of Fine-Tuning</a:t>
            </a:r>
          </a:p>
          <a:p>
            <a:pPr marL="0" lvl="1" indent="0">
              <a:buFont typeface="Arial" panose="020B0604020202020204" pitchFamily="34" charset="0"/>
              <a:buNone/>
            </a:pPr>
            <a:r>
              <a:rPr lang="en-US"/>
              <a:t>Fine-tuning adapts pre-trained models to specific tasks using domain-specific data for improved accuracy.</a:t>
            </a:r>
          </a:p>
          <a:p>
            <a:pPr marL="0" indent="0">
              <a:spcBef>
                <a:spcPts val="2500"/>
              </a:spcBef>
              <a:buFont typeface="Arial" panose="020B0604020202020204" pitchFamily="34" charset="0"/>
              <a:buNone/>
            </a:pPr>
            <a:r>
              <a:rPr lang="en-US" b="1"/>
              <a:t>Strengths of Fine-Tuning</a:t>
            </a:r>
          </a:p>
          <a:p>
            <a:pPr marL="0" lvl="1" indent="0">
              <a:buFont typeface="Arial" panose="020B0604020202020204" pitchFamily="34" charset="0"/>
              <a:buNone/>
            </a:pPr>
            <a:r>
              <a:rPr lang="en-US"/>
              <a:t>Effective for structured tasks requiring consistent output style and specialized knowledge in specific domains.</a:t>
            </a:r>
          </a:p>
          <a:p>
            <a:pPr marL="0" indent="0">
              <a:spcBef>
                <a:spcPts val="2500"/>
              </a:spcBef>
              <a:buFont typeface="Arial" panose="020B0604020202020204" pitchFamily="34" charset="0"/>
              <a:buNone/>
            </a:pPr>
            <a:r>
              <a:rPr lang="en-US" b="1"/>
              <a:t>Limitations and Challenges</a:t>
            </a:r>
          </a:p>
          <a:p>
            <a:pPr marL="0" lvl="1" indent="0">
              <a:buFont typeface="Arial" panose="020B0604020202020204" pitchFamily="34" charset="0"/>
              <a:buNone/>
            </a:pPr>
            <a:r>
              <a:rPr lang="en-US"/>
              <a:t>Requires large labeled datasets and computational resources; updating needs costly retraining and lacks real-time data access.</a:t>
            </a:r>
          </a:p>
          <a:p>
            <a:pPr marL="0" indent="0">
              <a:spcBef>
                <a:spcPts val="2500"/>
              </a:spcBef>
              <a:buFont typeface="Arial" panose="020B0604020202020204" pitchFamily="34" charset="0"/>
              <a:buNone/>
            </a:pPr>
            <a:r>
              <a:rPr lang="en-US" b="1"/>
              <a:t>Combining Fine-Tuning and RAG</a:t>
            </a:r>
          </a:p>
          <a:p>
            <a:pPr marL="0" lvl="1" indent="0">
              <a:buFont typeface="Arial" panose="020B0604020202020204" pitchFamily="34" charset="0"/>
              <a:buNone/>
            </a:pPr>
            <a:r>
              <a:rPr lang="en-US"/>
              <a:t>Organizations combine fine-tuning with RAG to balance domain expertise and dynamic factual accuracy.</a:t>
            </a:r>
          </a:p>
        </p:txBody>
      </p:sp>
    </p:spTree>
    <p:extLst>
      <p:ext uri="{BB962C8B-B14F-4D97-AF65-F5344CB8AC3E}">
        <p14:creationId xmlns:p14="http://schemas.microsoft.com/office/powerpoint/2010/main" val="28617237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E8993-9691-96F3-D6F8-1CC53689ED48}"/>
              </a:ext>
            </a:extLst>
          </p:cNvPr>
          <p:cNvSpPr>
            <a:spLocks noGrp="1"/>
          </p:cNvSpPr>
          <p:nvPr>
            <p:ph type="title"/>
          </p:nvPr>
        </p:nvSpPr>
        <p:spPr>
          <a:xfrm>
            <a:off x="419100" y="4607626"/>
            <a:ext cx="4419600" cy="1640774"/>
          </a:xfrm>
        </p:spPr>
        <p:txBody>
          <a:bodyPr anchor="t">
            <a:normAutofit/>
          </a:bodyPr>
          <a:lstStyle/>
          <a:p>
            <a:r>
              <a:rPr lang="en-US"/>
              <a:t>Knowledge Graphs as an Alternative</a:t>
            </a:r>
          </a:p>
        </p:txBody>
      </p:sp>
      <p:pic>
        <p:nvPicPr>
          <p:cNvPr id="8" name="Content Placeholder 7">
            <a:extLst>
              <a:ext uri="{FF2B5EF4-FFF2-40B4-BE49-F238E27FC236}">
                <a16:creationId xmlns:a16="http://schemas.microsoft.com/office/drawing/2014/main" id="{A1C7F755-2C1B-4885-B059-CA6557303EBB}"/>
              </a:ext>
            </a:extLst>
          </p:cNvPr>
          <p:cNvPicPr>
            <a:picLocks noGrp="1" noChangeAspect="1"/>
          </p:cNvPicPr>
          <p:nvPr>
            <p:ph type="pic" sz="quarter" idx="15"/>
          </p:nvPr>
        </p:nvPicPr>
        <p:blipFill>
          <a:blip r:embed="rId3"/>
          <a:srcRect t="10638"/>
          <a:stretch>
            <a:fillRect/>
          </a:stretch>
        </p:blipFill>
        <p:spPr>
          <a:xfrm>
            <a:off x="1914" y="10"/>
            <a:ext cx="4836786" cy="4214181"/>
          </a:xfrm>
        </p:spPr>
      </p:pic>
      <p:sp>
        <p:nvSpPr>
          <p:cNvPr id="3" name="Footer Placeholder 2">
            <a:extLst>
              <a:ext uri="{FF2B5EF4-FFF2-40B4-BE49-F238E27FC236}">
                <a16:creationId xmlns:a16="http://schemas.microsoft.com/office/drawing/2014/main" id="{075FA110-654B-5B77-5097-B6E36ED7C367}"/>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08C96787-E59E-1745-F332-3D0A3E89E26D}"/>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0676681F-97BC-3C6A-CC67-D15CAF257D12}"/>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18</a:t>
            </a:fld>
            <a:endParaRPr lang="en-US"/>
          </a:p>
        </p:txBody>
      </p:sp>
      <p:sp>
        <p:nvSpPr>
          <p:cNvPr id="7" name="Content Placeholder 6">
            <a:extLst>
              <a:ext uri="{FF2B5EF4-FFF2-40B4-BE49-F238E27FC236}">
                <a16:creationId xmlns:a16="http://schemas.microsoft.com/office/drawing/2014/main" id="{930D09E8-3BE4-D783-0FC7-54C50E5C22B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Structured Information Representation</a:t>
            </a:r>
          </a:p>
          <a:p>
            <a:pPr marL="0" lvl="1" indent="0">
              <a:buFont typeface="Arial" panose="020B0604020202020204" pitchFamily="34" charset="0"/>
              <a:buNone/>
            </a:pPr>
            <a:r>
              <a:rPr lang="en-US"/>
              <a:t>Knowledge graphs organize data with explicit relationships, enabling precise and explainable reasoning.</a:t>
            </a:r>
          </a:p>
          <a:p>
            <a:pPr marL="0" indent="0">
              <a:spcBef>
                <a:spcPts val="2500"/>
              </a:spcBef>
              <a:buFont typeface="Arial" panose="020B0604020202020204" pitchFamily="34" charset="0"/>
              <a:buNone/>
            </a:pPr>
            <a:r>
              <a:rPr lang="en-US" b="1"/>
              <a:t>Domain Suitability</a:t>
            </a:r>
          </a:p>
          <a:p>
            <a:pPr marL="0" lvl="1" indent="0">
              <a:buFont typeface="Arial" panose="020B0604020202020204" pitchFamily="34" charset="0"/>
              <a:buNone/>
            </a:pPr>
            <a:r>
              <a:rPr lang="en-US"/>
              <a:t>They are ideal for finance, compliance, and telecom domains where explicit dependencies enhance troubleshooting.</a:t>
            </a:r>
          </a:p>
          <a:p>
            <a:pPr marL="0" indent="0">
              <a:spcBef>
                <a:spcPts val="2500"/>
              </a:spcBef>
              <a:buFont typeface="Arial" panose="020B0604020202020204" pitchFamily="34" charset="0"/>
              <a:buNone/>
            </a:pPr>
            <a:r>
              <a:rPr lang="en-US" b="1"/>
              <a:t>Challenges and Limitations</a:t>
            </a:r>
          </a:p>
          <a:p>
            <a:pPr marL="0" lvl="1" indent="0">
              <a:buFont typeface="Arial" panose="020B0604020202020204" pitchFamily="34" charset="0"/>
              <a:buNone/>
            </a:pPr>
            <a:r>
              <a:rPr lang="en-US"/>
              <a:t>Building and maintaining knowledge graphs requires data curation and ontology design, and they lack flexibility with unstructured data.</a:t>
            </a:r>
          </a:p>
          <a:p>
            <a:pPr marL="0" indent="0">
              <a:spcBef>
                <a:spcPts val="2500"/>
              </a:spcBef>
              <a:buFont typeface="Arial" panose="020B0604020202020204" pitchFamily="34" charset="0"/>
              <a:buNone/>
            </a:pPr>
            <a:r>
              <a:rPr lang="en-US" b="1"/>
              <a:t>High Accuracy and Explainability</a:t>
            </a:r>
          </a:p>
          <a:p>
            <a:pPr marL="0" lvl="1" indent="0">
              <a:buFont typeface="Arial" panose="020B0604020202020204" pitchFamily="34" charset="0"/>
              <a:buNone/>
            </a:pPr>
            <a:r>
              <a:rPr lang="en-US"/>
              <a:t>Explicitly defined relationships ensure knowledge graphs offer reliable and interpretable results for structured reasoning.</a:t>
            </a:r>
          </a:p>
        </p:txBody>
      </p:sp>
    </p:spTree>
    <p:extLst>
      <p:ext uri="{BB962C8B-B14F-4D97-AF65-F5344CB8AC3E}">
        <p14:creationId xmlns:p14="http://schemas.microsoft.com/office/powerpoint/2010/main" val="37184098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ED2E6-19DC-79E6-55E2-C277D515C386}"/>
              </a:ext>
            </a:extLst>
          </p:cNvPr>
          <p:cNvSpPr>
            <a:spLocks noGrp="1"/>
          </p:cNvSpPr>
          <p:nvPr>
            <p:ph type="title"/>
          </p:nvPr>
        </p:nvSpPr>
        <p:spPr>
          <a:xfrm>
            <a:off x="419100" y="4607626"/>
            <a:ext cx="4419600" cy="1640774"/>
          </a:xfrm>
        </p:spPr>
        <p:txBody>
          <a:bodyPr anchor="t">
            <a:normAutofit/>
          </a:bodyPr>
          <a:lstStyle/>
          <a:p>
            <a:r>
              <a:rPr lang="en-US"/>
              <a:t>Hybrid Approaches Combining RAG and Fine-Tuning</a:t>
            </a:r>
          </a:p>
        </p:txBody>
      </p:sp>
      <p:pic>
        <p:nvPicPr>
          <p:cNvPr id="8" name="Content Placeholder 7"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BBE65A19-C094-41C1-8AEB-656597DB06BE}"/>
              </a:ext>
            </a:extLst>
          </p:cNvPr>
          <p:cNvPicPr>
            <a:picLocks noGrp="1" noChangeAspect="1"/>
          </p:cNvPicPr>
          <p:nvPr>
            <p:ph type="pic" sz="quarter" idx="15"/>
          </p:nvPr>
        </p:nvPicPr>
        <p:blipFill>
          <a:blip r:embed="rId3"/>
          <a:srcRect l="4806" r="18580" b="-3"/>
          <a:stretch>
            <a:fillRect/>
          </a:stretch>
        </p:blipFill>
        <p:spPr>
          <a:xfrm>
            <a:off x="1914" y="10"/>
            <a:ext cx="4836786" cy="4214181"/>
          </a:xfrm>
        </p:spPr>
      </p:pic>
      <p:sp>
        <p:nvSpPr>
          <p:cNvPr id="3" name="Footer Placeholder 2">
            <a:extLst>
              <a:ext uri="{FF2B5EF4-FFF2-40B4-BE49-F238E27FC236}">
                <a16:creationId xmlns:a16="http://schemas.microsoft.com/office/drawing/2014/main" id="{34C35ED6-FF14-6346-A523-0AFD718BC93F}"/>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B75DDB8A-8B26-4DDD-4572-969C37F916D9}"/>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E5AA010C-55FF-F1DA-ACD3-0951573C1FF4}"/>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19</a:t>
            </a:fld>
            <a:endParaRPr lang="en-US"/>
          </a:p>
        </p:txBody>
      </p:sp>
      <p:sp>
        <p:nvSpPr>
          <p:cNvPr id="7" name="Content Placeholder 6">
            <a:extLst>
              <a:ext uri="{FF2B5EF4-FFF2-40B4-BE49-F238E27FC236}">
                <a16:creationId xmlns:a16="http://schemas.microsoft.com/office/drawing/2014/main" id="{3E134A1C-2AE1-6833-EA3C-12B8724DE98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Leveraging Strengths of RAG and Fine-Tuning</a:t>
            </a:r>
          </a:p>
          <a:p>
            <a:pPr marL="0" lvl="1" indent="0">
              <a:buFont typeface="Arial" panose="020B0604020202020204" pitchFamily="34" charset="0"/>
              <a:buNone/>
            </a:pPr>
            <a:r>
              <a:rPr lang="en-US"/>
              <a:t>Hybrid methods combine RAG's real-time knowledge access with fine-tuning’s consistent style and domain behavior for better results.</a:t>
            </a:r>
          </a:p>
          <a:p>
            <a:pPr marL="0" indent="0">
              <a:spcBef>
                <a:spcPts val="2500"/>
              </a:spcBef>
              <a:buFont typeface="Arial" panose="020B0604020202020204" pitchFamily="34" charset="0"/>
              <a:buNone/>
            </a:pPr>
            <a:r>
              <a:rPr lang="en-US" b="1"/>
              <a:t>Practical Application Example</a:t>
            </a:r>
          </a:p>
          <a:p>
            <a:pPr marL="0" lvl="1" indent="0">
              <a:buFont typeface="Arial" panose="020B0604020202020204" pitchFamily="34" charset="0"/>
              <a:buNone/>
            </a:pPr>
            <a:r>
              <a:rPr lang="en-US"/>
              <a:t>Financial advisory systems use RAG for current market data and fine-tuned models for professional, domain-specific responses.</a:t>
            </a:r>
          </a:p>
          <a:p>
            <a:pPr marL="0" indent="0">
              <a:spcBef>
                <a:spcPts val="2500"/>
              </a:spcBef>
              <a:buFont typeface="Arial" panose="020B0604020202020204" pitchFamily="34" charset="0"/>
              <a:buNone/>
            </a:pPr>
            <a:r>
              <a:rPr lang="en-US" b="1"/>
              <a:t>Implementation Challenges</a:t>
            </a:r>
          </a:p>
          <a:p>
            <a:pPr marL="0" lvl="1" indent="0">
              <a:buFont typeface="Arial" panose="020B0604020202020204" pitchFamily="34" charset="0"/>
              <a:buNone/>
            </a:pPr>
            <a:r>
              <a:rPr lang="en-US"/>
              <a:t>Hybrid systems require careful integration to balance retrieval speed, accuracy, and model training costs efficiently.</a:t>
            </a:r>
          </a:p>
        </p:txBody>
      </p:sp>
    </p:spTree>
    <p:extLst>
      <p:ext uri="{BB962C8B-B14F-4D97-AF65-F5344CB8AC3E}">
        <p14:creationId xmlns:p14="http://schemas.microsoft.com/office/powerpoint/2010/main" val="37488156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F0B54-C7E0-F14C-BFFA-A5DA8744A74C}"/>
              </a:ext>
            </a:extLst>
          </p:cNvPr>
          <p:cNvSpPr>
            <a:spLocks noGrp="1"/>
          </p:cNvSpPr>
          <p:nvPr>
            <p:ph type="title"/>
          </p:nvPr>
        </p:nvSpPr>
        <p:spPr>
          <a:xfrm>
            <a:off x="419100" y="4607626"/>
            <a:ext cx="4419600" cy="1640774"/>
          </a:xfrm>
        </p:spPr>
        <p:txBody>
          <a:bodyPr anchor="t">
            <a:normAutofit/>
          </a:bodyPr>
          <a:lstStyle/>
          <a:p>
            <a:r>
              <a:rPr lang="en-US"/>
              <a:t>SQL and Database-Driven AI Systems</a:t>
            </a:r>
          </a:p>
        </p:txBody>
      </p:sp>
      <p:pic>
        <p:nvPicPr>
          <p:cNvPr id="8" name="Content Placeholder 7" descr="abstract programm binary code  and colored array cube Database">
            <a:extLst>
              <a:ext uri="{FF2B5EF4-FFF2-40B4-BE49-F238E27FC236}">
                <a16:creationId xmlns:a16="http://schemas.microsoft.com/office/drawing/2014/main" id="{8B5CDB6E-41E5-4470-9957-E10EDBD79A4D}"/>
              </a:ext>
            </a:extLst>
          </p:cNvPr>
          <p:cNvPicPr>
            <a:picLocks noGrp="1" noChangeAspect="1"/>
          </p:cNvPicPr>
          <p:nvPr>
            <p:ph type="pic" sz="quarter" idx="15"/>
          </p:nvPr>
        </p:nvPicPr>
        <p:blipFill>
          <a:blip r:embed="rId3"/>
          <a:srcRect l="29988" r="-1" b="-1"/>
          <a:stretch>
            <a:fillRect/>
          </a:stretch>
        </p:blipFill>
        <p:spPr>
          <a:xfrm>
            <a:off x="1914" y="10"/>
            <a:ext cx="4836786" cy="4214181"/>
          </a:xfrm>
        </p:spPr>
      </p:pic>
      <p:sp>
        <p:nvSpPr>
          <p:cNvPr id="3" name="Footer Placeholder 2">
            <a:extLst>
              <a:ext uri="{FF2B5EF4-FFF2-40B4-BE49-F238E27FC236}">
                <a16:creationId xmlns:a16="http://schemas.microsoft.com/office/drawing/2014/main" id="{F3165FA1-6117-7833-132A-9A192AE453B8}"/>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CF52FD9E-2B19-E9E6-DD06-850791A48029}"/>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511FDA4F-E65C-E0D4-3FEA-661E46504A95}"/>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20</a:t>
            </a:fld>
            <a:endParaRPr lang="en-US"/>
          </a:p>
        </p:txBody>
      </p:sp>
      <p:sp>
        <p:nvSpPr>
          <p:cNvPr id="7" name="Content Placeholder 6">
            <a:extLst>
              <a:ext uri="{FF2B5EF4-FFF2-40B4-BE49-F238E27FC236}">
                <a16:creationId xmlns:a16="http://schemas.microsoft.com/office/drawing/2014/main" id="{B4C41F06-D867-281D-9169-07F3478D7EF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SQL Query Generation</a:t>
            </a:r>
          </a:p>
          <a:p>
            <a:pPr marL="0" lvl="1" indent="0">
              <a:buFont typeface="Arial" panose="020B0604020202020204" pitchFamily="34" charset="0"/>
              <a:buNone/>
            </a:pPr>
            <a:r>
              <a:rPr lang="en-US"/>
              <a:t>AI models translate user input into SQL queries to fetch precise data from structured databases.</a:t>
            </a:r>
          </a:p>
          <a:p>
            <a:pPr marL="0" indent="0">
              <a:spcBef>
                <a:spcPts val="2500"/>
              </a:spcBef>
              <a:buFont typeface="Arial" panose="020B0604020202020204" pitchFamily="34" charset="0"/>
              <a:buNone/>
            </a:pPr>
            <a:r>
              <a:rPr lang="en-US" b="1"/>
              <a:t>Eliminating Hallucinations</a:t>
            </a:r>
          </a:p>
          <a:p>
            <a:pPr marL="0" lvl="1" indent="0">
              <a:buFont typeface="Arial" panose="020B0604020202020204" pitchFamily="34" charset="0"/>
              <a:buNone/>
            </a:pPr>
            <a:r>
              <a:rPr lang="en-US"/>
              <a:t>Grounding responses in verified database results eliminates AI hallucinations and ensures accuracy.</a:t>
            </a:r>
          </a:p>
          <a:p>
            <a:pPr marL="0" indent="0">
              <a:spcBef>
                <a:spcPts val="2500"/>
              </a:spcBef>
              <a:buFont typeface="Arial" panose="020B0604020202020204" pitchFamily="34" charset="0"/>
              <a:buNone/>
            </a:pPr>
            <a:r>
              <a:rPr lang="en-US" b="1"/>
              <a:t>Use Case in Business Intelligence</a:t>
            </a:r>
          </a:p>
          <a:p>
            <a:pPr marL="0" lvl="1" indent="0">
              <a:buFont typeface="Arial" panose="020B0604020202020204" pitchFamily="34" charset="0"/>
              <a:buNone/>
            </a:pPr>
            <a:r>
              <a:rPr lang="en-US"/>
              <a:t>SQL-driven AI enables natural language queries on sales data, offering precise business insights.</a:t>
            </a:r>
          </a:p>
          <a:p>
            <a:pPr marL="0" indent="0">
              <a:spcBef>
                <a:spcPts val="2500"/>
              </a:spcBef>
              <a:buFont typeface="Arial" panose="020B0604020202020204" pitchFamily="34" charset="0"/>
              <a:buNone/>
            </a:pPr>
            <a:r>
              <a:rPr lang="en-US" b="1"/>
              <a:t>Limitations of SQL-Based AI</a:t>
            </a:r>
          </a:p>
          <a:p>
            <a:pPr marL="0" lvl="1" indent="0">
              <a:buFont typeface="Arial" panose="020B0604020202020204" pitchFamily="34" charset="0"/>
              <a:buNone/>
            </a:pPr>
            <a:r>
              <a:rPr lang="en-US"/>
              <a:t>This approach is limited to structured data and lacks flexibility compared to retrieval augmented generation.</a:t>
            </a:r>
          </a:p>
        </p:txBody>
      </p:sp>
    </p:spTree>
    <p:extLst>
      <p:ext uri="{BB962C8B-B14F-4D97-AF65-F5344CB8AC3E}">
        <p14:creationId xmlns:p14="http://schemas.microsoft.com/office/powerpoint/2010/main" val="29590398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5C6E5-8FDD-DB53-D70A-9754FD000161}"/>
              </a:ext>
            </a:extLst>
          </p:cNvPr>
          <p:cNvSpPr>
            <a:spLocks noGrp="1"/>
          </p:cNvSpPr>
          <p:nvPr>
            <p:ph type="title"/>
          </p:nvPr>
        </p:nvSpPr>
        <p:spPr>
          <a:xfrm>
            <a:off x="409980" y="4311805"/>
            <a:ext cx="8585337" cy="2368300"/>
          </a:xfrm>
        </p:spPr>
        <p:txBody>
          <a:bodyPr anchor="b">
            <a:normAutofit/>
          </a:bodyPr>
          <a:lstStyle/>
          <a:p>
            <a:r>
              <a:rPr lang="en-US"/>
              <a:t>Local RAG Tools and Stack</a:t>
            </a:r>
          </a:p>
        </p:txBody>
      </p:sp>
      <p:sp>
        <p:nvSpPr>
          <p:cNvPr id="4" name="Footer Placeholder 3">
            <a:extLst>
              <a:ext uri="{FF2B5EF4-FFF2-40B4-BE49-F238E27FC236}">
                <a16:creationId xmlns:a16="http://schemas.microsoft.com/office/drawing/2014/main" id="{0C8E43D8-C68B-1599-718C-4E2BEC172585}"/>
              </a:ext>
            </a:extLst>
          </p:cNvPr>
          <p:cNvSpPr>
            <a:spLocks noGrp="1"/>
          </p:cNvSpPr>
          <p:nvPr>
            <p:ph type="ftr" sz="quarter" idx="11"/>
          </p:nvPr>
        </p:nvSpPr>
        <p:spPr>
          <a:xfrm>
            <a:off x="419100" y="219456"/>
            <a:ext cx="2656178" cy="338328"/>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3324059F-615F-9A28-63CE-5995BBF9DEBA}"/>
              </a:ext>
            </a:extLst>
          </p:cNvPr>
          <p:cNvSpPr>
            <a:spLocks noGrp="1"/>
          </p:cNvSpPr>
          <p:nvPr>
            <p:ph type="dt" sz="half" idx="10"/>
          </p:nvPr>
        </p:nvSpPr>
        <p:spPr>
          <a:xfrm>
            <a:off x="8801100" y="219456"/>
            <a:ext cx="1913256" cy="338328"/>
          </a:xfrm>
        </p:spPr>
        <p:txBody>
          <a:bodyPr anchor="ctr">
            <a:normAutofit/>
          </a:bodyPr>
          <a:lstStyle/>
          <a:p>
            <a:pPr>
              <a:spcAft>
                <a:spcPts val="600"/>
              </a:spcAft>
            </a:pPr>
            <a:fld id="{21359139-99F8-4B6E-8834-95F2B9D91EE4}" type="datetime1">
              <a:rPr lang="en-US" smtClean="0"/>
              <a:pPr>
                <a:spcAft>
                  <a:spcPts val="600"/>
                </a:spcAft>
              </a:pPr>
              <a:t>6/9/2026</a:t>
            </a:fld>
            <a:endParaRPr lang="en-US"/>
          </a:p>
        </p:txBody>
      </p:sp>
      <p:sp>
        <p:nvSpPr>
          <p:cNvPr id="6" name="Slide Number Placeholder 5">
            <a:extLst>
              <a:ext uri="{FF2B5EF4-FFF2-40B4-BE49-F238E27FC236}">
                <a16:creationId xmlns:a16="http://schemas.microsoft.com/office/drawing/2014/main" id="{3747C62C-201A-A1E1-721A-F85058E24244}"/>
              </a:ext>
            </a:extLst>
          </p:cNvPr>
          <p:cNvSpPr>
            <a:spLocks noGrp="1"/>
          </p:cNvSpPr>
          <p:nvPr>
            <p:ph type="sldNum" sz="quarter" idx="12"/>
          </p:nvPr>
        </p:nvSpPr>
        <p:spPr>
          <a:xfrm>
            <a:off x="11291658" y="219456"/>
            <a:ext cx="555948" cy="338328"/>
          </a:xfrm>
        </p:spPr>
        <p:txBody>
          <a:bodyPr anchor="ctr">
            <a:normAutofit/>
          </a:bodyPr>
          <a:lstStyle/>
          <a:p>
            <a:pPr>
              <a:spcAft>
                <a:spcPts val="600"/>
              </a:spcAft>
            </a:pPr>
            <a:fld id="{8E274F5D-21DC-40EF-8DBA-AB9BB119E939}" type="slidenum">
              <a:rPr lang="en-US" smtClean="0"/>
              <a:pPr>
                <a:spcAft>
                  <a:spcPts val="600"/>
                </a:spcAft>
              </a:pPr>
              <a:t>21</a:t>
            </a:fld>
            <a:endParaRPr lang="en-US"/>
          </a:p>
        </p:txBody>
      </p:sp>
    </p:spTree>
    <p:extLst>
      <p:ext uri="{BB962C8B-B14F-4D97-AF65-F5344CB8AC3E}">
        <p14:creationId xmlns:p14="http://schemas.microsoft.com/office/powerpoint/2010/main" val="12547088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604A1-B821-143E-6F2E-18DE2E1B1FCC}"/>
              </a:ext>
            </a:extLst>
          </p:cNvPr>
          <p:cNvSpPr>
            <a:spLocks noGrp="1"/>
          </p:cNvSpPr>
          <p:nvPr>
            <p:ph type="title"/>
          </p:nvPr>
        </p:nvSpPr>
        <p:spPr>
          <a:xfrm>
            <a:off x="419100" y="4607626"/>
            <a:ext cx="4419600" cy="1640774"/>
          </a:xfrm>
        </p:spPr>
        <p:txBody>
          <a:bodyPr anchor="t">
            <a:normAutofit/>
          </a:bodyPr>
          <a:lstStyle/>
          <a:p>
            <a:r>
              <a:rPr lang="en-US"/>
              <a:t>Local Vector Databases</a:t>
            </a:r>
          </a:p>
        </p:txBody>
      </p:sp>
      <p:pic>
        <p:nvPicPr>
          <p:cNvPr id="8" name="Content Placeholder 7" descr="Abstract blockchain network background">
            <a:extLst>
              <a:ext uri="{FF2B5EF4-FFF2-40B4-BE49-F238E27FC236}">
                <a16:creationId xmlns:a16="http://schemas.microsoft.com/office/drawing/2014/main" id="{FBFF6C55-2948-48AB-9FED-EE57C1C4F8F9}"/>
              </a:ext>
            </a:extLst>
          </p:cNvPr>
          <p:cNvPicPr>
            <a:picLocks noGrp="1" noChangeAspect="1"/>
          </p:cNvPicPr>
          <p:nvPr>
            <p:ph type="pic" sz="quarter" idx="15"/>
          </p:nvPr>
        </p:nvPicPr>
        <p:blipFill>
          <a:blip r:embed="rId3"/>
          <a:srcRect l="20050" r="8791" b="2"/>
          <a:stretch>
            <a:fillRect/>
          </a:stretch>
        </p:blipFill>
        <p:spPr>
          <a:xfrm>
            <a:off x="1914" y="10"/>
            <a:ext cx="4836786" cy="4214181"/>
          </a:xfrm>
        </p:spPr>
      </p:pic>
      <p:sp>
        <p:nvSpPr>
          <p:cNvPr id="3" name="Footer Placeholder 2">
            <a:extLst>
              <a:ext uri="{FF2B5EF4-FFF2-40B4-BE49-F238E27FC236}">
                <a16:creationId xmlns:a16="http://schemas.microsoft.com/office/drawing/2014/main" id="{5B2E5E08-026C-3B49-13DC-FC64ABAB2734}"/>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3223572F-9630-7508-A096-E5EE1520A35B}"/>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2390AC8B-D2AE-0168-C325-6F28F06CCAA9}"/>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22</a:t>
            </a:fld>
            <a:endParaRPr lang="en-US"/>
          </a:p>
        </p:txBody>
      </p:sp>
      <p:sp>
        <p:nvSpPr>
          <p:cNvPr id="7" name="Content Placeholder 6">
            <a:extLst>
              <a:ext uri="{FF2B5EF4-FFF2-40B4-BE49-F238E27FC236}">
                <a16:creationId xmlns:a16="http://schemas.microsoft.com/office/drawing/2014/main" id="{6360DBE4-9E18-06F7-195D-3DFB7CCF218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High Performance Options</a:t>
            </a:r>
          </a:p>
          <a:p>
            <a:pPr marL="0" lvl="1" indent="0">
              <a:buFont typeface="Arial" panose="020B0604020202020204" pitchFamily="34" charset="0"/>
              <a:buNone/>
            </a:pPr>
            <a:r>
              <a:rPr lang="en-US"/>
              <a:t>FAISS offers high performance and scalability, while Qdrant provides fast operations and advanced filtering for production use.</a:t>
            </a:r>
          </a:p>
          <a:p>
            <a:pPr marL="0" indent="0">
              <a:spcBef>
                <a:spcPts val="2500"/>
              </a:spcBef>
              <a:buFont typeface="Arial" panose="020B0604020202020204" pitchFamily="34" charset="0"/>
              <a:buNone/>
            </a:pPr>
            <a:r>
              <a:rPr lang="en-US" b="1"/>
              <a:t>Ease of Use and Scalability</a:t>
            </a:r>
          </a:p>
          <a:p>
            <a:pPr marL="0" lvl="1" indent="0">
              <a:buFont typeface="Arial" panose="020B0604020202020204" pitchFamily="34" charset="0"/>
              <a:buNone/>
            </a:pPr>
            <a:r>
              <a:rPr lang="en-US"/>
              <a:t>ChromaDB features a Python-native interface, and Milvus supports distributed deployments to scale large datasets.</a:t>
            </a:r>
          </a:p>
          <a:p>
            <a:pPr marL="0" indent="0">
              <a:spcBef>
                <a:spcPts val="2500"/>
              </a:spcBef>
              <a:buFont typeface="Arial" panose="020B0604020202020204" pitchFamily="34" charset="0"/>
              <a:buNone/>
            </a:pPr>
            <a:r>
              <a:rPr lang="en-US" b="1"/>
              <a:t>Hybrid and Lightweight Solutions</a:t>
            </a:r>
          </a:p>
          <a:p>
            <a:pPr marL="0" lvl="1" indent="0">
              <a:buFont typeface="Arial" panose="020B0604020202020204" pitchFamily="34" charset="0"/>
              <a:buNone/>
            </a:pPr>
            <a:r>
              <a:rPr lang="en-US"/>
              <a:t>Weaviate enables hybrid vector and keyword search, whereas Annoy and HNSWlib are lightweight for smaller projects.</a:t>
            </a:r>
          </a:p>
          <a:p>
            <a:pPr marL="0" indent="0">
              <a:spcBef>
                <a:spcPts val="2500"/>
              </a:spcBef>
              <a:buFont typeface="Arial" panose="020B0604020202020204" pitchFamily="34" charset="0"/>
              <a:buNone/>
            </a:pPr>
            <a:r>
              <a:rPr lang="en-US" b="1"/>
              <a:t>Offline Privacy and Compliance</a:t>
            </a:r>
          </a:p>
          <a:p>
            <a:pPr marL="0" lvl="1" indent="0">
              <a:buFont typeface="Arial" panose="020B0604020202020204" pitchFamily="34" charset="0"/>
              <a:buNone/>
            </a:pPr>
            <a:r>
              <a:rPr lang="en-US"/>
              <a:t>Local vector databases support fully offline RAG systems, ensuring data privacy and regulatory compliance.</a:t>
            </a:r>
          </a:p>
        </p:txBody>
      </p:sp>
    </p:spTree>
    <p:extLst>
      <p:ext uri="{BB962C8B-B14F-4D97-AF65-F5344CB8AC3E}">
        <p14:creationId xmlns:p14="http://schemas.microsoft.com/office/powerpoint/2010/main" val="15781271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3810C-9BEC-010A-158E-407768736904}"/>
              </a:ext>
            </a:extLst>
          </p:cNvPr>
          <p:cNvSpPr>
            <a:spLocks noGrp="1"/>
          </p:cNvSpPr>
          <p:nvPr>
            <p:ph type="title"/>
          </p:nvPr>
        </p:nvSpPr>
        <p:spPr>
          <a:xfrm>
            <a:off x="432393" y="1126458"/>
            <a:ext cx="7605050" cy="1093282"/>
          </a:xfrm>
        </p:spPr>
        <p:txBody>
          <a:bodyPr anchor="t">
            <a:normAutofit/>
          </a:bodyPr>
          <a:lstStyle/>
          <a:p>
            <a:r>
              <a:rPr lang="en-US" b="1" dirty="0"/>
              <a:t>Best Enterprise RAG Frameworks</a:t>
            </a:r>
          </a:p>
        </p:txBody>
      </p:sp>
      <p:sp>
        <p:nvSpPr>
          <p:cNvPr id="3" name="Footer Placeholder 2">
            <a:extLst>
              <a:ext uri="{FF2B5EF4-FFF2-40B4-BE49-F238E27FC236}">
                <a16:creationId xmlns:a16="http://schemas.microsoft.com/office/drawing/2014/main" id="{6F410DA3-2265-9A4C-A693-66BE1E4E6FD3}"/>
              </a:ext>
            </a:extLst>
          </p:cNvPr>
          <p:cNvSpPr>
            <a:spLocks noGrp="1"/>
          </p:cNvSpPr>
          <p:nvPr>
            <p:ph type="ftr" sz="quarter" idx="11"/>
          </p:nvPr>
        </p:nvSpPr>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1370C2E7-28D8-7218-253A-A9BA8FACE85D}"/>
              </a:ext>
            </a:extLst>
          </p:cNvPr>
          <p:cNvSpPr>
            <a:spLocks noGrp="1"/>
          </p:cNvSpPr>
          <p:nvPr>
            <p:ph type="dt" sz="half" idx="10"/>
          </p:nvPr>
        </p:nvSpPr>
        <p:spPr/>
        <p:txBody>
          <a:bodyPr anchor="ctr">
            <a:normAutofit/>
          </a:bodyPr>
          <a:lstStyle/>
          <a:p>
            <a:pPr>
              <a:spcAft>
                <a:spcPts val="600"/>
              </a:spcAft>
            </a:pPr>
            <a:fld id="{F38C42AE-61C6-458B-86C3-22D39A5E8956}"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320F74CB-F0F1-D8EF-0008-84F6ED600178}"/>
              </a:ext>
            </a:extLst>
          </p:cNvPr>
          <p:cNvSpPr>
            <a:spLocks noGrp="1"/>
          </p:cNvSpPr>
          <p:nvPr>
            <p:ph type="sldNum" sz="quarter" idx="12"/>
          </p:nvPr>
        </p:nvSpPr>
        <p:spPr/>
        <p:txBody>
          <a:bodyPr anchor="ctr">
            <a:normAutofit/>
          </a:bodyPr>
          <a:lstStyle/>
          <a:p>
            <a:pPr>
              <a:spcAft>
                <a:spcPts val="600"/>
              </a:spcAft>
            </a:pPr>
            <a:fld id="{8E274F5D-21DC-40EF-8DBA-AB9BB119E939}" type="slidenum">
              <a:rPr lang="en-US" smtClean="0"/>
              <a:pPr>
                <a:spcAft>
                  <a:spcPts val="600"/>
                </a:spcAft>
              </a:pPr>
              <a:t>23</a:t>
            </a:fld>
            <a:endParaRPr lang="en-US"/>
          </a:p>
        </p:txBody>
      </p:sp>
      <p:graphicFrame>
        <p:nvGraphicFramePr>
          <p:cNvPr id="6" name="Table 5">
            <a:extLst>
              <a:ext uri="{FF2B5EF4-FFF2-40B4-BE49-F238E27FC236}">
                <a16:creationId xmlns:a16="http://schemas.microsoft.com/office/drawing/2014/main" id="{5ACC3278-6C55-B634-A27B-AF89C44E7DBC}"/>
              </a:ext>
            </a:extLst>
          </p:cNvPr>
          <p:cNvGraphicFramePr>
            <a:graphicFrameLocks noGrp="1"/>
          </p:cNvGraphicFramePr>
          <p:nvPr/>
        </p:nvGraphicFramePr>
        <p:xfrm>
          <a:off x="428625" y="3371850"/>
          <a:ext cx="9942512" cy="1828800"/>
        </p:xfrm>
        <a:graphic>
          <a:graphicData uri="http://schemas.openxmlformats.org/drawingml/2006/table">
            <a:tbl>
              <a:tblPr/>
              <a:tblGrid>
                <a:gridCol w="4971256">
                  <a:extLst>
                    <a:ext uri="{9D8B030D-6E8A-4147-A177-3AD203B41FA5}">
                      <a16:colId xmlns:a16="http://schemas.microsoft.com/office/drawing/2014/main" val="1181129752"/>
                    </a:ext>
                  </a:extLst>
                </a:gridCol>
                <a:gridCol w="4971256">
                  <a:extLst>
                    <a:ext uri="{9D8B030D-6E8A-4147-A177-3AD203B41FA5}">
                      <a16:colId xmlns:a16="http://schemas.microsoft.com/office/drawing/2014/main" val="1944471477"/>
                    </a:ext>
                  </a:extLst>
                </a:gridCol>
              </a:tblGrid>
              <a:tr h="365760">
                <a:tc>
                  <a:txBody>
                    <a:bodyPr/>
                    <a:lstStyle/>
                    <a:p>
                      <a:pPr>
                        <a:buNone/>
                      </a:pPr>
                      <a:r>
                        <a:rPr lang="en-US" sz="1800"/>
                        <a:t>Tool</a:t>
                      </a:r>
                    </a:p>
                  </a:txBody>
                  <a:tcPr anchor="ctr">
                    <a:lnL>
                      <a:noFill/>
                    </a:lnL>
                    <a:lnR>
                      <a:noFill/>
                    </a:lnR>
                    <a:lnT>
                      <a:noFill/>
                    </a:lnT>
                    <a:lnB>
                      <a:noFill/>
                    </a:lnB>
                    <a:noFill/>
                  </a:tcPr>
                </a:tc>
                <a:tc>
                  <a:txBody>
                    <a:bodyPr/>
                    <a:lstStyle/>
                    <a:p>
                      <a:pPr>
                        <a:buNone/>
                      </a:pPr>
                      <a:r>
                        <a:rPr lang="en-US" sz="1800" dirty="0"/>
                        <a:t>Strength</a:t>
                      </a:r>
                    </a:p>
                  </a:txBody>
                  <a:tcPr anchor="ctr">
                    <a:lnL>
                      <a:noFill/>
                    </a:lnL>
                    <a:lnR>
                      <a:noFill/>
                    </a:lnR>
                    <a:lnT>
                      <a:noFill/>
                    </a:lnT>
                    <a:lnB>
                      <a:noFill/>
                    </a:lnB>
                    <a:noFill/>
                  </a:tcPr>
                </a:tc>
                <a:extLst>
                  <a:ext uri="{0D108BD9-81ED-4DB2-BD59-A6C34878D82A}">
                    <a16:rowId xmlns:a16="http://schemas.microsoft.com/office/drawing/2014/main" val="2219004865"/>
                  </a:ext>
                </a:extLst>
              </a:tr>
              <a:tr h="365760">
                <a:tc>
                  <a:txBody>
                    <a:bodyPr/>
                    <a:lstStyle/>
                    <a:p>
                      <a:pPr>
                        <a:buNone/>
                      </a:pPr>
                      <a:r>
                        <a:rPr lang="en-US" sz="1800"/>
                        <a:t>LlamaIndex</a:t>
                      </a:r>
                    </a:p>
                  </a:txBody>
                  <a:tcPr anchor="ctr">
                    <a:lnL>
                      <a:noFill/>
                    </a:lnL>
                    <a:lnR>
                      <a:noFill/>
                    </a:lnR>
                    <a:lnT>
                      <a:noFill/>
                    </a:lnT>
                    <a:lnB>
                      <a:noFill/>
                    </a:lnB>
                    <a:noFill/>
                  </a:tcPr>
                </a:tc>
                <a:tc>
                  <a:txBody>
                    <a:bodyPr/>
                    <a:lstStyle/>
                    <a:p>
                      <a:pPr>
                        <a:buNone/>
                      </a:pPr>
                      <a:r>
                        <a:rPr lang="en-US" sz="1800"/>
                        <a:t>Best Enterprise RAG</a:t>
                      </a:r>
                    </a:p>
                  </a:txBody>
                  <a:tcPr anchor="ctr">
                    <a:lnL>
                      <a:noFill/>
                    </a:lnL>
                    <a:lnR>
                      <a:noFill/>
                    </a:lnR>
                    <a:lnT>
                      <a:noFill/>
                    </a:lnT>
                    <a:lnB>
                      <a:noFill/>
                    </a:lnB>
                    <a:noFill/>
                  </a:tcPr>
                </a:tc>
                <a:extLst>
                  <a:ext uri="{0D108BD9-81ED-4DB2-BD59-A6C34878D82A}">
                    <a16:rowId xmlns:a16="http://schemas.microsoft.com/office/drawing/2014/main" val="2356346543"/>
                  </a:ext>
                </a:extLst>
              </a:tr>
              <a:tr h="365760">
                <a:tc>
                  <a:txBody>
                    <a:bodyPr/>
                    <a:lstStyle/>
                    <a:p>
                      <a:pPr>
                        <a:buNone/>
                      </a:pPr>
                      <a:r>
                        <a:rPr lang="en-US" sz="1800"/>
                        <a:t>Haystack</a:t>
                      </a:r>
                    </a:p>
                  </a:txBody>
                  <a:tcPr anchor="ctr">
                    <a:lnL>
                      <a:noFill/>
                    </a:lnL>
                    <a:lnR>
                      <a:noFill/>
                    </a:lnR>
                    <a:lnT>
                      <a:noFill/>
                    </a:lnT>
                    <a:lnB>
                      <a:noFill/>
                    </a:lnB>
                    <a:noFill/>
                  </a:tcPr>
                </a:tc>
                <a:tc>
                  <a:txBody>
                    <a:bodyPr/>
                    <a:lstStyle/>
                    <a:p>
                      <a:pPr>
                        <a:buNone/>
                      </a:pPr>
                      <a:r>
                        <a:rPr lang="en-US" sz="1800"/>
                        <a:t>Mature Enterprise Search</a:t>
                      </a:r>
                    </a:p>
                  </a:txBody>
                  <a:tcPr anchor="ctr">
                    <a:lnL>
                      <a:noFill/>
                    </a:lnL>
                    <a:lnR>
                      <a:noFill/>
                    </a:lnR>
                    <a:lnT>
                      <a:noFill/>
                    </a:lnT>
                    <a:lnB>
                      <a:noFill/>
                    </a:lnB>
                    <a:noFill/>
                  </a:tcPr>
                </a:tc>
                <a:extLst>
                  <a:ext uri="{0D108BD9-81ED-4DB2-BD59-A6C34878D82A}">
                    <a16:rowId xmlns:a16="http://schemas.microsoft.com/office/drawing/2014/main" val="3390072793"/>
                  </a:ext>
                </a:extLst>
              </a:tr>
              <a:tr h="365760">
                <a:tc>
                  <a:txBody>
                    <a:bodyPr/>
                    <a:lstStyle/>
                    <a:p>
                      <a:pPr>
                        <a:buNone/>
                      </a:pPr>
                      <a:r>
                        <a:rPr lang="en-US" sz="1800" dirty="0" err="1"/>
                        <a:t>LangChain</a:t>
                      </a:r>
                      <a:endParaRPr lang="en-US" sz="1800" dirty="0"/>
                    </a:p>
                  </a:txBody>
                  <a:tcPr anchor="ctr">
                    <a:lnL>
                      <a:noFill/>
                    </a:lnL>
                    <a:lnR>
                      <a:noFill/>
                    </a:lnR>
                    <a:lnT>
                      <a:noFill/>
                    </a:lnT>
                    <a:lnB>
                      <a:noFill/>
                    </a:lnB>
                    <a:noFill/>
                  </a:tcPr>
                </a:tc>
                <a:tc>
                  <a:txBody>
                    <a:bodyPr/>
                    <a:lstStyle/>
                    <a:p>
                      <a:pPr>
                        <a:buNone/>
                      </a:pPr>
                      <a:r>
                        <a:rPr lang="en-US" sz="1800"/>
                        <a:t>General Purpose</a:t>
                      </a:r>
                    </a:p>
                  </a:txBody>
                  <a:tcPr anchor="ctr">
                    <a:lnL>
                      <a:noFill/>
                    </a:lnL>
                    <a:lnR>
                      <a:noFill/>
                    </a:lnR>
                    <a:lnT>
                      <a:noFill/>
                    </a:lnT>
                    <a:lnB>
                      <a:noFill/>
                    </a:lnB>
                    <a:noFill/>
                  </a:tcPr>
                </a:tc>
                <a:extLst>
                  <a:ext uri="{0D108BD9-81ED-4DB2-BD59-A6C34878D82A}">
                    <a16:rowId xmlns:a16="http://schemas.microsoft.com/office/drawing/2014/main" val="1069032249"/>
                  </a:ext>
                </a:extLst>
              </a:tr>
              <a:tr h="365760">
                <a:tc>
                  <a:txBody>
                    <a:bodyPr/>
                    <a:lstStyle/>
                    <a:p>
                      <a:pPr>
                        <a:buNone/>
                      </a:pPr>
                      <a:r>
                        <a:rPr lang="en-US" sz="1800"/>
                        <a:t>DSPy</a:t>
                      </a:r>
                    </a:p>
                  </a:txBody>
                  <a:tcPr anchor="ctr">
                    <a:lnL>
                      <a:noFill/>
                    </a:lnL>
                    <a:lnR>
                      <a:noFill/>
                    </a:lnR>
                    <a:lnT>
                      <a:noFill/>
                    </a:lnT>
                    <a:lnB>
                      <a:noFill/>
                    </a:lnB>
                    <a:noFill/>
                  </a:tcPr>
                </a:tc>
                <a:tc>
                  <a:txBody>
                    <a:bodyPr/>
                    <a:lstStyle/>
                    <a:p>
                      <a:pPr>
                        <a:buNone/>
                      </a:pPr>
                      <a:r>
                        <a:rPr lang="en-US" sz="1800" dirty="0"/>
                        <a:t>Optimization &amp; Evaluation</a:t>
                      </a:r>
                    </a:p>
                  </a:txBody>
                  <a:tcPr anchor="ctr">
                    <a:lnL>
                      <a:noFill/>
                    </a:lnL>
                    <a:lnR>
                      <a:noFill/>
                    </a:lnR>
                    <a:lnT>
                      <a:noFill/>
                    </a:lnT>
                    <a:lnB>
                      <a:noFill/>
                    </a:lnB>
                    <a:noFill/>
                  </a:tcPr>
                </a:tc>
                <a:extLst>
                  <a:ext uri="{0D108BD9-81ED-4DB2-BD59-A6C34878D82A}">
                    <a16:rowId xmlns:a16="http://schemas.microsoft.com/office/drawing/2014/main" val="427756950"/>
                  </a:ext>
                </a:extLst>
              </a:tr>
            </a:tbl>
          </a:graphicData>
        </a:graphic>
      </p:graphicFrame>
    </p:spTree>
    <p:extLst>
      <p:ext uri="{BB962C8B-B14F-4D97-AF65-F5344CB8AC3E}">
        <p14:creationId xmlns:p14="http://schemas.microsoft.com/office/powerpoint/2010/main" val="41578549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ACF85-1AC2-A2A5-4B3C-2D700D627683}"/>
              </a:ext>
            </a:extLst>
          </p:cNvPr>
          <p:cNvSpPr>
            <a:spLocks noGrp="1"/>
          </p:cNvSpPr>
          <p:nvPr>
            <p:ph type="title"/>
          </p:nvPr>
        </p:nvSpPr>
        <p:spPr>
          <a:xfrm>
            <a:off x="419100" y="4607626"/>
            <a:ext cx="4419600" cy="1640774"/>
          </a:xfrm>
        </p:spPr>
        <p:txBody>
          <a:bodyPr anchor="t">
            <a:normAutofit/>
          </a:bodyPr>
          <a:lstStyle/>
          <a:p>
            <a:r>
              <a:rPr lang="en-US"/>
              <a:t>Local LLM Runtimes and Frameworks</a:t>
            </a:r>
          </a:p>
        </p:txBody>
      </p:sp>
      <p:pic>
        <p:nvPicPr>
          <p:cNvPr id="8" name="Content Placeholder 7" descr="Blockchain, Data, Internet, Security System, Computer Network">
            <a:extLst>
              <a:ext uri="{FF2B5EF4-FFF2-40B4-BE49-F238E27FC236}">
                <a16:creationId xmlns:a16="http://schemas.microsoft.com/office/drawing/2014/main" id="{40FE2F8A-62DF-460A-8327-B3CB143F0C5F}"/>
              </a:ext>
            </a:extLst>
          </p:cNvPr>
          <p:cNvPicPr>
            <a:picLocks noGrp="1" noChangeAspect="1"/>
          </p:cNvPicPr>
          <p:nvPr>
            <p:ph type="pic" sz="quarter" idx="15"/>
          </p:nvPr>
        </p:nvPicPr>
        <p:blipFill>
          <a:blip r:embed="rId3"/>
          <a:srcRect l="29325" r="6115" b="2"/>
          <a:stretch>
            <a:fillRect/>
          </a:stretch>
        </p:blipFill>
        <p:spPr>
          <a:xfrm>
            <a:off x="1914" y="10"/>
            <a:ext cx="4836786" cy="4214181"/>
          </a:xfrm>
        </p:spPr>
      </p:pic>
      <p:sp>
        <p:nvSpPr>
          <p:cNvPr id="3" name="Footer Placeholder 2">
            <a:extLst>
              <a:ext uri="{FF2B5EF4-FFF2-40B4-BE49-F238E27FC236}">
                <a16:creationId xmlns:a16="http://schemas.microsoft.com/office/drawing/2014/main" id="{D3C5837A-8C17-F4E8-2F97-B67FD842A01D}"/>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9DD4F879-CD07-5835-DFEC-98BECFA6E9AF}"/>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CD0E7A6A-0521-7A35-336E-38577ADEF713}"/>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24</a:t>
            </a:fld>
            <a:endParaRPr lang="en-US"/>
          </a:p>
        </p:txBody>
      </p:sp>
      <p:sp>
        <p:nvSpPr>
          <p:cNvPr id="7" name="Content Placeholder 6">
            <a:extLst>
              <a:ext uri="{FF2B5EF4-FFF2-40B4-BE49-F238E27FC236}">
                <a16:creationId xmlns:a16="http://schemas.microsoft.com/office/drawing/2014/main" id="{ACACEBFE-4C7B-433D-84F7-C98D365D8CC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a:normAutofit/>
          </a:bodyPr>
          <a:lstStyle/>
          <a:p>
            <a:pPr marL="0" indent="0">
              <a:spcBef>
                <a:spcPts val="2500"/>
              </a:spcBef>
              <a:buFont typeface="Arial" panose="020B0604020202020204" pitchFamily="34" charset="0"/>
              <a:buNone/>
            </a:pPr>
            <a:r>
              <a:rPr lang="en-US" b="1"/>
              <a:t>Local Model Deployment Tools</a:t>
            </a:r>
          </a:p>
          <a:p>
            <a:pPr marL="0" lvl="1" indent="0">
              <a:buFont typeface="Arial" panose="020B0604020202020204" pitchFamily="34" charset="0"/>
              <a:buNone/>
            </a:pPr>
            <a:r>
              <a:rPr lang="en-US"/>
              <a:t>Ollama and LM Studio provide user-friendly interfaces for deploying language models locally without cloud dependence.</a:t>
            </a:r>
          </a:p>
          <a:p>
            <a:pPr marL="0" indent="0">
              <a:spcBef>
                <a:spcPts val="2500"/>
              </a:spcBef>
              <a:buFont typeface="Arial" panose="020B0604020202020204" pitchFamily="34" charset="0"/>
              <a:buNone/>
            </a:pPr>
            <a:r>
              <a:rPr lang="en-US" b="1"/>
              <a:t>CPU-Friendly and High-Performance Runtimes</a:t>
            </a:r>
          </a:p>
          <a:p>
            <a:pPr marL="0" lvl="1" indent="0">
              <a:buFont typeface="Arial" panose="020B0604020202020204" pitchFamily="34" charset="0"/>
              <a:buNone/>
            </a:pPr>
            <a:r>
              <a:rPr lang="en-US"/>
              <a:t>GPT4All offers CPU-optimized options, while vLLM supports efficient inference for large-scale local deployments.</a:t>
            </a:r>
          </a:p>
          <a:p>
            <a:pPr marL="0" indent="0">
              <a:spcBef>
                <a:spcPts val="2500"/>
              </a:spcBef>
              <a:buFont typeface="Arial" panose="020B0604020202020204" pitchFamily="34" charset="0"/>
              <a:buNone/>
            </a:pPr>
            <a:r>
              <a:rPr lang="en-US" b="1"/>
              <a:t>RAG Development Frameworks</a:t>
            </a:r>
          </a:p>
          <a:p>
            <a:pPr marL="0" lvl="1" indent="0">
              <a:buFont typeface="Arial" panose="020B0604020202020204" pitchFamily="34" charset="0"/>
              <a:buNone/>
            </a:pPr>
            <a:r>
              <a:rPr lang="en-US"/>
              <a:t>Frameworks like LangChain, LangGraph, and LlamaIndex provide modular components for retrieval-augmented generation pipelines.</a:t>
            </a:r>
          </a:p>
          <a:p>
            <a:pPr marL="0" indent="0">
              <a:spcBef>
                <a:spcPts val="2500"/>
              </a:spcBef>
              <a:buFont typeface="Arial" panose="020B0604020202020204" pitchFamily="34" charset="0"/>
              <a:buNone/>
            </a:pPr>
            <a:r>
              <a:rPr lang="en-US" b="1"/>
              <a:t>Production-Ready AI Solutions</a:t>
            </a:r>
          </a:p>
          <a:p>
            <a:pPr marL="0" lvl="1" indent="0">
              <a:buFont typeface="Arial" panose="020B0604020202020204" pitchFamily="34" charset="0"/>
              <a:buNone/>
            </a:pPr>
            <a:r>
              <a:rPr lang="en-US"/>
              <a:t>Haystack and FastRAG deliver advanced, scalable, and secure solutions for fully offline AI system development.</a:t>
            </a:r>
          </a:p>
        </p:txBody>
      </p:sp>
    </p:spTree>
    <p:extLst>
      <p:ext uri="{BB962C8B-B14F-4D97-AF65-F5344CB8AC3E}">
        <p14:creationId xmlns:p14="http://schemas.microsoft.com/office/powerpoint/2010/main" val="9139007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57F96-F15E-67F6-D053-1D14AC5C714A}"/>
              </a:ext>
            </a:extLst>
          </p:cNvPr>
          <p:cNvSpPr>
            <a:spLocks noGrp="1"/>
          </p:cNvSpPr>
          <p:nvPr>
            <p:ph type="ctrTitle"/>
          </p:nvPr>
        </p:nvSpPr>
        <p:spPr>
          <a:xfrm>
            <a:off x="612648" y="1001713"/>
            <a:ext cx="7909560" cy="5477510"/>
          </a:xfrm>
        </p:spPr>
        <p:txBody>
          <a:bodyPr anchor="b">
            <a:normAutofit/>
          </a:bodyPr>
          <a:lstStyle/>
          <a:p>
            <a:r>
              <a:rPr lang="en-US"/>
              <a:t>Enterprise RAG Architecture and Optimization</a:t>
            </a:r>
          </a:p>
        </p:txBody>
      </p:sp>
      <p:sp>
        <p:nvSpPr>
          <p:cNvPr id="4" name="Footer Placeholder 3">
            <a:extLst>
              <a:ext uri="{FF2B5EF4-FFF2-40B4-BE49-F238E27FC236}">
                <a16:creationId xmlns:a16="http://schemas.microsoft.com/office/drawing/2014/main" id="{A378257C-FE94-D15B-1AFC-F4415AD2FC73}"/>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DFAD7232-46C3-43D5-0D58-80F0F175EB48}"/>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49B045A2-93A3-0245-952F-F70516988491}" type="datetime1">
              <a:rPr lang="en-US" smtClean="0"/>
              <a:pPr>
                <a:spcAft>
                  <a:spcPts val="600"/>
                </a:spcAft>
              </a:pPr>
              <a:t>6/9/2026</a:t>
            </a:fld>
            <a:endParaRPr lang="en-US"/>
          </a:p>
        </p:txBody>
      </p:sp>
      <p:sp>
        <p:nvSpPr>
          <p:cNvPr id="6" name="Slide Number Placeholder 5">
            <a:extLst>
              <a:ext uri="{FF2B5EF4-FFF2-40B4-BE49-F238E27FC236}">
                <a16:creationId xmlns:a16="http://schemas.microsoft.com/office/drawing/2014/main" id="{1A19BC07-18C2-4555-2005-704F75EA8C6C}"/>
              </a:ext>
            </a:extLst>
          </p:cNvPr>
          <p:cNvSpPr>
            <a:spLocks noGrp="1"/>
          </p:cNvSpPr>
          <p:nvPr>
            <p:ph type="sldNum" sz="quarter" idx="12"/>
          </p:nvPr>
        </p:nvSpPr>
        <p:spPr>
          <a:xfrm>
            <a:off x="2" y="6492513"/>
            <a:ext cx="429207" cy="365125"/>
          </a:xfrm>
        </p:spPr>
        <p:txBody>
          <a:bodyPr anchor="ctr">
            <a:normAutofit/>
          </a:bodyPr>
          <a:lstStyle/>
          <a:p>
            <a:pPr>
              <a:spcAft>
                <a:spcPts val="600"/>
              </a:spcAft>
            </a:pPr>
            <a:fld id="{AEAA3239-9EA4-4A65-A281-97F994456D9F}" type="slidenum">
              <a:rPr lang="en-US" smtClean="0"/>
              <a:pPr>
                <a:spcAft>
                  <a:spcPts val="600"/>
                </a:spcAft>
              </a:pPr>
              <a:t>25</a:t>
            </a:fld>
            <a:endParaRPr lang="en-US"/>
          </a:p>
        </p:txBody>
      </p:sp>
    </p:spTree>
    <p:extLst>
      <p:ext uri="{BB962C8B-B14F-4D97-AF65-F5344CB8AC3E}">
        <p14:creationId xmlns:p14="http://schemas.microsoft.com/office/powerpoint/2010/main" val="37388538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rain model with neuron, synapse, receptor and verbs. on dark backgrounds.">
            <a:extLst>
              <a:ext uri="{FF2B5EF4-FFF2-40B4-BE49-F238E27FC236}">
                <a16:creationId xmlns:a16="http://schemas.microsoft.com/office/drawing/2014/main" id="{88130B01-AB2F-44FF-AFC3-28864FB58DCC}"/>
              </a:ext>
            </a:extLst>
          </p:cNvPr>
          <p:cNvPicPr>
            <a:picLocks noGrp="1" noChangeAspect="1"/>
          </p:cNvPicPr>
          <p:nvPr>
            <p:ph type="pic" sz="quarter" idx="13"/>
          </p:nvPr>
        </p:nvPicPr>
        <p:blipFill>
          <a:blip r:embed="rId3"/>
          <a:srcRect l="22161" r="12886" b="-1"/>
          <a:stretch>
            <a:fillRect/>
          </a:stretch>
        </p:blipFill>
        <p:spPr>
          <a:xfrm>
            <a:off x="609600" y="2173849"/>
            <a:ext cx="4675632" cy="4049141"/>
          </a:xfrm>
        </p:spPr>
      </p:pic>
      <p:sp>
        <p:nvSpPr>
          <p:cNvPr id="3" name="Footer Placeholder 2">
            <a:extLst>
              <a:ext uri="{FF2B5EF4-FFF2-40B4-BE49-F238E27FC236}">
                <a16:creationId xmlns:a16="http://schemas.microsoft.com/office/drawing/2014/main" id="{74301BEA-991A-5844-A1FE-84A14A89983B}"/>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1A522906-EC35-4843-8C23-0C34853CA649}"/>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B69132D4-F658-9A26-DF3B-6F8C6BDD8759}"/>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26</a:t>
            </a:fld>
            <a:endParaRPr lang="en-US"/>
          </a:p>
        </p:txBody>
      </p:sp>
      <p:sp>
        <p:nvSpPr>
          <p:cNvPr id="2" name="Title 1">
            <a:extLst>
              <a:ext uri="{FF2B5EF4-FFF2-40B4-BE49-F238E27FC236}">
                <a16:creationId xmlns:a16="http://schemas.microsoft.com/office/drawing/2014/main" id="{F143161F-859F-4AEF-9CDE-5370BB746729}"/>
              </a:ext>
            </a:extLst>
          </p:cNvPr>
          <p:cNvSpPr>
            <a:spLocks noGrp="1"/>
          </p:cNvSpPr>
          <p:nvPr>
            <p:ph type="title"/>
          </p:nvPr>
        </p:nvSpPr>
        <p:spPr>
          <a:xfrm>
            <a:off x="612647" y="634999"/>
            <a:ext cx="4672584" cy="1269482"/>
          </a:xfrm>
        </p:spPr>
        <p:txBody>
          <a:bodyPr anchor="t">
            <a:normAutofit/>
          </a:bodyPr>
          <a:lstStyle/>
          <a:p>
            <a:r>
              <a:rPr lang="en-US" sz="3300"/>
              <a:t>RAG Overview and Core Concept</a:t>
            </a:r>
          </a:p>
        </p:txBody>
      </p:sp>
      <p:sp>
        <p:nvSpPr>
          <p:cNvPr id="7" name="Content Placeholder 6">
            <a:extLst>
              <a:ext uri="{FF2B5EF4-FFF2-40B4-BE49-F238E27FC236}">
                <a16:creationId xmlns:a16="http://schemas.microsoft.com/office/drawing/2014/main" id="{9640D28A-3AE7-0E89-6DF4-A86378B9342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634999"/>
            <a:ext cx="5676838" cy="5587996"/>
          </a:xfrm>
        </p:spPr>
        <p:txBody>
          <a:bodyPr>
            <a:normAutofit/>
          </a:bodyPr>
          <a:lstStyle/>
          <a:p>
            <a:pPr marL="0" indent="0">
              <a:spcBef>
                <a:spcPts val="2500"/>
              </a:spcBef>
              <a:buFont typeface="Arial" panose="020B0604020202020204" pitchFamily="34" charset="0"/>
              <a:buNone/>
            </a:pPr>
            <a:r>
              <a:rPr lang="en-US" b="1"/>
              <a:t>RAG Architecture Explained</a:t>
            </a:r>
          </a:p>
          <a:p>
            <a:pPr marL="0" lvl="1" indent="0">
              <a:buFont typeface="Arial" panose="020B0604020202020204" pitchFamily="34" charset="0"/>
              <a:buNone/>
            </a:pPr>
            <a:r>
              <a:rPr lang="en-US"/>
              <a:t>RAG integrates large language models with external retrieval to create accurate and context-aware responses.</a:t>
            </a:r>
          </a:p>
          <a:p>
            <a:pPr marL="0" indent="0">
              <a:spcBef>
                <a:spcPts val="2500"/>
              </a:spcBef>
              <a:buFont typeface="Arial" panose="020B0604020202020204" pitchFamily="34" charset="0"/>
              <a:buNone/>
            </a:pPr>
            <a:r>
              <a:rPr lang="en-US" b="1"/>
              <a:t>Vector Embeddings and Databases</a:t>
            </a:r>
          </a:p>
          <a:p>
            <a:pPr marL="0" lvl="1" indent="0">
              <a:buFont typeface="Arial" panose="020B0604020202020204" pitchFamily="34" charset="0"/>
              <a:buNone/>
            </a:pPr>
            <a:r>
              <a:rPr lang="en-US"/>
              <a:t>Documents are transformed into vector embeddings stored in databases to enable semantic search and retrieval.</a:t>
            </a:r>
          </a:p>
          <a:p>
            <a:pPr marL="0" indent="0">
              <a:spcBef>
                <a:spcPts val="2500"/>
              </a:spcBef>
              <a:buFont typeface="Arial" panose="020B0604020202020204" pitchFamily="34" charset="0"/>
              <a:buNone/>
            </a:pPr>
            <a:r>
              <a:rPr lang="en-US" b="1"/>
              <a:t>Use Cases in Industry</a:t>
            </a:r>
          </a:p>
          <a:p>
            <a:pPr marL="0" lvl="1" indent="0">
              <a:buFont typeface="Arial" panose="020B0604020202020204" pitchFamily="34" charset="0"/>
              <a:buNone/>
            </a:pPr>
            <a:r>
              <a:rPr lang="en-US"/>
              <a:t>RAG supports domains like banking and healthcare by providing accurate, compliant, and context-rich information.</a:t>
            </a:r>
          </a:p>
          <a:p>
            <a:pPr marL="0" indent="0">
              <a:spcBef>
                <a:spcPts val="2500"/>
              </a:spcBef>
              <a:buFont typeface="Arial" panose="020B0604020202020204" pitchFamily="34" charset="0"/>
              <a:buNone/>
            </a:pPr>
            <a:r>
              <a:rPr lang="en-US" b="1"/>
              <a:t>Benefits and Security</a:t>
            </a:r>
          </a:p>
          <a:p>
            <a:pPr marL="0" lvl="1" indent="0">
              <a:buFont typeface="Arial" panose="020B0604020202020204" pitchFamily="34" charset="0"/>
              <a:buNone/>
            </a:pPr>
            <a:r>
              <a:rPr lang="en-US"/>
              <a:t>RAG reduces hallucination, enhances accuracy, and supports secure, on-premise AI deployments respecting privacy.</a:t>
            </a:r>
          </a:p>
        </p:txBody>
      </p:sp>
    </p:spTree>
    <p:extLst>
      <p:ext uri="{BB962C8B-B14F-4D97-AF65-F5344CB8AC3E}">
        <p14:creationId xmlns:p14="http://schemas.microsoft.com/office/powerpoint/2010/main" val="25706909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85782-5585-A38D-E46C-B21761669FF8}"/>
              </a:ext>
            </a:extLst>
          </p:cNvPr>
          <p:cNvSpPr>
            <a:spLocks noGrp="1"/>
          </p:cNvSpPr>
          <p:nvPr>
            <p:ph type="title"/>
          </p:nvPr>
        </p:nvSpPr>
        <p:spPr>
          <a:xfrm>
            <a:off x="612646" y="634991"/>
            <a:ext cx="3203979" cy="2960689"/>
          </a:xfrm>
        </p:spPr>
        <p:txBody>
          <a:bodyPr anchor="t">
            <a:normAutofit/>
          </a:bodyPr>
          <a:lstStyle/>
          <a:p>
            <a:r>
              <a:rPr lang="en-US"/>
              <a:t>Types of RAG Systems in Practice</a:t>
            </a:r>
          </a:p>
        </p:txBody>
      </p:sp>
      <p:sp>
        <p:nvSpPr>
          <p:cNvPr id="3" name="Footer Placeholder 2">
            <a:extLst>
              <a:ext uri="{FF2B5EF4-FFF2-40B4-BE49-F238E27FC236}">
                <a16:creationId xmlns:a16="http://schemas.microsoft.com/office/drawing/2014/main" id="{6CBDAC81-F2B3-E431-3A06-FCA2A6E9451E}"/>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C6098AFE-E506-84DC-B7B1-C006115A63EF}"/>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553ED406-9BBB-8243-8F57-F2904DFCFBBC}"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960D301F-E9E7-0F95-9E2A-1E13A4F509E1}"/>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27</a:t>
            </a:fld>
            <a:endParaRPr lang="en-US"/>
          </a:p>
        </p:txBody>
      </p:sp>
      <p:sp>
        <p:nvSpPr>
          <p:cNvPr id="6" name="Content Placeholder 5">
            <a:extLst>
              <a:ext uri="{FF2B5EF4-FFF2-40B4-BE49-F238E27FC236}">
                <a16:creationId xmlns:a16="http://schemas.microsoft.com/office/drawing/2014/main" id="{C9A5549E-171D-7734-C584-46869380A363}"/>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36430" y="634990"/>
            <a:ext cx="7239873" cy="5221289"/>
          </a:xfrm>
        </p:spPr>
        <p:txBody>
          <a:bodyPr>
            <a:normAutofit/>
          </a:bodyPr>
          <a:lstStyle/>
          <a:p>
            <a:pPr marL="0" indent="0">
              <a:lnSpc>
                <a:spcPct val="110000"/>
              </a:lnSpc>
              <a:spcBef>
                <a:spcPts val="2500"/>
              </a:spcBef>
              <a:buFont typeface="Arial" panose="020B0604020202020204" pitchFamily="34" charset="0"/>
              <a:buNone/>
            </a:pPr>
            <a:r>
              <a:rPr lang="en-US" b="1"/>
              <a:t>Basic RAG</a:t>
            </a:r>
          </a:p>
          <a:p>
            <a:pPr marL="0" lvl="1" indent="0">
              <a:lnSpc>
                <a:spcPct val="110000"/>
              </a:lnSpc>
              <a:buFont typeface="Arial" panose="020B0604020202020204" pitchFamily="34" charset="0"/>
              <a:buNone/>
            </a:pPr>
            <a:r>
              <a:rPr lang="en-US"/>
              <a:t>Basic RAG uses simple vector similarity search, ideal for small datasets with minimal reasoning requirements.</a:t>
            </a:r>
          </a:p>
          <a:p>
            <a:pPr marL="0" indent="0">
              <a:lnSpc>
                <a:spcPct val="110000"/>
              </a:lnSpc>
              <a:spcBef>
                <a:spcPts val="2500"/>
              </a:spcBef>
              <a:buFont typeface="Arial" panose="020B0604020202020204" pitchFamily="34" charset="0"/>
              <a:buNone/>
            </a:pPr>
            <a:r>
              <a:rPr lang="en-US" b="1"/>
              <a:t>Advanced RAG</a:t>
            </a:r>
          </a:p>
          <a:p>
            <a:pPr marL="0" lvl="1" indent="0">
              <a:lnSpc>
                <a:spcPct val="110000"/>
              </a:lnSpc>
              <a:buFont typeface="Arial" panose="020B0604020202020204" pitchFamily="34" charset="0"/>
              <a:buNone/>
            </a:pPr>
            <a:r>
              <a:rPr lang="en-US"/>
              <a:t>Advanced RAG includes re-ranking, query rewriting, and hybrid search combining keyword and vector methods.</a:t>
            </a:r>
          </a:p>
          <a:p>
            <a:pPr marL="0" indent="0">
              <a:lnSpc>
                <a:spcPct val="110000"/>
              </a:lnSpc>
              <a:spcBef>
                <a:spcPts val="2500"/>
              </a:spcBef>
              <a:buFont typeface="Arial" panose="020B0604020202020204" pitchFamily="34" charset="0"/>
              <a:buNone/>
            </a:pPr>
            <a:r>
              <a:rPr lang="en-US" b="1"/>
              <a:t>RAG Fusion</a:t>
            </a:r>
          </a:p>
          <a:p>
            <a:pPr marL="0" lvl="1" indent="0">
              <a:lnSpc>
                <a:spcPct val="110000"/>
              </a:lnSpc>
              <a:buFont typeface="Arial" panose="020B0604020202020204" pitchFamily="34" charset="0"/>
              <a:buNone/>
            </a:pPr>
            <a:r>
              <a:rPr lang="en-US"/>
              <a:t>RAG Fusion generates multiple query variations, merges results to improve recall accuracy.</a:t>
            </a:r>
          </a:p>
          <a:p>
            <a:pPr marL="0" indent="0">
              <a:lnSpc>
                <a:spcPct val="110000"/>
              </a:lnSpc>
              <a:spcBef>
                <a:spcPts val="2500"/>
              </a:spcBef>
              <a:buFont typeface="Arial" panose="020B0604020202020204" pitchFamily="34" charset="0"/>
              <a:buNone/>
            </a:pPr>
            <a:r>
              <a:rPr lang="en-US" b="1"/>
              <a:t>Graph and Agentic RAG</a:t>
            </a:r>
          </a:p>
          <a:p>
            <a:pPr marL="0" lvl="1" indent="0">
              <a:lnSpc>
                <a:spcPct val="110000"/>
              </a:lnSpc>
              <a:buFont typeface="Arial" panose="020B0604020202020204" pitchFamily="34" charset="0"/>
              <a:buNone/>
            </a:pPr>
            <a:r>
              <a:rPr lang="en-US"/>
              <a:t>Graph RAG builds knowledge graphs for entity relationships; Agentic RAG uses autonomous agents for multi-step reasoning.</a:t>
            </a:r>
          </a:p>
          <a:p>
            <a:pPr marL="0" indent="0">
              <a:lnSpc>
                <a:spcPct val="110000"/>
              </a:lnSpc>
              <a:spcBef>
                <a:spcPts val="2500"/>
              </a:spcBef>
              <a:buFont typeface="Arial" panose="020B0604020202020204" pitchFamily="34" charset="0"/>
              <a:buNone/>
            </a:pPr>
            <a:r>
              <a:rPr lang="en-US" b="1"/>
              <a:t>Memory RAG</a:t>
            </a:r>
          </a:p>
          <a:p>
            <a:pPr marL="0" lvl="1" indent="0">
              <a:lnSpc>
                <a:spcPct val="110000"/>
              </a:lnSpc>
              <a:buFont typeface="Arial" panose="020B0604020202020204" pitchFamily="34" charset="0"/>
              <a:buNone/>
            </a:pPr>
            <a:r>
              <a:rPr lang="en-US"/>
              <a:t>Memory RAG stores past interactions for long-term context, enabling personalized, context-aware responses.</a:t>
            </a:r>
          </a:p>
        </p:txBody>
      </p:sp>
    </p:spTree>
    <p:extLst>
      <p:ext uri="{BB962C8B-B14F-4D97-AF65-F5344CB8AC3E}">
        <p14:creationId xmlns:p14="http://schemas.microsoft.com/office/powerpoint/2010/main" val="13171041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anim calcmode="lin" valueType="num">
                                      <p:cBhvr>
                                        <p:cTn id="8" dur="250" fill="hold"/>
                                        <p:tgtEl>
                                          <p:spTgt spid="6"/>
                                        </p:tgtEl>
                                        <p:attrNameLst>
                                          <p:attrName>ppt_x</p:attrName>
                                        </p:attrNameLst>
                                      </p:cBhvr>
                                      <p:tavLst>
                                        <p:tav tm="0">
                                          <p:val>
                                            <p:strVal val="#ppt_x"/>
                                          </p:val>
                                        </p:tav>
                                        <p:tav tm="100000">
                                          <p:val>
                                            <p:strVal val="#ppt_x"/>
                                          </p:val>
                                        </p:tav>
                                      </p:tavLst>
                                    </p:anim>
                                    <p:anim calcmode="lin" valueType="num">
                                      <p:cBhvr>
                                        <p:cTn id="9" dur="2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Server room interior in datacenter">
            <a:extLst>
              <a:ext uri="{FF2B5EF4-FFF2-40B4-BE49-F238E27FC236}">
                <a16:creationId xmlns:a16="http://schemas.microsoft.com/office/drawing/2014/main" id="{777E7121-F950-4462-8CF4-55294B34470A}"/>
              </a:ext>
            </a:extLst>
          </p:cNvPr>
          <p:cNvPicPr>
            <a:picLocks noGrp="1" noChangeAspect="1"/>
          </p:cNvPicPr>
          <p:nvPr>
            <p:ph type="pic" sz="quarter" idx="13"/>
          </p:nvPr>
        </p:nvPicPr>
        <p:blipFill>
          <a:blip r:embed="rId3"/>
          <a:srcRect l="16191" r="18855" b="-1"/>
          <a:stretch>
            <a:fillRect/>
          </a:stretch>
        </p:blipFill>
        <p:spPr>
          <a:xfrm>
            <a:off x="609600" y="2173849"/>
            <a:ext cx="4675632" cy="4049141"/>
          </a:xfrm>
        </p:spPr>
      </p:pic>
      <p:sp>
        <p:nvSpPr>
          <p:cNvPr id="3" name="Footer Placeholder 2">
            <a:extLst>
              <a:ext uri="{FF2B5EF4-FFF2-40B4-BE49-F238E27FC236}">
                <a16:creationId xmlns:a16="http://schemas.microsoft.com/office/drawing/2014/main" id="{4C160E9F-13BE-698D-87C6-C12598E58FD2}"/>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B5074FDD-C9F4-89DC-A3DD-2A2EDA09F55E}"/>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F352969C-D441-B2F8-C0F0-0F9C09932E22}"/>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28</a:t>
            </a:fld>
            <a:endParaRPr lang="en-US"/>
          </a:p>
        </p:txBody>
      </p:sp>
      <p:sp>
        <p:nvSpPr>
          <p:cNvPr id="2" name="Title 1">
            <a:extLst>
              <a:ext uri="{FF2B5EF4-FFF2-40B4-BE49-F238E27FC236}">
                <a16:creationId xmlns:a16="http://schemas.microsoft.com/office/drawing/2014/main" id="{E95CE98E-4413-AB50-6C0E-30EDE61E2459}"/>
              </a:ext>
            </a:extLst>
          </p:cNvPr>
          <p:cNvSpPr>
            <a:spLocks noGrp="1"/>
          </p:cNvSpPr>
          <p:nvPr>
            <p:ph type="title"/>
          </p:nvPr>
        </p:nvSpPr>
        <p:spPr>
          <a:xfrm>
            <a:off x="612647" y="634999"/>
            <a:ext cx="4672584" cy="1269482"/>
          </a:xfrm>
        </p:spPr>
        <p:txBody>
          <a:bodyPr anchor="t">
            <a:normAutofit/>
          </a:bodyPr>
          <a:lstStyle/>
          <a:p>
            <a:r>
              <a:rPr lang="en-US" sz="3300"/>
              <a:t>Best Enterprise Vector Databases</a:t>
            </a:r>
          </a:p>
        </p:txBody>
      </p:sp>
      <p:sp>
        <p:nvSpPr>
          <p:cNvPr id="7" name="Content Placeholder 6">
            <a:extLst>
              <a:ext uri="{FF2B5EF4-FFF2-40B4-BE49-F238E27FC236}">
                <a16:creationId xmlns:a16="http://schemas.microsoft.com/office/drawing/2014/main" id="{34D918E7-D97C-0744-C323-757E567008A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634999"/>
            <a:ext cx="5676838" cy="5587996"/>
          </a:xfrm>
        </p:spPr>
        <p:txBody>
          <a:bodyPr>
            <a:normAutofit/>
          </a:bodyPr>
          <a:lstStyle/>
          <a:p>
            <a:pPr marL="0" indent="0">
              <a:spcBef>
                <a:spcPts val="2500"/>
              </a:spcBef>
              <a:buFont typeface="Arial" panose="020B0604020202020204" pitchFamily="34" charset="0"/>
              <a:buNone/>
            </a:pPr>
            <a:r>
              <a:rPr lang="en-US" b="1"/>
              <a:t>Qdrant Advantages</a:t>
            </a:r>
          </a:p>
          <a:p>
            <a:pPr marL="0" lvl="1" indent="0">
              <a:buFont typeface="Arial" panose="020B0604020202020204" pitchFamily="34" charset="0"/>
              <a:buNone/>
            </a:pPr>
            <a:r>
              <a:rPr lang="en-US"/>
              <a:t>Qdrant offers high performance with efficient Rust architecture and supports filtering plus hybrid search natively.</a:t>
            </a:r>
          </a:p>
          <a:p>
            <a:pPr marL="0" indent="0">
              <a:spcBef>
                <a:spcPts val="2500"/>
              </a:spcBef>
              <a:buFont typeface="Arial" panose="020B0604020202020204" pitchFamily="34" charset="0"/>
              <a:buNone/>
            </a:pPr>
            <a:r>
              <a:rPr lang="en-US" b="1"/>
              <a:t>Milvus for Large Scale</a:t>
            </a:r>
          </a:p>
          <a:p>
            <a:pPr marL="0" lvl="1" indent="0">
              <a:buFont typeface="Arial" panose="020B0604020202020204" pitchFamily="34" charset="0"/>
              <a:buNone/>
            </a:pPr>
            <a:r>
              <a:rPr lang="en-US"/>
              <a:t>Milvus provides distributed architecture and high throughput, ideal for large telecom and banking datasets.</a:t>
            </a:r>
          </a:p>
          <a:p>
            <a:pPr marL="0" indent="0">
              <a:spcBef>
                <a:spcPts val="2500"/>
              </a:spcBef>
              <a:buFont typeface="Arial" panose="020B0604020202020204" pitchFamily="34" charset="0"/>
              <a:buNone/>
            </a:pPr>
            <a:r>
              <a:rPr lang="en-US" b="1"/>
              <a:t>Weaviate Flexibility</a:t>
            </a:r>
          </a:p>
          <a:p>
            <a:pPr marL="0" lvl="1" indent="0">
              <a:buFont typeface="Arial" panose="020B0604020202020204" pitchFamily="34" charset="0"/>
              <a:buNone/>
            </a:pPr>
            <a:r>
              <a:rPr lang="en-US"/>
              <a:t>Weaviate features hybrid search and modular design for easy integration of machine learning components.</a:t>
            </a:r>
          </a:p>
          <a:p>
            <a:pPr marL="0" indent="0">
              <a:spcBef>
                <a:spcPts val="2500"/>
              </a:spcBef>
              <a:buFont typeface="Arial" panose="020B0604020202020204" pitchFamily="34" charset="0"/>
              <a:buNone/>
            </a:pPr>
            <a:r>
              <a:rPr lang="en-US" b="1"/>
              <a:t>ChromaDB and FAISS Use Cases</a:t>
            </a:r>
          </a:p>
          <a:p>
            <a:pPr marL="0" lvl="1" indent="0">
              <a:buFont typeface="Arial" panose="020B0604020202020204" pitchFamily="34" charset="0"/>
              <a:buNone/>
            </a:pPr>
            <a:r>
              <a:rPr lang="en-US"/>
              <a:t>ChromaDB suits prototyping with Python-native design; FAISS excels in fast local search but lacks orchestration.</a:t>
            </a:r>
          </a:p>
        </p:txBody>
      </p:sp>
    </p:spTree>
    <p:extLst>
      <p:ext uri="{BB962C8B-B14F-4D97-AF65-F5344CB8AC3E}">
        <p14:creationId xmlns:p14="http://schemas.microsoft.com/office/powerpoint/2010/main" val="3338672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B0850-8148-E9DD-5261-CF6D4887F654}"/>
              </a:ext>
            </a:extLst>
          </p:cNvPr>
          <p:cNvSpPr>
            <a:spLocks noGrp="1"/>
          </p:cNvSpPr>
          <p:nvPr>
            <p:ph type="title"/>
          </p:nvPr>
        </p:nvSpPr>
        <p:spPr/>
        <p:txBody>
          <a:bodyPr/>
          <a:lstStyle/>
          <a:p>
            <a:r>
              <a:rPr lang="en-US"/>
              <a:t>Open-Source Pipeline Management Tools</a:t>
            </a:r>
          </a:p>
        </p:txBody>
      </p:sp>
      <p:sp>
        <p:nvSpPr>
          <p:cNvPr id="3" name="Footer Placeholder 2">
            <a:extLst>
              <a:ext uri="{FF2B5EF4-FFF2-40B4-BE49-F238E27FC236}">
                <a16:creationId xmlns:a16="http://schemas.microsoft.com/office/drawing/2014/main" id="{6B3C98F7-9447-D145-7268-CCA5C681F61D}"/>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EB37ABD-39F0-F6E6-3EE3-38D20BCE4ECB}"/>
              </a:ext>
            </a:extLst>
          </p:cNvPr>
          <p:cNvSpPr>
            <a:spLocks noGrp="1"/>
          </p:cNvSpPr>
          <p:nvPr>
            <p:ph type="dt" sz="half" idx="10"/>
          </p:nvPr>
        </p:nvSpPr>
        <p:spPr/>
        <p:txBody>
          <a:bodyPr/>
          <a:lstStyle/>
          <a:p>
            <a:fld id="{FAA6F6B0-7BDB-FB4C-9D76-500FE2DDFD1B}" type="datetime1">
              <a:rPr lang="en-US" smtClean="0"/>
              <a:t>6/9/2026</a:t>
            </a:fld>
            <a:endParaRPr lang="en-US"/>
          </a:p>
        </p:txBody>
      </p:sp>
      <p:sp>
        <p:nvSpPr>
          <p:cNvPr id="5" name="Slide Number Placeholder 4">
            <a:extLst>
              <a:ext uri="{FF2B5EF4-FFF2-40B4-BE49-F238E27FC236}">
                <a16:creationId xmlns:a16="http://schemas.microsoft.com/office/drawing/2014/main" id="{7B4D09B2-D8A0-BEF1-8A97-A19041050034}"/>
              </a:ext>
            </a:extLst>
          </p:cNvPr>
          <p:cNvSpPr>
            <a:spLocks noGrp="1"/>
          </p:cNvSpPr>
          <p:nvPr>
            <p:ph type="sldNum" sz="quarter" idx="12"/>
          </p:nvPr>
        </p:nvSpPr>
        <p:spPr/>
        <p:txBody>
          <a:bodyPr/>
          <a:lstStyle/>
          <a:p>
            <a:fld id="{CC057153-B650-4DEB-B370-79DDCFDCE934}" type="slidenum">
              <a:rPr lang="en-US" smtClean="0"/>
              <a:t>29</a:t>
            </a:fld>
            <a:endParaRPr lang="en-US"/>
          </a:p>
        </p:txBody>
      </p:sp>
      <p:pic>
        <p:nvPicPr>
          <p:cNvPr id="8" name="Content Placeholder 7" descr="3d flow chart.">
            <a:extLst>
              <a:ext uri="{FF2B5EF4-FFF2-40B4-BE49-F238E27FC236}">
                <a16:creationId xmlns:a16="http://schemas.microsoft.com/office/drawing/2014/main" id="{DEA1EE39-B0F9-46DF-9938-A75B58BF3C26}"/>
              </a:ext>
            </a:extLst>
          </p:cNvPr>
          <p:cNvPicPr>
            <a:picLocks noGrp="1" noChangeAspect="1"/>
          </p:cNvPicPr>
          <p:nvPr>
            <p:ph sz="quarter" idx="15"/>
          </p:nvPr>
        </p:nvPicPr>
        <p:blipFill>
          <a:blip r:embed="rId3"/>
          <a:stretch>
            <a:fillRect/>
          </a:stretch>
        </p:blipFill>
        <p:spPr>
          <a:xfrm>
            <a:off x="633413" y="2859088"/>
            <a:ext cx="5267325" cy="2633662"/>
          </a:xfrm>
          <a:prstGeom prst="rect">
            <a:avLst/>
          </a:prstGeom>
        </p:spPr>
      </p:pic>
      <p:sp>
        <p:nvSpPr>
          <p:cNvPr id="7" name="Content Placeholder 6">
            <a:extLst>
              <a:ext uri="{FF2B5EF4-FFF2-40B4-BE49-F238E27FC236}">
                <a16:creationId xmlns:a16="http://schemas.microsoft.com/office/drawing/2014/main" id="{A0FB518D-53CD-B8EB-882C-7D0F259B9799}"/>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a:bodyPr>
          <a:lstStyle/>
          <a:p>
            <a:pPr>
              <a:buFont typeface="Arial" panose="020B0604020202020204" pitchFamily="34" charset="0"/>
              <a:buChar char="•"/>
            </a:pPr>
            <a:r>
              <a:rPr lang="en-US"/>
              <a:t>Agentic Pipeline Frameworks</a:t>
            </a:r>
          </a:p>
          <a:p>
            <a:pPr marL="742950" lvl="1" indent="-285750">
              <a:buFont typeface="Arial" panose="020B0604020202020204" pitchFamily="34" charset="0"/>
              <a:buChar char="•"/>
            </a:pPr>
            <a:r>
              <a:rPr lang="en-US"/>
              <a:t>LangGraph enables multi-step reasoning pipelines with decision-making for dynamic AI agent interaction.</a:t>
            </a:r>
          </a:p>
          <a:p>
            <a:pPr>
              <a:buFont typeface="Arial" panose="020B0604020202020204" pitchFamily="34" charset="0"/>
              <a:buChar char="•"/>
            </a:pPr>
            <a:r>
              <a:rPr lang="en-US"/>
              <a:t>Data Ingestion and Indexing</a:t>
            </a:r>
          </a:p>
          <a:p>
            <a:pPr marL="742950" lvl="1" indent="-285750">
              <a:buFont typeface="Arial" panose="020B0604020202020204" pitchFamily="34" charset="0"/>
              <a:buChar char="•"/>
            </a:pPr>
            <a:r>
              <a:rPr lang="en-US"/>
              <a:t>LlamaIndex handles data ingestion, indexing, and query orchestration for robust enterprise RAG systems.</a:t>
            </a:r>
          </a:p>
          <a:p>
            <a:pPr>
              <a:buFont typeface="Arial" panose="020B0604020202020204" pitchFamily="34" charset="0"/>
              <a:buChar char="•"/>
            </a:pPr>
            <a:r>
              <a:rPr lang="en-US"/>
              <a:t>Production-Grade Pipeline Frameworks</a:t>
            </a:r>
          </a:p>
          <a:p>
            <a:pPr marL="742950" lvl="1" indent="-285750">
              <a:buFont typeface="Arial" panose="020B0604020202020204" pitchFamily="34" charset="0"/>
              <a:buChar char="•"/>
            </a:pPr>
            <a:r>
              <a:rPr lang="en-US"/>
              <a:t>Haystack offers modular components for retrieval, ranking, and generation in production pipelines.</a:t>
            </a:r>
          </a:p>
          <a:p>
            <a:pPr>
              <a:buFont typeface="Arial" panose="020B0604020202020204" pitchFamily="34" charset="0"/>
              <a:buChar char="•"/>
            </a:pPr>
            <a:r>
              <a:rPr lang="en-US"/>
              <a:t>Workflow Orchestration Tools</a:t>
            </a:r>
          </a:p>
          <a:p>
            <a:pPr marL="742950" lvl="1" indent="-285750">
              <a:buFont typeface="Arial" panose="020B0604020202020204" pitchFamily="34" charset="0"/>
              <a:buChar char="•"/>
            </a:pPr>
            <a:r>
              <a:rPr lang="en-US"/>
              <a:t>Apache Airflow and Prefect provide scheduling, monitoring, and scalable workflow orchestration for enterprise pipelines.</a:t>
            </a:r>
          </a:p>
        </p:txBody>
      </p:sp>
    </p:spTree>
    <p:extLst>
      <p:ext uri="{BB962C8B-B14F-4D97-AF65-F5344CB8AC3E}">
        <p14:creationId xmlns:p14="http://schemas.microsoft.com/office/powerpoint/2010/main" val="26542958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9FF9820-5532-0A0D-B460-A3B03D519862}"/>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2B316B29-B2D3-34CC-BB65-862076920170}"/>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5A59070-2C5E-2913-23B4-260A5944AFE2}"/>
              </a:ext>
            </a:extLst>
          </p:cNvPr>
          <p:cNvSpPr>
            <a:spLocks noGrp="1"/>
          </p:cNvSpPr>
          <p:nvPr>
            <p:ph type="dt" sz="half" idx="10"/>
          </p:nvPr>
        </p:nvSpPr>
        <p:spPr/>
        <p:txBody>
          <a:bodyPr/>
          <a:lstStyle/>
          <a:p>
            <a:fld id="{F38C42AE-61C6-458B-86C3-22D39A5E8956}" type="datetime1">
              <a:rPr lang="en-US" smtClean="0"/>
              <a:pPr/>
              <a:t>6/9/2026</a:t>
            </a:fld>
            <a:endParaRPr lang="en-US"/>
          </a:p>
        </p:txBody>
      </p:sp>
      <p:sp>
        <p:nvSpPr>
          <p:cNvPr id="5" name="Slide Number Placeholder 4">
            <a:extLst>
              <a:ext uri="{FF2B5EF4-FFF2-40B4-BE49-F238E27FC236}">
                <a16:creationId xmlns:a16="http://schemas.microsoft.com/office/drawing/2014/main" id="{6492357C-AAC1-2697-2B5A-DDCB8B0C640F}"/>
              </a:ext>
            </a:extLst>
          </p:cNvPr>
          <p:cNvSpPr>
            <a:spLocks noGrp="1"/>
          </p:cNvSpPr>
          <p:nvPr>
            <p:ph type="sldNum" sz="quarter" idx="12"/>
          </p:nvPr>
        </p:nvSpPr>
        <p:spPr/>
        <p:txBody>
          <a:bodyPr/>
          <a:lstStyle/>
          <a:p>
            <a:fld id="{8E274F5D-21DC-40EF-8DBA-AB9BB119E939}" type="slidenum">
              <a:rPr lang="en-US" smtClean="0"/>
              <a:pPr/>
              <a:t>30</a:t>
            </a:fld>
            <a:endParaRPr lang="en-US"/>
          </a:p>
        </p:txBody>
      </p:sp>
      <p:graphicFrame>
        <p:nvGraphicFramePr>
          <p:cNvPr id="10" name="Content Placeholder 9">
            <a:extLst>
              <a:ext uri="{FF2B5EF4-FFF2-40B4-BE49-F238E27FC236}">
                <a16:creationId xmlns:a16="http://schemas.microsoft.com/office/drawing/2014/main" id="{F7F00B7F-2765-DC06-7B4E-55A863CD09A6}"/>
              </a:ext>
            </a:extLst>
          </p:cNvPr>
          <p:cNvGraphicFramePr>
            <a:graphicFrameLocks noGrp="1"/>
          </p:cNvGraphicFramePr>
          <p:nvPr>
            <p:ph sz="quarter" idx="13"/>
          </p:nvPr>
        </p:nvGraphicFramePr>
        <p:xfrm>
          <a:off x="419100" y="3249588"/>
          <a:ext cx="9393237" cy="2073324"/>
        </p:xfrm>
        <a:graphic>
          <a:graphicData uri="http://schemas.openxmlformats.org/drawingml/2006/table">
            <a:tbl>
              <a:tblPr/>
              <a:tblGrid>
                <a:gridCol w="3131079">
                  <a:extLst>
                    <a:ext uri="{9D8B030D-6E8A-4147-A177-3AD203B41FA5}">
                      <a16:colId xmlns:a16="http://schemas.microsoft.com/office/drawing/2014/main" val="3410294750"/>
                    </a:ext>
                  </a:extLst>
                </a:gridCol>
                <a:gridCol w="3131079">
                  <a:extLst>
                    <a:ext uri="{9D8B030D-6E8A-4147-A177-3AD203B41FA5}">
                      <a16:colId xmlns:a16="http://schemas.microsoft.com/office/drawing/2014/main" val="1126486859"/>
                    </a:ext>
                  </a:extLst>
                </a:gridCol>
                <a:gridCol w="3131079">
                  <a:extLst>
                    <a:ext uri="{9D8B030D-6E8A-4147-A177-3AD203B41FA5}">
                      <a16:colId xmlns:a16="http://schemas.microsoft.com/office/drawing/2014/main" val="2115631669"/>
                    </a:ext>
                  </a:extLst>
                </a:gridCol>
              </a:tblGrid>
              <a:tr h="345554">
                <a:tc>
                  <a:txBody>
                    <a:bodyPr/>
                    <a:lstStyle/>
                    <a:p>
                      <a:pPr>
                        <a:buNone/>
                      </a:pPr>
                      <a:r>
                        <a:rPr lang="en-US" sz="1700"/>
                        <a:t>Database</a:t>
                      </a:r>
                    </a:p>
                  </a:txBody>
                  <a:tcPr marL="86388" marR="86388" marT="43194" marB="43194" anchor="ctr">
                    <a:lnL>
                      <a:noFill/>
                    </a:lnL>
                    <a:lnR>
                      <a:noFill/>
                    </a:lnR>
                    <a:lnT>
                      <a:noFill/>
                    </a:lnT>
                    <a:lnB>
                      <a:noFill/>
                    </a:lnB>
                    <a:noFill/>
                  </a:tcPr>
                </a:tc>
                <a:tc>
                  <a:txBody>
                    <a:bodyPr/>
                    <a:lstStyle/>
                    <a:p>
                      <a:pPr>
                        <a:buNone/>
                      </a:pPr>
                      <a:r>
                        <a:rPr lang="en-US" sz="1700"/>
                        <a:t>Scale</a:t>
                      </a:r>
                    </a:p>
                  </a:txBody>
                  <a:tcPr marL="86388" marR="86388" marT="43194" marB="43194" anchor="ctr">
                    <a:lnL>
                      <a:noFill/>
                    </a:lnL>
                    <a:lnR>
                      <a:noFill/>
                    </a:lnR>
                    <a:lnT>
                      <a:noFill/>
                    </a:lnT>
                    <a:lnB>
                      <a:noFill/>
                    </a:lnB>
                    <a:noFill/>
                  </a:tcPr>
                </a:tc>
                <a:tc>
                  <a:txBody>
                    <a:bodyPr/>
                    <a:lstStyle/>
                    <a:p>
                      <a:pPr>
                        <a:buNone/>
                      </a:pPr>
                      <a:r>
                        <a:rPr lang="en-US" sz="1700"/>
                        <a:t>Enterprise</a:t>
                      </a:r>
                    </a:p>
                  </a:txBody>
                  <a:tcPr marL="86388" marR="86388" marT="43194" marB="43194" anchor="ctr">
                    <a:lnL>
                      <a:noFill/>
                    </a:lnL>
                    <a:lnR>
                      <a:noFill/>
                    </a:lnR>
                    <a:lnT>
                      <a:noFill/>
                    </a:lnT>
                    <a:lnB>
                      <a:noFill/>
                    </a:lnB>
                    <a:noFill/>
                  </a:tcPr>
                </a:tc>
                <a:extLst>
                  <a:ext uri="{0D108BD9-81ED-4DB2-BD59-A6C34878D82A}">
                    <a16:rowId xmlns:a16="http://schemas.microsoft.com/office/drawing/2014/main" val="1826149892"/>
                  </a:ext>
                </a:extLst>
              </a:tr>
              <a:tr h="345554">
                <a:tc>
                  <a:txBody>
                    <a:bodyPr/>
                    <a:lstStyle/>
                    <a:p>
                      <a:pPr>
                        <a:buNone/>
                      </a:pPr>
                      <a:r>
                        <a:rPr lang="en-US" sz="1700"/>
                        <a:t>Qdrant</a:t>
                      </a:r>
                    </a:p>
                  </a:txBody>
                  <a:tcPr marL="86388" marR="86388" marT="43194" marB="43194" anchor="ctr">
                    <a:lnL>
                      <a:noFill/>
                    </a:lnL>
                    <a:lnR>
                      <a:noFill/>
                    </a:lnR>
                    <a:lnT>
                      <a:noFill/>
                    </a:lnT>
                    <a:lnB>
                      <a:noFill/>
                    </a:lnB>
                    <a:noFill/>
                  </a:tcPr>
                </a:tc>
                <a:tc>
                  <a:txBody>
                    <a:bodyPr/>
                    <a:lstStyle/>
                    <a:p>
                      <a:pPr>
                        <a:buNone/>
                      </a:pPr>
                      <a:r>
                        <a:rPr lang="en-US" sz="1700"/>
                        <a:t>⭐⭐⭐⭐⭐</a:t>
                      </a:r>
                    </a:p>
                  </a:txBody>
                  <a:tcPr marL="86388" marR="86388" marT="43194" marB="43194" anchor="ctr">
                    <a:lnL>
                      <a:noFill/>
                    </a:lnL>
                    <a:lnR>
                      <a:noFill/>
                    </a:lnR>
                    <a:lnT>
                      <a:noFill/>
                    </a:lnT>
                    <a:lnB>
                      <a:noFill/>
                    </a:lnB>
                    <a:noFill/>
                  </a:tcPr>
                </a:tc>
                <a:tc>
                  <a:txBody>
                    <a:bodyPr/>
                    <a:lstStyle/>
                    <a:p>
                      <a:pPr>
                        <a:buNone/>
                      </a:pPr>
                      <a:r>
                        <a:rPr lang="en-US" sz="1700"/>
                        <a:t>⭐⭐⭐⭐⭐</a:t>
                      </a:r>
                    </a:p>
                  </a:txBody>
                  <a:tcPr marL="86388" marR="86388" marT="43194" marB="43194" anchor="ctr">
                    <a:lnL>
                      <a:noFill/>
                    </a:lnL>
                    <a:lnR>
                      <a:noFill/>
                    </a:lnR>
                    <a:lnT>
                      <a:noFill/>
                    </a:lnT>
                    <a:lnB>
                      <a:noFill/>
                    </a:lnB>
                    <a:noFill/>
                  </a:tcPr>
                </a:tc>
                <a:extLst>
                  <a:ext uri="{0D108BD9-81ED-4DB2-BD59-A6C34878D82A}">
                    <a16:rowId xmlns:a16="http://schemas.microsoft.com/office/drawing/2014/main" val="3361153868"/>
                  </a:ext>
                </a:extLst>
              </a:tr>
              <a:tr h="345554">
                <a:tc>
                  <a:txBody>
                    <a:bodyPr/>
                    <a:lstStyle/>
                    <a:p>
                      <a:pPr>
                        <a:buNone/>
                      </a:pPr>
                      <a:r>
                        <a:rPr lang="en-US" sz="1700"/>
                        <a:t>Weaviate</a:t>
                      </a:r>
                    </a:p>
                  </a:txBody>
                  <a:tcPr marL="86388" marR="86388" marT="43194" marB="43194" anchor="ctr">
                    <a:lnL>
                      <a:noFill/>
                    </a:lnL>
                    <a:lnR>
                      <a:noFill/>
                    </a:lnR>
                    <a:lnT>
                      <a:noFill/>
                    </a:lnT>
                    <a:lnB>
                      <a:noFill/>
                    </a:lnB>
                    <a:noFill/>
                  </a:tcPr>
                </a:tc>
                <a:tc>
                  <a:txBody>
                    <a:bodyPr/>
                    <a:lstStyle/>
                    <a:p>
                      <a:pPr>
                        <a:buNone/>
                      </a:pPr>
                      <a:r>
                        <a:rPr lang="en-US" sz="1700"/>
                        <a:t>⭐⭐⭐⭐⭐</a:t>
                      </a:r>
                    </a:p>
                  </a:txBody>
                  <a:tcPr marL="86388" marR="86388" marT="43194" marB="43194" anchor="ctr">
                    <a:lnL>
                      <a:noFill/>
                    </a:lnL>
                    <a:lnR>
                      <a:noFill/>
                    </a:lnR>
                    <a:lnT>
                      <a:noFill/>
                    </a:lnT>
                    <a:lnB>
                      <a:noFill/>
                    </a:lnB>
                    <a:noFill/>
                  </a:tcPr>
                </a:tc>
                <a:tc>
                  <a:txBody>
                    <a:bodyPr/>
                    <a:lstStyle/>
                    <a:p>
                      <a:pPr>
                        <a:buNone/>
                      </a:pPr>
                      <a:r>
                        <a:rPr lang="en-US" sz="1700"/>
                        <a:t>⭐⭐⭐⭐⭐</a:t>
                      </a:r>
                    </a:p>
                  </a:txBody>
                  <a:tcPr marL="86388" marR="86388" marT="43194" marB="43194" anchor="ctr">
                    <a:lnL>
                      <a:noFill/>
                    </a:lnL>
                    <a:lnR>
                      <a:noFill/>
                    </a:lnR>
                    <a:lnT>
                      <a:noFill/>
                    </a:lnT>
                    <a:lnB>
                      <a:noFill/>
                    </a:lnB>
                    <a:noFill/>
                  </a:tcPr>
                </a:tc>
                <a:extLst>
                  <a:ext uri="{0D108BD9-81ED-4DB2-BD59-A6C34878D82A}">
                    <a16:rowId xmlns:a16="http://schemas.microsoft.com/office/drawing/2014/main" val="257246348"/>
                  </a:ext>
                </a:extLst>
              </a:tr>
              <a:tr h="345554">
                <a:tc>
                  <a:txBody>
                    <a:bodyPr/>
                    <a:lstStyle/>
                    <a:p>
                      <a:pPr>
                        <a:buNone/>
                      </a:pPr>
                      <a:r>
                        <a:rPr lang="en-US" sz="1700"/>
                        <a:t>Milvus</a:t>
                      </a:r>
                    </a:p>
                  </a:txBody>
                  <a:tcPr marL="86388" marR="86388" marT="43194" marB="43194" anchor="ctr">
                    <a:lnL>
                      <a:noFill/>
                    </a:lnL>
                    <a:lnR>
                      <a:noFill/>
                    </a:lnR>
                    <a:lnT>
                      <a:noFill/>
                    </a:lnT>
                    <a:lnB>
                      <a:noFill/>
                    </a:lnB>
                    <a:noFill/>
                  </a:tcPr>
                </a:tc>
                <a:tc>
                  <a:txBody>
                    <a:bodyPr/>
                    <a:lstStyle/>
                    <a:p>
                      <a:pPr>
                        <a:buNone/>
                      </a:pPr>
                      <a:r>
                        <a:rPr lang="en-US" sz="1700"/>
                        <a:t>⭐⭐⭐⭐⭐</a:t>
                      </a:r>
                    </a:p>
                  </a:txBody>
                  <a:tcPr marL="86388" marR="86388" marT="43194" marB="43194" anchor="ctr">
                    <a:lnL>
                      <a:noFill/>
                    </a:lnL>
                    <a:lnR>
                      <a:noFill/>
                    </a:lnR>
                    <a:lnT>
                      <a:noFill/>
                    </a:lnT>
                    <a:lnB>
                      <a:noFill/>
                    </a:lnB>
                    <a:noFill/>
                  </a:tcPr>
                </a:tc>
                <a:tc>
                  <a:txBody>
                    <a:bodyPr/>
                    <a:lstStyle/>
                    <a:p>
                      <a:pPr>
                        <a:buNone/>
                      </a:pPr>
                      <a:r>
                        <a:rPr lang="en-US" sz="1700"/>
                        <a:t>⭐⭐⭐⭐⭐</a:t>
                      </a:r>
                    </a:p>
                  </a:txBody>
                  <a:tcPr marL="86388" marR="86388" marT="43194" marB="43194" anchor="ctr">
                    <a:lnL>
                      <a:noFill/>
                    </a:lnL>
                    <a:lnR>
                      <a:noFill/>
                    </a:lnR>
                    <a:lnT>
                      <a:noFill/>
                    </a:lnT>
                    <a:lnB>
                      <a:noFill/>
                    </a:lnB>
                    <a:noFill/>
                  </a:tcPr>
                </a:tc>
                <a:extLst>
                  <a:ext uri="{0D108BD9-81ED-4DB2-BD59-A6C34878D82A}">
                    <a16:rowId xmlns:a16="http://schemas.microsoft.com/office/drawing/2014/main" val="2024722066"/>
                  </a:ext>
                </a:extLst>
              </a:tr>
              <a:tr h="345554">
                <a:tc>
                  <a:txBody>
                    <a:bodyPr/>
                    <a:lstStyle/>
                    <a:p>
                      <a:pPr>
                        <a:buNone/>
                      </a:pPr>
                      <a:r>
                        <a:rPr lang="en-US" sz="1700"/>
                        <a:t>Chroma</a:t>
                      </a:r>
                    </a:p>
                  </a:txBody>
                  <a:tcPr marL="86388" marR="86388" marT="43194" marB="43194" anchor="ctr">
                    <a:lnL>
                      <a:noFill/>
                    </a:lnL>
                    <a:lnR>
                      <a:noFill/>
                    </a:lnR>
                    <a:lnT>
                      <a:noFill/>
                    </a:lnT>
                    <a:lnB>
                      <a:noFill/>
                    </a:lnB>
                    <a:noFill/>
                  </a:tcPr>
                </a:tc>
                <a:tc>
                  <a:txBody>
                    <a:bodyPr/>
                    <a:lstStyle/>
                    <a:p>
                      <a:pPr>
                        <a:buNone/>
                      </a:pPr>
                      <a:r>
                        <a:rPr lang="en-US" sz="1700"/>
                        <a:t>⭐⭐</a:t>
                      </a:r>
                    </a:p>
                  </a:txBody>
                  <a:tcPr marL="86388" marR="86388" marT="43194" marB="43194" anchor="ctr">
                    <a:lnL>
                      <a:noFill/>
                    </a:lnL>
                    <a:lnR>
                      <a:noFill/>
                    </a:lnR>
                    <a:lnT>
                      <a:noFill/>
                    </a:lnT>
                    <a:lnB>
                      <a:noFill/>
                    </a:lnB>
                    <a:noFill/>
                  </a:tcPr>
                </a:tc>
                <a:tc>
                  <a:txBody>
                    <a:bodyPr/>
                    <a:lstStyle/>
                    <a:p>
                      <a:pPr>
                        <a:buNone/>
                      </a:pPr>
                      <a:r>
                        <a:rPr lang="en-US" sz="1700"/>
                        <a:t>⭐⭐</a:t>
                      </a:r>
                    </a:p>
                  </a:txBody>
                  <a:tcPr marL="86388" marR="86388" marT="43194" marB="43194" anchor="ctr">
                    <a:lnL>
                      <a:noFill/>
                    </a:lnL>
                    <a:lnR>
                      <a:noFill/>
                    </a:lnR>
                    <a:lnT>
                      <a:noFill/>
                    </a:lnT>
                    <a:lnB>
                      <a:noFill/>
                    </a:lnB>
                    <a:noFill/>
                  </a:tcPr>
                </a:tc>
                <a:extLst>
                  <a:ext uri="{0D108BD9-81ED-4DB2-BD59-A6C34878D82A}">
                    <a16:rowId xmlns:a16="http://schemas.microsoft.com/office/drawing/2014/main" val="3077193519"/>
                  </a:ext>
                </a:extLst>
              </a:tr>
              <a:tr h="345554">
                <a:tc>
                  <a:txBody>
                    <a:bodyPr/>
                    <a:lstStyle/>
                    <a:p>
                      <a:pPr>
                        <a:buNone/>
                      </a:pPr>
                      <a:r>
                        <a:rPr lang="en-US" sz="1700"/>
                        <a:t>FAISS</a:t>
                      </a:r>
                    </a:p>
                  </a:txBody>
                  <a:tcPr marL="86388" marR="86388" marT="43194" marB="43194" anchor="ctr">
                    <a:lnL>
                      <a:noFill/>
                    </a:lnL>
                    <a:lnR>
                      <a:noFill/>
                    </a:lnR>
                    <a:lnT>
                      <a:noFill/>
                    </a:lnT>
                    <a:lnB>
                      <a:noFill/>
                    </a:lnB>
                    <a:noFill/>
                  </a:tcPr>
                </a:tc>
                <a:tc>
                  <a:txBody>
                    <a:bodyPr/>
                    <a:lstStyle/>
                    <a:p>
                      <a:pPr>
                        <a:buNone/>
                      </a:pPr>
                      <a:r>
                        <a:rPr lang="en-US" sz="1700"/>
                        <a:t>⭐⭐⭐</a:t>
                      </a:r>
                    </a:p>
                  </a:txBody>
                  <a:tcPr marL="86388" marR="86388" marT="43194" marB="43194" anchor="ctr">
                    <a:lnL>
                      <a:noFill/>
                    </a:lnL>
                    <a:lnR>
                      <a:noFill/>
                    </a:lnR>
                    <a:lnT>
                      <a:noFill/>
                    </a:lnT>
                    <a:lnB>
                      <a:noFill/>
                    </a:lnB>
                    <a:noFill/>
                  </a:tcPr>
                </a:tc>
                <a:tc>
                  <a:txBody>
                    <a:bodyPr/>
                    <a:lstStyle/>
                    <a:p>
                      <a:pPr>
                        <a:buNone/>
                      </a:pPr>
                      <a:r>
                        <a:rPr lang="en-US" sz="1700" dirty="0"/>
                        <a:t>⭐⭐⭐</a:t>
                      </a:r>
                    </a:p>
                  </a:txBody>
                  <a:tcPr marL="86388" marR="86388" marT="43194" marB="43194" anchor="ctr">
                    <a:lnL>
                      <a:noFill/>
                    </a:lnL>
                    <a:lnR>
                      <a:noFill/>
                    </a:lnR>
                    <a:lnT>
                      <a:noFill/>
                    </a:lnT>
                    <a:lnB>
                      <a:noFill/>
                    </a:lnB>
                    <a:noFill/>
                  </a:tcPr>
                </a:tc>
                <a:extLst>
                  <a:ext uri="{0D108BD9-81ED-4DB2-BD59-A6C34878D82A}">
                    <a16:rowId xmlns:a16="http://schemas.microsoft.com/office/drawing/2014/main" val="3020560020"/>
                  </a:ext>
                </a:extLst>
              </a:tr>
            </a:tbl>
          </a:graphicData>
        </a:graphic>
      </p:graphicFrame>
    </p:spTree>
    <p:extLst>
      <p:ext uri="{BB962C8B-B14F-4D97-AF65-F5344CB8AC3E}">
        <p14:creationId xmlns:p14="http://schemas.microsoft.com/office/powerpoint/2010/main" val="30012985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7B9F3-2D42-1F5F-1753-2A46CBB66A14}"/>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8D67E0ED-851A-C98B-199C-C2EFCC6375B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FBA0CAF9-F1D0-6F64-9BA3-7BF1F222ECA5}"/>
              </a:ext>
            </a:extLst>
          </p:cNvPr>
          <p:cNvSpPr>
            <a:spLocks noGrp="1"/>
          </p:cNvSpPr>
          <p:nvPr>
            <p:ph type="dt" sz="half" idx="10"/>
          </p:nvPr>
        </p:nvSpPr>
        <p:spPr/>
        <p:txBody>
          <a:bodyPr/>
          <a:lstStyle/>
          <a:p>
            <a:fld id="{93332489-DC9C-40A3-89C4-AFC56B3B0CAB}" type="datetime1">
              <a:rPr lang="en-US" smtClean="0"/>
              <a:pPr/>
              <a:t>6/9/2026</a:t>
            </a:fld>
            <a:endParaRPr lang="en-US"/>
          </a:p>
        </p:txBody>
      </p:sp>
      <p:sp>
        <p:nvSpPr>
          <p:cNvPr id="5" name="Slide Number Placeholder 4">
            <a:extLst>
              <a:ext uri="{FF2B5EF4-FFF2-40B4-BE49-F238E27FC236}">
                <a16:creationId xmlns:a16="http://schemas.microsoft.com/office/drawing/2014/main" id="{98D7F1FD-6CA9-C3B7-D62E-4B9772D0063C}"/>
              </a:ext>
            </a:extLst>
          </p:cNvPr>
          <p:cNvSpPr>
            <a:spLocks noGrp="1"/>
          </p:cNvSpPr>
          <p:nvPr>
            <p:ph type="sldNum" sz="quarter" idx="12"/>
          </p:nvPr>
        </p:nvSpPr>
        <p:spPr/>
        <p:txBody>
          <a:bodyPr/>
          <a:lstStyle/>
          <a:p>
            <a:fld id="{8E274F5D-21DC-40EF-8DBA-AB9BB119E939}" type="slidenum">
              <a:rPr lang="en-US" smtClean="0"/>
              <a:pPr/>
              <a:t>31</a:t>
            </a:fld>
            <a:endParaRPr lang="en-US"/>
          </a:p>
        </p:txBody>
      </p:sp>
      <p:graphicFrame>
        <p:nvGraphicFramePr>
          <p:cNvPr id="7" name="Content Placeholder 6">
            <a:extLst>
              <a:ext uri="{FF2B5EF4-FFF2-40B4-BE49-F238E27FC236}">
                <a16:creationId xmlns:a16="http://schemas.microsoft.com/office/drawing/2014/main" id="{9F268802-6225-12E8-1900-68BE3CE14D92}"/>
              </a:ext>
            </a:extLst>
          </p:cNvPr>
          <p:cNvGraphicFramePr>
            <a:graphicFrameLocks noGrp="1"/>
          </p:cNvGraphicFramePr>
          <p:nvPr>
            <p:ph sz="quarter" idx="13"/>
          </p:nvPr>
        </p:nvGraphicFramePr>
        <p:xfrm>
          <a:off x="419100" y="3422365"/>
          <a:ext cx="9393237" cy="1727770"/>
        </p:xfrm>
        <a:graphic>
          <a:graphicData uri="http://schemas.openxmlformats.org/drawingml/2006/table">
            <a:tbl>
              <a:tblPr/>
              <a:tblGrid>
                <a:gridCol w="3131079">
                  <a:extLst>
                    <a:ext uri="{9D8B030D-6E8A-4147-A177-3AD203B41FA5}">
                      <a16:colId xmlns:a16="http://schemas.microsoft.com/office/drawing/2014/main" val="2507760232"/>
                    </a:ext>
                  </a:extLst>
                </a:gridCol>
                <a:gridCol w="3131079">
                  <a:extLst>
                    <a:ext uri="{9D8B030D-6E8A-4147-A177-3AD203B41FA5}">
                      <a16:colId xmlns:a16="http://schemas.microsoft.com/office/drawing/2014/main" val="2812816537"/>
                    </a:ext>
                  </a:extLst>
                </a:gridCol>
                <a:gridCol w="3131079">
                  <a:extLst>
                    <a:ext uri="{9D8B030D-6E8A-4147-A177-3AD203B41FA5}">
                      <a16:colId xmlns:a16="http://schemas.microsoft.com/office/drawing/2014/main" val="4219860587"/>
                    </a:ext>
                  </a:extLst>
                </a:gridCol>
              </a:tblGrid>
              <a:tr h="345554">
                <a:tc>
                  <a:txBody>
                    <a:bodyPr/>
                    <a:lstStyle/>
                    <a:p>
                      <a:pPr>
                        <a:buNone/>
                      </a:pPr>
                      <a:r>
                        <a:rPr lang="en-US" sz="1700"/>
                        <a:t>Model</a:t>
                      </a:r>
                    </a:p>
                  </a:txBody>
                  <a:tcPr marL="86388" marR="86388" marT="43194" marB="43194" anchor="ctr">
                    <a:lnL>
                      <a:noFill/>
                    </a:lnL>
                    <a:lnR>
                      <a:noFill/>
                    </a:lnR>
                    <a:lnT>
                      <a:noFill/>
                    </a:lnT>
                    <a:lnB>
                      <a:noFill/>
                    </a:lnB>
                    <a:noFill/>
                  </a:tcPr>
                </a:tc>
                <a:tc>
                  <a:txBody>
                    <a:bodyPr/>
                    <a:lstStyle/>
                    <a:p>
                      <a:pPr>
                        <a:buNone/>
                      </a:pPr>
                      <a:r>
                        <a:rPr lang="en-US" sz="1700"/>
                        <a:t>Local</a:t>
                      </a:r>
                    </a:p>
                  </a:txBody>
                  <a:tcPr marL="86388" marR="86388" marT="43194" marB="43194" anchor="ctr">
                    <a:lnL>
                      <a:noFill/>
                    </a:lnL>
                    <a:lnR>
                      <a:noFill/>
                    </a:lnR>
                    <a:lnT>
                      <a:noFill/>
                    </a:lnT>
                    <a:lnB>
                      <a:noFill/>
                    </a:lnB>
                    <a:noFill/>
                  </a:tcPr>
                </a:tc>
                <a:tc>
                  <a:txBody>
                    <a:bodyPr/>
                    <a:lstStyle/>
                    <a:p>
                      <a:pPr>
                        <a:buNone/>
                      </a:pPr>
                      <a:r>
                        <a:rPr lang="en-US" sz="1700"/>
                        <a:t>Quality</a:t>
                      </a:r>
                    </a:p>
                  </a:txBody>
                  <a:tcPr marL="86388" marR="86388" marT="43194" marB="43194" anchor="ctr">
                    <a:lnL>
                      <a:noFill/>
                    </a:lnL>
                    <a:lnR>
                      <a:noFill/>
                    </a:lnR>
                    <a:lnT>
                      <a:noFill/>
                    </a:lnT>
                    <a:lnB>
                      <a:noFill/>
                    </a:lnB>
                    <a:noFill/>
                  </a:tcPr>
                </a:tc>
                <a:extLst>
                  <a:ext uri="{0D108BD9-81ED-4DB2-BD59-A6C34878D82A}">
                    <a16:rowId xmlns:a16="http://schemas.microsoft.com/office/drawing/2014/main" val="3451906607"/>
                  </a:ext>
                </a:extLst>
              </a:tr>
              <a:tr h="345554">
                <a:tc>
                  <a:txBody>
                    <a:bodyPr/>
                    <a:lstStyle/>
                    <a:p>
                      <a:pPr>
                        <a:buNone/>
                      </a:pPr>
                      <a:r>
                        <a:rPr lang="en-US" sz="1700"/>
                        <a:t>bge-m3</a:t>
                      </a:r>
                    </a:p>
                  </a:txBody>
                  <a:tcPr marL="86388" marR="86388" marT="43194" marB="43194" anchor="ctr">
                    <a:lnL>
                      <a:noFill/>
                    </a:lnL>
                    <a:lnR>
                      <a:noFill/>
                    </a:lnR>
                    <a:lnT>
                      <a:noFill/>
                    </a:lnT>
                    <a:lnB>
                      <a:noFill/>
                    </a:lnB>
                    <a:noFill/>
                  </a:tcPr>
                </a:tc>
                <a:tc>
                  <a:txBody>
                    <a:bodyPr/>
                    <a:lstStyle/>
                    <a:p>
                      <a:pPr>
                        <a:buNone/>
                      </a:pPr>
                      <a:r>
                        <a:rPr lang="en-US" sz="1700"/>
                        <a:t>✅</a:t>
                      </a:r>
                    </a:p>
                  </a:txBody>
                  <a:tcPr marL="86388" marR="86388" marT="43194" marB="43194" anchor="ctr">
                    <a:lnL>
                      <a:noFill/>
                    </a:lnL>
                    <a:lnR>
                      <a:noFill/>
                    </a:lnR>
                    <a:lnT>
                      <a:noFill/>
                    </a:lnT>
                    <a:lnB>
                      <a:noFill/>
                    </a:lnB>
                    <a:noFill/>
                  </a:tcPr>
                </a:tc>
                <a:tc>
                  <a:txBody>
                    <a:bodyPr/>
                    <a:lstStyle/>
                    <a:p>
                      <a:pPr>
                        <a:buNone/>
                      </a:pPr>
                      <a:r>
                        <a:rPr lang="en-US" sz="1700"/>
                        <a:t>⭐⭐⭐⭐⭐</a:t>
                      </a:r>
                    </a:p>
                  </a:txBody>
                  <a:tcPr marL="86388" marR="86388" marT="43194" marB="43194" anchor="ctr">
                    <a:lnL>
                      <a:noFill/>
                    </a:lnL>
                    <a:lnR>
                      <a:noFill/>
                    </a:lnR>
                    <a:lnT>
                      <a:noFill/>
                    </a:lnT>
                    <a:lnB>
                      <a:noFill/>
                    </a:lnB>
                    <a:noFill/>
                  </a:tcPr>
                </a:tc>
                <a:extLst>
                  <a:ext uri="{0D108BD9-81ED-4DB2-BD59-A6C34878D82A}">
                    <a16:rowId xmlns:a16="http://schemas.microsoft.com/office/drawing/2014/main" val="2196563724"/>
                  </a:ext>
                </a:extLst>
              </a:tr>
              <a:tr h="345554">
                <a:tc>
                  <a:txBody>
                    <a:bodyPr/>
                    <a:lstStyle/>
                    <a:p>
                      <a:pPr>
                        <a:buNone/>
                      </a:pPr>
                      <a:r>
                        <a:rPr lang="en-US" sz="1700"/>
                        <a:t>jina-embeddings-v3</a:t>
                      </a:r>
                    </a:p>
                  </a:txBody>
                  <a:tcPr marL="86388" marR="86388" marT="43194" marB="43194" anchor="ctr">
                    <a:lnL>
                      <a:noFill/>
                    </a:lnL>
                    <a:lnR>
                      <a:noFill/>
                    </a:lnR>
                    <a:lnT>
                      <a:noFill/>
                    </a:lnT>
                    <a:lnB>
                      <a:noFill/>
                    </a:lnB>
                    <a:noFill/>
                  </a:tcPr>
                </a:tc>
                <a:tc>
                  <a:txBody>
                    <a:bodyPr/>
                    <a:lstStyle/>
                    <a:p>
                      <a:pPr>
                        <a:buNone/>
                      </a:pPr>
                      <a:r>
                        <a:rPr lang="en-US" sz="1700"/>
                        <a:t>✅</a:t>
                      </a:r>
                    </a:p>
                  </a:txBody>
                  <a:tcPr marL="86388" marR="86388" marT="43194" marB="43194" anchor="ctr">
                    <a:lnL>
                      <a:noFill/>
                    </a:lnL>
                    <a:lnR>
                      <a:noFill/>
                    </a:lnR>
                    <a:lnT>
                      <a:noFill/>
                    </a:lnT>
                    <a:lnB>
                      <a:noFill/>
                    </a:lnB>
                    <a:noFill/>
                  </a:tcPr>
                </a:tc>
                <a:tc>
                  <a:txBody>
                    <a:bodyPr/>
                    <a:lstStyle/>
                    <a:p>
                      <a:pPr>
                        <a:buNone/>
                      </a:pPr>
                      <a:r>
                        <a:rPr lang="en-US" sz="1700"/>
                        <a:t>⭐⭐⭐⭐⭐</a:t>
                      </a:r>
                    </a:p>
                  </a:txBody>
                  <a:tcPr marL="86388" marR="86388" marT="43194" marB="43194" anchor="ctr">
                    <a:lnL>
                      <a:noFill/>
                    </a:lnL>
                    <a:lnR>
                      <a:noFill/>
                    </a:lnR>
                    <a:lnT>
                      <a:noFill/>
                    </a:lnT>
                    <a:lnB>
                      <a:noFill/>
                    </a:lnB>
                    <a:noFill/>
                  </a:tcPr>
                </a:tc>
                <a:extLst>
                  <a:ext uri="{0D108BD9-81ED-4DB2-BD59-A6C34878D82A}">
                    <a16:rowId xmlns:a16="http://schemas.microsoft.com/office/drawing/2014/main" val="3028266136"/>
                  </a:ext>
                </a:extLst>
              </a:tr>
              <a:tr h="345554">
                <a:tc>
                  <a:txBody>
                    <a:bodyPr/>
                    <a:lstStyle/>
                    <a:p>
                      <a:pPr>
                        <a:buNone/>
                      </a:pPr>
                      <a:r>
                        <a:rPr lang="en-US" sz="1700"/>
                        <a:t>nomic-embed-text</a:t>
                      </a:r>
                    </a:p>
                  </a:txBody>
                  <a:tcPr marL="86388" marR="86388" marT="43194" marB="43194" anchor="ctr">
                    <a:lnL>
                      <a:noFill/>
                    </a:lnL>
                    <a:lnR>
                      <a:noFill/>
                    </a:lnR>
                    <a:lnT>
                      <a:noFill/>
                    </a:lnT>
                    <a:lnB>
                      <a:noFill/>
                    </a:lnB>
                    <a:noFill/>
                  </a:tcPr>
                </a:tc>
                <a:tc>
                  <a:txBody>
                    <a:bodyPr/>
                    <a:lstStyle/>
                    <a:p>
                      <a:pPr>
                        <a:buNone/>
                      </a:pPr>
                      <a:r>
                        <a:rPr lang="en-US" sz="1700"/>
                        <a:t>✅</a:t>
                      </a:r>
                    </a:p>
                  </a:txBody>
                  <a:tcPr marL="86388" marR="86388" marT="43194" marB="43194" anchor="ctr">
                    <a:lnL>
                      <a:noFill/>
                    </a:lnL>
                    <a:lnR>
                      <a:noFill/>
                    </a:lnR>
                    <a:lnT>
                      <a:noFill/>
                    </a:lnT>
                    <a:lnB>
                      <a:noFill/>
                    </a:lnB>
                    <a:noFill/>
                  </a:tcPr>
                </a:tc>
                <a:tc>
                  <a:txBody>
                    <a:bodyPr/>
                    <a:lstStyle/>
                    <a:p>
                      <a:pPr>
                        <a:buNone/>
                      </a:pPr>
                      <a:r>
                        <a:rPr lang="en-US" sz="1700"/>
                        <a:t>⭐⭐⭐⭐</a:t>
                      </a:r>
                    </a:p>
                  </a:txBody>
                  <a:tcPr marL="86388" marR="86388" marT="43194" marB="43194" anchor="ctr">
                    <a:lnL>
                      <a:noFill/>
                    </a:lnL>
                    <a:lnR>
                      <a:noFill/>
                    </a:lnR>
                    <a:lnT>
                      <a:noFill/>
                    </a:lnT>
                    <a:lnB>
                      <a:noFill/>
                    </a:lnB>
                    <a:noFill/>
                  </a:tcPr>
                </a:tc>
                <a:extLst>
                  <a:ext uri="{0D108BD9-81ED-4DB2-BD59-A6C34878D82A}">
                    <a16:rowId xmlns:a16="http://schemas.microsoft.com/office/drawing/2014/main" val="2231606245"/>
                  </a:ext>
                </a:extLst>
              </a:tr>
              <a:tr h="345554">
                <a:tc>
                  <a:txBody>
                    <a:bodyPr/>
                    <a:lstStyle/>
                    <a:p>
                      <a:pPr>
                        <a:buNone/>
                      </a:pPr>
                      <a:r>
                        <a:rPr lang="en-US" sz="1700"/>
                        <a:t>mxbai-embed-large</a:t>
                      </a:r>
                    </a:p>
                  </a:txBody>
                  <a:tcPr marL="86388" marR="86388" marT="43194" marB="43194" anchor="ctr">
                    <a:lnL>
                      <a:noFill/>
                    </a:lnL>
                    <a:lnR>
                      <a:noFill/>
                    </a:lnR>
                    <a:lnT>
                      <a:noFill/>
                    </a:lnT>
                    <a:lnB>
                      <a:noFill/>
                    </a:lnB>
                    <a:noFill/>
                  </a:tcPr>
                </a:tc>
                <a:tc>
                  <a:txBody>
                    <a:bodyPr/>
                    <a:lstStyle/>
                    <a:p>
                      <a:pPr>
                        <a:buNone/>
                      </a:pPr>
                      <a:r>
                        <a:rPr lang="en-US" sz="1700"/>
                        <a:t>✅</a:t>
                      </a:r>
                    </a:p>
                  </a:txBody>
                  <a:tcPr marL="86388" marR="86388" marT="43194" marB="43194" anchor="ctr">
                    <a:lnL>
                      <a:noFill/>
                    </a:lnL>
                    <a:lnR>
                      <a:noFill/>
                    </a:lnR>
                    <a:lnT>
                      <a:noFill/>
                    </a:lnT>
                    <a:lnB>
                      <a:noFill/>
                    </a:lnB>
                    <a:noFill/>
                  </a:tcPr>
                </a:tc>
                <a:tc>
                  <a:txBody>
                    <a:bodyPr/>
                    <a:lstStyle/>
                    <a:p>
                      <a:pPr>
                        <a:buNone/>
                      </a:pPr>
                      <a:r>
                        <a:rPr lang="en-US" sz="1700" dirty="0"/>
                        <a:t>⭐⭐⭐⭐</a:t>
                      </a:r>
                    </a:p>
                  </a:txBody>
                  <a:tcPr marL="86388" marR="86388" marT="43194" marB="43194" anchor="ctr">
                    <a:lnL>
                      <a:noFill/>
                    </a:lnL>
                    <a:lnR>
                      <a:noFill/>
                    </a:lnR>
                    <a:lnT>
                      <a:noFill/>
                    </a:lnT>
                    <a:lnB>
                      <a:noFill/>
                    </a:lnB>
                    <a:noFill/>
                  </a:tcPr>
                </a:tc>
                <a:extLst>
                  <a:ext uri="{0D108BD9-81ED-4DB2-BD59-A6C34878D82A}">
                    <a16:rowId xmlns:a16="http://schemas.microsoft.com/office/drawing/2014/main" val="1115814041"/>
                  </a:ext>
                </a:extLst>
              </a:tr>
            </a:tbl>
          </a:graphicData>
        </a:graphic>
      </p:graphicFrame>
      <p:sp>
        <p:nvSpPr>
          <p:cNvPr id="9" name="TextBox 8">
            <a:extLst>
              <a:ext uri="{FF2B5EF4-FFF2-40B4-BE49-F238E27FC236}">
                <a16:creationId xmlns:a16="http://schemas.microsoft.com/office/drawing/2014/main" id="{140FCE35-6967-EA78-EF40-C0FEA05D3184}"/>
              </a:ext>
            </a:extLst>
          </p:cNvPr>
          <p:cNvSpPr txBox="1"/>
          <p:nvPr/>
        </p:nvSpPr>
        <p:spPr>
          <a:xfrm>
            <a:off x="523461" y="2280391"/>
            <a:ext cx="6096000" cy="369332"/>
          </a:xfrm>
          <a:prstGeom prst="rect">
            <a:avLst/>
          </a:prstGeom>
          <a:noFill/>
        </p:spPr>
        <p:txBody>
          <a:bodyPr wrap="square">
            <a:spAutoFit/>
          </a:bodyPr>
          <a:lstStyle/>
          <a:p>
            <a:r>
              <a:rPr lang="en-US" dirty="0"/>
              <a:t>Best Embedding Models</a:t>
            </a:r>
          </a:p>
        </p:txBody>
      </p:sp>
    </p:spTree>
    <p:extLst>
      <p:ext uri="{BB962C8B-B14F-4D97-AF65-F5344CB8AC3E}">
        <p14:creationId xmlns:p14="http://schemas.microsoft.com/office/powerpoint/2010/main" val="29817014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83B22-C045-2801-768A-9F26831C71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200E23-8E89-3E08-5C0B-5DD832FC579A}"/>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9F20C3F3-38D9-A645-6AD2-447745FCDBA4}"/>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3F06585B-01E9-5686-0E5A-8B7E27FBFC4D}"/>
              </a:ext>
            </a:extLst>
          </p:cNvPr>
          <p:cNvSpPr>
            <a:spLocks noGrp="1"/>
          </p:cNvSpPr>
          <p:nvPr>
            <p:ph type="dt" sz="half" idx="10"/>
          </p:nvPr>
        </p:nvSpPr>
        <p:spPr/>
        <p:txBody>
          <a:bodyPr/>
          <a:lstStyle/>
          <a:p>
            <a:fld id="{93332489-DC9C-40A3-89C4-AFC56B3B0CAB}" type="datetime1">
              <a:rPr lang="en-US" smtClean="0"/>
              <a:pPr/>
              <a:t>6/9/2026</a:t>
            </a:fld>
            <a:endParaRPr lang="en-US"/>
          </a:p>
        </p:txBody>
      </p:sp>
      <p:sp>
        <p:nvSpPr>
          <p:cNvPr id="5" name="Slide Number Placeholder 4">
            <a:extLst>
              <a:ext uri="{FF2B5EF4-FFF2-40B4-BE49-F238E27FC236}">
                <a16:creationId xmlns:a16="http://schemas.microsoft.com/office/drawing/2014/main" id="{9D386C3A-CC0E-7BA8-BBF4-749664ECF70E}"/>
              </a:ext>
            </a:extLst>
          </p:cNvPr>
          <p:cNvSpPr>
            <a:spLocks noGrp="1"/>
          </p:cNvSpPr>
          <p:nvPr>
            <p:ph type="sldNum" sz="quarter" idx="12"/>
          </p:nvPr>
        </p:nvSpPr>
        <p:spPr/>
        <p:txBody>
          <a:bodyPr/>
          <a:lstStyle/>
          <a:p>
            <a:fld id="{8E274F5D-21DC-40EF-8DBA-AB9BB119E939}" type="slidenum">
              <a:rPr lang="en-US" smtClean="0"/>
              <a:pPr/>
              <a:t>32</a:t>
            </a:fld>
            <a:endParaRPr lang="en-US"/>
          </a:p>
        </p:txBody>
      </p:sp>
      <p:sp>
        <p:nvSpPr>
          <p:cNvPr id="9" name="TextBox 8">
            <a:extLst>
              <a:ext uri="{FF2B5EF4-FFF2-40B4-BE49-F238E27FC236}">
                <a16:creationId xmlns:a16="http://schemas.microsoft.com/office/drawing/2014/main" id="{4B6D701E-4C4A-C8D6-6D05-DE620DA48B86}"/>
              </a:ext>
            </a:extLst>
          </p:cNvPr>
          <p:cNvSpPr txBox="1"/>
          <p:nvPr/>
        </p:nvSpPr>
        <p:spPr>
          <a:xfrm>
            <a:off x="523460" y="2280392"/>
            <a:ext cx="8454887" cy="369332"/>
          </a:xfrm>
          <a:prstGeom prst="rect">
            <a:avLst/>
          </a:prstGeom>
          <a:noFill/>
        </p:spPr>
        <p:txBody>
          <a:bodyPr wrap="square">
            <a:spAutoFit/>
          </a:bodyPr>
          <a:lstStyle/>
          <a:p>
            <a:r>
              <a:rPr lang="en-US" b="1" dirty="0"/>
              <a:t>� Enterprise Local RAG Stack (Document Parsing + Search)</a:t>
            </a:r>
          </a:p>
        </p:txBody>
      </p:sp>
      <p:sp>
        <p:nvSpPr>
          <p:cNvPr id="11" name="TextBox 10">
            <a:extLst>
              <a:ext uri="{FF2B5EF4-FFF2-40B4-BE49-F238E27FC236}">
                <a16:creationId xmlns:a16="http://schemas.microsoft.com/office/drawing/2014/main" id="{A08C8DE7-1D7D-4D61-7C84-70DE03B8F19E}"/>
              </a:ext>
            </a:extLst>
          </p:cNvPr>
          <p:cNvSpPr txBox="1"/>
          <p:nvPr/>
        </p:nvSpPr>
        <p:spPr>
          <a:xfrm>
            <a:off x="1371600" y="3690227"/>
            <a:ext cx="6096000" cy="1200329"/>
          </a:xfrm>
          <a:prstGeom prst="rect">
            <a:avLst/>
          </a:prstGeom>
          <a:noFill/>
        </p:spPr>
        <p:txBody>
          <a:bodyPr wrap="square">
            <a:spAutoFit/>
          </a:bodyPr>
          <a:lstStyle/>
          <a:p>
            <a:pPr>
              <a:buNone/>
            </a:pPr>
            <a:r>
              <a:rPr lang="en-US" b="1" dirty="0"/>
              <a:t>Focus:</a:t>
            </a:r>
            <a:endParaRPr lang="en-US" dirty="0"/>
          </a:p>
          <a:p>
            <a:pPr>
              <a:buFont typeface="Arial" panose="020B0604020202020204" pitchFamily="34" charset="0"/>
              <a:buChar char="•"/>
            </a:pPr>
            <a:r>
              <a:rPr lang="en-US" dirty="0"/>
              <a:t>Enterprise RAG (on-prem / private cloud) </a:t>
            </a:r>
          </a:p>
          <a:p>
            <a:pPr>
              <a:buFont typeface="Arial" panose="020B0604020202020204" pitchFamily="34" charset="0"/>
              <a:buChar char="•"/>
            </a:pPr>
            <a:r>
              <a:rPr lang="en-US" dirty="0"/>
              <a:t>PDF + Office + Email ingestion </a:t>
            </a:r>
          </a:p>
          <a:p>
            <a:pPr>
              <a:buFont typeface="Arial" panose="020B0604020202020204" pitchFamily="34" charset="0"/>
              <a:buChar char="•"/>
            </a:pPr>
            <a:r>
              <a:rPr lang="en-US" dirty="0"/>
              <a:t>Vector search + hybrid retrieval</a:t>
            </a:r>
          </a:p>
        </p:txBody>
      </p:sp>
    </p:spTree>
    <p:extLst>
      <p:ext uri="{BB962C8B-B14F-4D97-AF65-F5344CB8AC3E}">
        <p14:creationId xmlns:p14="http://schemas.microsoft.com/office/powerpoint/2010/main" val="2924660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42DBF-FCF5-437A-98BC-19E03D27D4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36D149-2D50-8EBC-ED0D-CEE13F768A41}"/>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5D55688E-777D-421E-CB5C-CB67B1C928B4}"/>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CABBEB34-8023-79F9-B5B6-701B72CFFA68}"/>
              </a:ext>
            </a:extLst>
          </p:cNvPr>
          <p:cNvSpPr>
            <a:spLocks noGrp="1"/>
          </p:cNvSpPr>
          <p:nvPr>
            <p:ph type="dt" sz="half" idx="10"/>
          </p:nvPr>
        </p:nvSpPr>
        <p:spPr/>
        <p:txBody>
          <a:bodyPr/>
          <a:lstStyle/>
          <a:p>
            <a:fld id="{93332489-DC9C-40A3-89C4-AFC56B3B0CAB}" type="datetime1">
              <a:rPr lang="en-US" smtClean="0"/>
              <a:pPr/>
              <a:t>6/9/2026</a:t>
            </a:fld>
            <a:endParaRPr lang="en-US"/>
          </a:p>
        </p:txBody>
      </p:sp>
      <p:sp>
        <p:nvSpPr>
          <p:cNvPr id="5" name="Slide Number Placeholder 4">
            <a:extLst>
              <a:ext uri="{FF2B5EF4-FFF2-40B4-BE49-F238E27FC236}">
                <a16:creationId xmlns:a16="http://schemas.microsoft.com/office/drawing/2014/main" id="{1E90394F-17D1-5071-D2F0-EFF51E337D66}"/>
              </a:ext>
            </a:extLst>
          </p:cNvPr>
          <p:cNvSpPr>
            <a:spLocks noGrp="1"/>
          </p:cNvSpPr>
          <p:nvPr>
            <p:ph type="sldNum" sz="quarter" idx="12"/>
          </p:nvPr>
        </p:nvSpPr>
        <p:spPr/>
        <p:txBody>
          <a:bodyPr/>
          <a:lstStyle/>
          <a:p>
            <a:fld id="{8E274F5D-21DC-40EF-8DBA-AB9BB119E939}" type="slidenum">
              <a:rPr lang="en-US" smtClean="0"/>
              <a:pPr/>
              <a:t>33</a:t>
            </a:fld>
            <a:endParaRPr lang="en-US"/>
          </a:p>
        </p:txBody>
      </p:sp>
      <p:sp>
        <p:nvSpPr>
          <p:cNvPr id="9" name="TextBox 8">
            <a:extLst>
              <a:ext uri="{FF2B5EF4-FFF2-40B4-BE49-F238E27FC236}">
                <a16:creationId xmlns:a16="http://schemas.microsoft.com/office/drawing/2014/main" id="{331D36FD-6697-52F0-A402-7A8C959B9AA7}"/>
              </a:ext>
            </a:extLst>
          </p:cNvPr>
          <p:cNvSpPr txBox="1"/>
          <p:nvPr/>
        </p:nvSpPr>
        <p:spPr>
          <a:xfrm>
            <a:off x="523460" y="2280392"/>
            <a:ext cx="8454887" cy="369332"/>
          </a:xfrm>
          <a:prstGeom prst="rect">
            <a:avLst/>
          </a:prstGeom>
          <a:noFill/>
        </p:spPr>
        <p:txBody>
          <a:bodyPr wrap="square">
            <a:spAutoFit/>
          </a:bodyPr>
          <a:lstStyle/>
          <a:p>
            <a:r>
              <a:rPr lang="en-US" b="1" dirty="0"/>
              <a:t>� Enterprise Local RAG Stack (Document Parsing + Search)</a:t>
            </a:r>
          </a:p>
        </p:txBody>
      </p:sp>
      <p:sp>
        <p:nvSpPr>
          <p:cNvPr id="11" name="TextBox 10">
            <a:extLst>
              <a:ext uri="{FF2B5EF4-FFF2-40B4-BE49-F238E27FC236}">
                <a16:creationId xmlns:a16="http://schemas.microsoft.com/office/drawing/2014/main" id="{ECDD8A53-310F-2654-154C-5944C7F634E7}"/>
              </a:ext>
            </a:extLst>
          </p:cNvPr>
          <p:cNvSpPr txBox="1"/>
          <p:nvPr/>
        </p:nvSpPr>
        <p:spPr>
          <a:xfrm>
            <a:off x="1371600" y="3690227"/>
            <a:ext cx="6096000" cy="2031325"/>
          </a:xfrm>
          <a:prstGeom prst="rect">
            <a:avLst/>
          </a:prstGeom>
          <a:noFill/>
        </p:spPr>
        <p:txBody>
          <a:bodyPr wrap="square">
            <a:spAutoFit/>
          </a:bodyPr>
          <a:lstStyle/>
          <a:p>
            <a:r>
              <a:rPr lang="en-US" b="1" dirty="0"/>
              <a:t>Why We Need This Stack</a:t>
            </a:r>
          </a:p>
          <a:p>
            <a:r>
              <a:rPr lang="en-US" dirty="0"/>
              <a:t>Enterprises struggle with:</a:t>
            </a:r>
          </a:p>
          <a:p>
            <a:r>
              <a:rPr lang="en-US" dirty="0"/>
              <a:t>📄 Unstructured PDFs, DOCX, PPTX </a:t>
            </a:r>
          </a:p>
          <a:p>
            <a:r>
              <a:rPr lang="en-US" dirty="0"/>
              <a:t>🔍 Poor semantic search in legacy systems </a:t>
            </a:r>
          </a:p>
          <a:p>
            <a:r>
              <a:rPr lang="en-US" dirty="0"/>
              <a:t>🧠 No AI-ready document pipelines </a:t>
            </a:r>
          </a:p>
          <a:p>
            <a:r>
              <a:rPr lang="en-US" dirty="0"/>
              <a:t>🔐 Data privacy restrictions (no cloud dependency) </a:t>
            </a:r>
          </a:p>
          <a:p>
            <a:r>
              <a:rPr lang="en-US" dirty="0"/>
              <a:t>⚡ Slow retrieval from traditional search engines</a:t>
            </a:r>
          </a:p>
        </p:txBody>
      </p:sp>
    </p:spTree>
    <p:extLst>
      <p:ext uri="{BB962C8B-B14F-4D97-AF65-F5344CB8AC3E}">
        <p14:creationId xmlns:p14="http://schemas.microsoft.com/office/powerpoint/2010/main" val="14859104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CD95F5E-7D36-A2C6-125B-48A2051A871A}"/>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010C9731-D787-48BA-F2ED-DCECB6B6257B}"/>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88478FD-9CD5-2FE4-DFF4-699105ED7998}"/>
              </a:ext>
            </a:extLst>
          </p:cNvPr>
          <p:cNvSpPr>
            <a:spLocks noGrp="1"/>
          </p:cNvSpPr>
          <p:nvPr>
            <p:ph type="dt" sz="half" idx="10"/>
          </p:nvPr>
        </p:nvSpPr>
        <p:spPr/>
        <p:txBody>
          <a:bodyPr/>
          <a:lstStyle/>
          <a:p>
            <a:fld id="{93332489-DC9C-40A3-89C4-AFC56B3B0CAB}" type="datetime1">
              <a:rPr lang="en-US" smtClean="0"/>
              <a:pPr/>
              <a:t>6/9/2026</a:t>
            </a:fld>
            <a:endParaRPr lang="en-US"/>
          </a:p>
        </p:txBody>
      </p:sp>
      <p:sp>
        <p:nvSpPr>
          <p:cNvPr id="5" name="Slide Number Placeholder 4">
            <a:extLst>
              <a:ext uri="{FF2B5EF4-FFF2-40B4-BE49-F238E27FC236}">
                <a16:creationId xmlns:a16="http://schemas.microsoft.com/office/drawing/2014/main" id="{AFADD499-77EE-CB7A-FFC2-760308DD8B8E}"/>
              </a:ext>
            </a:extLst>
          </p:cNvPr>
          <p:cNvSpPr>
            <a:spLocks noGrp="1"/>
          </p:cNvSpPr>
          <p:nvPr>
            <p:ph type="sldNum" sz="quarter" idx="12"/>
          </p:nvPr>
        </p:nvSpPr>
        <p:spPr/>
        <p:txBody>
          <a:bodyPr/>
          <a:lstStyle/>
          <a:p>
            <a:fld id="{8E274F5D-21DC-40EF-8DBA-AB9BB119E939}" type="slidenum">
              <a:rPr lang="en-US" smtClean="0"/>
              <a:pPr/>
              <a:t>34</a:t>
            </a:fld>
            <a:endParaRPr lang="en-US"/>
          </a:p>
        </p:txBody>
      </p:sp>
      <p:sp>
        <p:nvSpPr>
          <p:cNvPr id="10" name="TextBox 9">
            <a:extLst>
              <a:ext uri="{FF2B5EF4-FFF2-40B4-BE49-F238E27FC236}">
                <a16:creationId xmlns:a16="http://schemas.microsoft.com/office/drawing/2014/main" id="{A3A7C1A9-8E1E-2DEF-A21E-13DDA45A7A2D}"/>
              </a:ext>
            </a:extLst>
          </p:cNvPr>
          <p:cNvSpPr txBox="1"/>
          <p:nvPr/>
        </p:nvSpPr>
        <p:spPr>
          <a:xfrm>
            <a:off x="1080052" y="1730060"/>
            <a:ext cx="6096000" cy="4247317"/>
          </a:xfrm>
          <a:prstGeom prst="rect">
            <a:avLst/>
          </a:prstGeom>
          <a:noFill/>
        </p:spPr>
        <p:txBody>
          <a:bodyPr wrap="square">
            <a:spAutoFit/>
          </a:bodyPr>
          <a:lstStyle/>
          <a:p>
            <a:pPr>
              <a:buNone/>
            </a:pPr>
            <a:r>
              <a:rPr lang="en-US" b="1" dirty="0"/>
              <a:t>🥇 </a:t>
            </a:r>
            <a:r>
              <a:rPr lang="en-US" b="1" dirty="0" err="1"/>
              <a:t>Docling</a:t>
            </a:r>
            <a:r>
              <a:rPr lang="en-US" b="1" dirty="0"/>
              <a:t> (Best Enterprise Choice)</a:t>
            </a:r>
          </a:p>
          <a:p>
            <a:pPr>
              <a:buFont typeface="Arial" panose="020B0604020202020204" pitchFamily="34" charset="0"/>
              <a:buChar char="•"/>
            </a:pPr>
            <a:r>
              <a:rPr lang="en-US" dirty="0"/>
              <a:t>Layout-aware parsing </a:t>
            </a:r>
          </a:p>
          <a:p>
            <a:pPr>
              <a:buFont typeface="Arial" panose="020B0604020202020204" pitchFamily="34" charset="0"/>
              <a:buChar char="•"/>
            </a:pPr>
            <a:r>
              <a:rPr lang="en-US" dirty="0"/>
              <a:t>Tables + structured JSON output </a:t>
            </a:r>
          </a:p>
          <a:p>
            <a:pPr>
              <a:buFont typeface="Arial" panose="020B0604020202020204" pitchFamily="34" charset="0"/>
              <a:buChar char="•"/>
            </a:pPr>
            <a:r>
              <a:rPr lang="en-US" dirty="0"/>
              <a:t>Fully local </a:t>
            </a:r>
          </a:p>
          <a:p>
            <a:pPr>
              <a:buFont typeface="Arial" panose="020B0604020202020204" pitchFamily="34" charset="0"/>
              <a:buChar char="•"/>
            </a:pPr>
            <a:r>
              <a:rPr lang="en-US" dirty="0"/>
              <a:t>Best for enterprise PDFs </a:t>
            </a:r>
          </a:p>
          <a:p>
            <a:pPr>
              <a:buNone/>
            </a:pPr>
            <a:r>
              <a:rPr lang="en-US" b="1" dirty="0"/>
              <a:t>⚡ </a:t>
            </a:r>
            <a:r>
              <a:rPr lang="en-US" b="1" dirty="0" err="1"/>
              <a:t>PyMuPDF</a:t>
            </a:r>
            <a:endParaRPr lang="en-US" b="1" dirty="0"/>
          </a:p>
          <a:p>
            <a:pPr>
              <a:buFont typeface="Arial" panose="020B0604020202020204" pitchFamily="34" charset="0"/>
              <a:buChar char="•"/>
            </a:pPr>
            <a:r>
              <a:rPr lang="en-US" dirty="0"/>
              <a:t>Fast PDF extraction </a:t>
            </a:r>
          </a:p>
          <a:p>
            <a:pPr>
              <a:buFont typeface="Arial" panose="020B0604020202020204" pitchFamily="34" charset="0"/>
              <a:buChar char="•"/>
            </a:pPr>
            <a:r>
              <a:rPr lang="en-US" dirty="0"/>
              <a:t>Lightweight </a:t>
            </a:r>
          </a:p>
          <a:p>
            <a:pPr>
              <a:buFont typeface="Arial" panose="020B0604020202020204" pitchFamily="34" charset="0"/>
              <a:buChar char="•"/>
            </a:pPr>
            <a:r>
              <a:rPr lang="en-US" dirty="0"/>
              <a:t>Best for text-heavy documents </a:t>
            </a:r>
          </a:p>
          <a:p>
            <a:pPr>
              <a:buNone/>
            </a:pPr>
            <a:r>
              <a:rPr lang="en-US" b="1" dirty="0"/>
              <a:t>🧠 Unstructured.io</a:t>
            </a:r>
          </a:p>
          <a:p>
            <a:pPr>
              <a:buFont typeface="Arial" panose="020B0604020202020204" pitchFamily="34" charset="0"/>
              <a:buChar char="•"/>
            </a:pPr>
            <a:r>
              <a:rPr lang="en-US" dirty="0"/>
              <a:t>Multi-format ingestion (PDF, HTML, email) </a:t>
            </a:r>
          </a:p>
          <a:p>
            <a:pPr>
              <a:buFont typeface="Arial" panose="020B0604020202020204" pitchFamily="34" charset="0"/>
              <a:buChar char="•"/>
            </a:pPr>
            <a:r>
              <a:rPr lang="en-US" dirty="0"/>
              <a:t>Strong ETL pipelines </a:t>
            </a:r>
          </a:p>
          <a:p>
            <a:pPr>
              <a:buNone/>
            </a:pPr>
            <a:r>
              <a:rPr lang="en-US" b="1" dirty="0"/>
              <a:t>📊 </a:t>
            </a:r>
            <a:r>
              <a:rPr lang="en-US" b="1" dirty="0" err="1"/>
              <a:t>PaddleOCR</a:t>
            </a:r>
            <a:endParaRPr lang="en-US" b="1" dirty="0"/>
          </a:p>
          <a:p>
            <a:pPr>
              <a:buFont typeface="Arial" panose="020B0604020202020204" pitchFamily="34" charset="0"/>
              <a:buChar char="•"/>
            </a:pPr>
            <a:r>
              <a:rPr lang="en-US" dirty="0"/>
              <a:t>Best for scanned documents </a:t>
            </a:r>
          </a:p>
          <a:p>
            <a:pPr>
              <a:buFont typeface="Arial" panose="020B0604020202020204" pitchFamily="34" charset="0"/>
              <a:buChar char="•"/>
            </a:pPr>
            <a:r>
              <a:rPr lang="en-US" dirty="0"/>
              <a:t>OCR-heavy workloads</a:t>
            </a:r>
          </a:p>
        </p:txBody>
      </p:sp>
      <p:sp>
        <p:nvSpPr>
          <p:cNvPr id="14" name="TextBox 13">
            <a:extLst>
              <a:ext uri="{FF2B5EF4-FFF2-40B4-BE49-F238E27FC236}">
                <a16:creationId xmlns:a16="http://schemas.microsoft.com/office/drawing/2014/main" id="{E7A078F2-7AB6-E39D-5993-4DB363D69EFE}"/>
              </a:ext>
            </a:extLst>
          </p:cNvPr>
          <p:cNvSpPr txBox="1"/>
          <p:nvPr/>
        </p:nvSpPr>
        <p:spPr>
          <a:xfrm>
            <a:off x="907773" y="1070977"/>
            <a:ext cx="6096000" cy="369332"/>
          </a:xfrm>
          <a:prstGeom prst="rect">
            <a:avLst/>
          </a:prstGeom>
          <a:noFill/>
        </p:spPr>
        <p:txBody>
          <a:bodyPr wrap="square">
            <a:spAutoFit/>
          </a:bodyPr>
          <a:lstStyle/>
          <a:p>
            <a:pPr>
              <a:buNone/>
            </a:pPr>
            <a:r>
              <a:rPr lang="en-US" b="1" dirty="0"/>
              <a:t>Top Open Source Tools</a:t>
            </a:r>
          </a:p>
        </p:txBody>
      </p:sp>
    </p:spTree>
    <p:extLst>
      <p:ext uri="{BB962C8B-B14F-4D97-AF65-F5344CB8AC3E}">
        <p14:creationId xmlns:p14="http://schemas.microsoft.com/office/powerpoint/2010/main" val="21988672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EF3F-8E8A-0F38-2E44-D49CEB6F4107}"/>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470AF38-0A83-38BA-B523-9C1A6729E5EA}"/>
              </a:ext>
            </a:extLst>
          </p:cNvPr>
          <p:cNvSpPr>
            <a:spLocks noGrp="1"/>
          </p:cNvSpPr>
          <p:nvPr>
            <p:ph type="title"/>
          </p:nvPr>
        </p:nvSpPr>
        <p:spPr/>
        <p:txBody>
          <a:bodyPr/>
          <a:lstStyle/>
          <a:p>
            <a:endParaRPr lang="en-US"/>
          </a:p>
        </p:txBody>
      </p:sp>
      <p:sp>
        <p:nvSpPr>
          <p:cNvPr id="3" name="Footer Placeholder 2">
            <a:extLst>
              <a:ext uri="{FF2B5EF4-FFF2-40B4-BE49-F238E27FC236}">
                <a16:creationId xmlns:a16="http://schemas.microsoft.com/office/drawing/2014/main" id="{75101DFD-7015-2BB5-9B91-03CD52D34203}"/>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D7DD100-A0B7-6985-85F5-31F3C757D770}"/>
              </a:ext>
            </a:extLst>
          </p:cNvPr>
          <p:cNvSpPr>
            <a:spLocks noGrp="1"/>
          </p:cNvSpPr>
          <p:nvPr>
            <p:ph type="dt" sz="half" idx="10"/>
          </p:nvPr>
        </p:nvSpPr>
        <p:spPr/>
        <p:txBody>
          <a:bodyPr/>
          <a:lstStyle/>
          <a:p>
            <a:fld id="{93332489-DC9C-40A3-89C4-AFC56B3B0CAB}" type="datetime1">
              <a:rPr lang="en-US" smtClean="0"/>
              <a:pPr/>
              <a:t>6/9/2026</a:t>
            </a:fld>
            <a:endParaRPr lang="en-US"/>
          </a:p>
        </p:txBody>
      </p:sp>
      <p:sp>
        <p:nvSpPr>
          <p:cNvPr id="5" name="Slide Number Placeholder 4">
            <a:extLst>
              <a:ext uri="{FF2B5EF4-FFF2-40B4-BE49-F238E27FC236}">
                <a16:creationId xmlns:a16="http://schemas.microsoft.com/office/drawing/2014/main" id="{F07535BF-63E8-9255-30EE-9470D7EA0DB5}"/>
              </a:ext>
            </a:extLst>
          </p:cNvPr>
          <p:cNvSpPr>
            <a:spLocks noGrp="1"/>
          </p:cNvSpPr>
          <p:nvPr>
            <p:ph type="sldNum" sz="quarter" idx="12"/>
          </p:nvPr>
        </p:nvSpPr>
        <p:spPr/>
        <p:txBody>
          <a:bodyPr/>
          <a:lstStyle/>
          <a:p>
            <a:fld id="{8E274F5D-21DC-40EF-8DBA-AB9BB119E939}" type="slidenum">
              <a:rPr lang="en-US" smtClean="0"/>
              <a:pPr/>
              <a:t>35</a:t>
            </a:fld>
            <a:endParaRPr lang="en-US"/>
          </a:p>
        </p:txBody>
      </p:sp>
      <p:sp>
        <p:nvSpPr>
          <p:cNvPr id="14" name="TextBox 13">
            <a:extLst>
              <a:ext uri="{FF2B5EF4-FFF2-40B4-BE49-F238E27FC236}">
                <a16:creationId xmlns:a16="http://schemas.microsoft.com/office/drawing/2014/main" id="{5FAE8DB8-554B-CCB8-808A-F9FAE48983B4}"/>
              </a:ext>
            </a:extLst>
          </p:cNvPr>
          <p:cNvSpPr txBox="1"/>
          <p:nvPr/>
        </p:nvSpPr>
        <p:spPr>
          <a:xfrm>
            <a:off x="907773" y="1070977"/>
            <a:ext cx="6096000" cy="369332"/>
          </a:xfrm>
          <a:prstGeom prst="rect">
            <a:avLst/>
          </a:prstGeom>
          <a:noFill/>
        </p:spPr>
        <p:txBody>
          <a:bodyPr wrap="square">
            <a:spAutoFit/>
          </a:bodyPr>
          <a:lstStyle/>
          <a:p>
            <a:pPr>
              <a:buNone/>
            </a:pPr>
            <a:r>
              <a:rPr lang="en-US" b="1" dirty="0"/>
              <a:t>Top Open Source Tools</a:t>
            </a:r>
          </a:p>
        </p:txBody>
      </p:sp>
      <p:graphicFrame>
        <p:nvGraphicFramePr>
          <p:cNvPr id="2" name="Table 1">
            <a:extLst>
              <a:ext uri="{FF2B5EF4-FFF2-40B4-BE49-F238E27FC236}">
                <a16:creationId xmlns:a16="http://schemas.microsoft.com/office/drawing/2014/main" id="{A4D10F04-9ED1-3757-EA9E-3CC5EE34C41D}"/>
              </a:ext>
            </a:extLst>
          </p:cNvPr>
          <p:cNvGraphicFramePr>
            <a:graphicFrameLocks noGrp="1"/>
          </p:cNvGraphicFramePr>
          <p:nvPr/>
        </p:nvGraphicFramePr>
        <p:xfrm>
          <a:off x="428624" y="3234690"/>
          <a:ext cx="9942515" cy="2103120"/>
        </p:xfrm>
        <a:graphic>
          <a:graphicData uri="http://schemas.openxmlformats.org/drawingml/2006/table">
            <a:tbl>
              <a:tblPr/>
              <a:tblGrid>
                <a:gridCol w="1988503">
                  <a:extLst>
                    <a:ext uri="{9D8B030D-6E8A-4147-A177-3AD203B41FA5}">
                      <a16:colId xmlns:a16="http://schemas.microsoft.com/office/drawing/2014/main" val="1368123070"/>
                    </a:ext>
                  </a:extLst>
                </a:gridCol>
                <a:gridCol w="1988503">
                  <a:extLst>
                    <a:ext uri="{9D8B030D-6E8A-4147-A177-3AD203B41FA5}">
                      <a16:colId xmlns:a16="http://schemas.microsoft.com/office/drawing/2014/main" val="237381692"/>
                    </a:ext>
                  </a:extLst>
                </a:gridCol>
                <a:gridCol w="1988503">
                  <a:extLst>
                    <a:ext uri="{9D8B030D-6E8A-4147-A177-3AD203B41FA5}">
                      <a16:colId xmlns:a16="http://schemas.microsoft.com/office/drawing/2014/main" val="3286070819"/>
                    </a:ext>
                  </a:extLst>
                </a:gridCol>
                <a:gridCol w="1988503">
                  <a:extLst>
                    <a:ext uri="{9D8B030D-6E8A-4147-A177-3AD203B41FA5}">
                      <a16:colId xmlns:a16="http://schemas.microsoft.com/office/drawing/2014/main" val="3441006616"/>
                    </a:ext>
                  </a:extLst>
                </a:gridCol>
                <a:gridCol w="1988503">
                  <a:extLst>
                    <a:ext uri="{9D8B030D-6E8A-4147-A177-3AD203B41FA5}">
                      <a16:colId xmlns:a16="http://schemas.microsoft.com/office/drawing/2014/main" val="2627631947"/>
                    </a:ext>
                  </a:extLst>
                </a:gridCol>
              </a:tblGrid>
              <a:tr h="365760">
                <a:tc>
                  <a:txBody>
                    <a:bodyPr/>
                    <a:lstStyle/>
                    <a:p>
                      <a:pPr>
                        <a:buNone/>
                      </a:pPr>
                      <a:r>
                        <a:rPr lang="en-US" sz="1800"/>
                        <a:t>Tool</a:t>
                      </a:r>
                    </a:p>
                  </a:txBody>
                  <a:tcPr anchor="ctr">
                    <a:lnL>
                      <a:noFill/>
                    </a:lnL>
                    <a:lnR>
                      <a:noFill/>
                    </a:lnR>
                    <a:lnT>
                      <a:noFill/>
                    </a:lnT>
                    <a:lnB>
                      <a:noFill/>
                    </a:lnB>
                    <a:noFill/>
                  </a:tcPr>
                </a:tc>
                <a:tc>
                  <a:txBody>
                    <a:bodyPr/>
                    <a:lstStyle/>
                    <a:p>
                      <a:pPr>
                        <a:buNone/>
                      </a:pPr>
                      <a:r>
                        <a:rPr lang="en-US" sz="1800"/>
                        <a:t>Accuracy</a:t>
                      </a:r>
                    </a:p>
                  </a:txBody>
                  <a:tcPr anchor="ctr">
                    <a:lnL>
                      <a:noFill/>
                    </a:lnL>
                    <a:lnR>
                      <a:noFill/>
                    </a:lnR>
                    <a:lnT>
                      <a:noFill/>
                    </a:lnT>
                    <a:lnB>
                      <a:noFill/>
                    </a:lnB>
                    <a:noFill/>
                  </a:tcPr>
                </a:tc>
                <a:tc>
                  <a:txBody>
                    <a:bodyPr/>
                    <a:lstStyle/>
                    <a:p>
                      <a:pPr>
                        <a:buNone/>
                      </a:pPr>
                      <a:r>
                        <a:rPr lang="en-US" sz="1800"/>
                        <a:t>Speed</a:t>
                      </a:r>
                    </a:p>
                  </a:txBody>
                  <a:tcPr anchor="ctr">
                    <a:lnL>
                      <a:noFill/>
                    </a:lnL>
                    <a:lnR>
                      <a:noFill/>
                    </a:lnR>
                    <a:lnT>
                      <a:noFill/>
                    </a:lnT>
                    <a:lnB>
                      <a:noFill/>
                    </a:lnB>
                    <a:noFill/>
                  </a:tcPr>
                </a:tc>
                <a:tc>
                  <a:txBody>
                    <a:bodyPr/>
                    <a:lstStyle/>
                    <a:p>
                      <a:pPr>
                        <a:buNone/>
                      </a:pPr>
                      <a:r>
                        <a:rPr lang="en-US" sz="1800"/>
                        <a:t>Enterprise</a:t>
                      </a:r>
                    </a:p>
                  </a:txBody>
                  <a:tcPr anchor="ctr">
                    <a:lnL>
                      <a:noFill/>
                    </a:lnL>
                    <a:lnR>
                      <a:noFill/>
                    </a:lnR>
                    <a:lnT>
                      <a:noFill/>
                    </a:lnT>
                    <a:lnB>
                      <a:noFill/>
                    </a:lnB>
                    <a:noFill/>
                  </a:tcPr>
                </a:tc>
                <a:tc>
                  <a:txBody>
                    <a:bodyPr/>
                    <a:lstStyle/>
                    <a:p>
                      <a:pPr>
                        <a:buNone/>
                      </a:pPr>
                      <a:r>
                        <a:rPr lang="en-US" sz="1800"/>
                        <a:t>Best Use</a:t>
                      </a:r>
                    </a:p>
                  </a:txBody>
                  <a:tcPr anchor="ctr">
                    <a:lnL>
                      <a:noFill/>
                    </a:lnL>
                    <a:lnR>
                      <a:noFill/>
                    </a:lnR>
                    <a:lnT>
                      <a:noFill/>
                    </a:lnT>
                    <a:lnB>
                      <a:noFill/>
                    </a:lnB>
                    <a:noFill/>
                  </a:tcPr>
                </a:tc>
                <a:extLst>
                  <a:ext uri="{0D108BD9-81ED-4DB2-BD59-A6C34878D82A}">
                    <a16:rowId xmlns:a16="http://schemas.microsoft.com/office/drawing/2014/main" val="3945145129"/>
                  </a:ext>
                </a:extLst>
              </a:tr>
              <a:tr h="365760">
                <a:tc>
                  <a:txBody>
                    <a:bodyPr/>
                    <a:lstStyle/>
                    <a:p>
                      <a:pPr>
                        <a:buNone/>
                      </a:pPr>
                      <a:r>
                        <a:rPr lang="en-US" sz="1800"/>
                        <a:t>Docling</a:t>
                      </a:r>
                    </a:p>
                  </a:txBody>
                  <a:tcPr anchor="ctr">
                    <a:lnL>
                      <a:noFill/>
                    </a:lnL>
                    <a:lnR>
                      <a:noFill/>
                    </a:lnR>
                    <a:lnT>
                      <a:noFill/>
                    </a:lnT>
                    <a:lnB>
                      <a:noFill/>
                    </a:lnB>
                    <a:noFill/>
                  </a:tcPr>
                </a:tc>
                <a:tc>
                  <a:txBody>
                    <a:bodyPr/>
                    <a:lstStyle/>
                    <a:p>
                      <a:pPr>
                        <a:buNone/>
                      </a:pPr>
                      <a:r>
                        <a:rPr lang="en-US" sz="1800"/>
                        <a:t>⭐⭐⭐⭐⭐</a:t>
                      </a:r>
                    </a:p>
                  </a:txBody>
                  <a:tcPr anchor="ctr">
                    <a:lnL>
                      <a:noFill/>
                    </a:lnL>
                    <a:lnR>
                      <a:noFill/>
                    </a:lnR>
                    <a:lnT>
                      <a:noFill/>
                    </a:lnT>
                    <a:lnB>
                      <a:noFill/>
                    </a:lnB>
                    <a:noFill/>
                  </a:tcPr>
                </a:tc>
                <a:tc>
                  <a:txBody>
                    <a:bodyPr/>
                    <a:lstStyle/>
                    <a:p>
                      <a:pPr>
                        <a:buNone/>
                      </a:pPr>
                      <a:r>
                        <a:rPr lang="en-US" sz="1800"/>
                        <a:t>⭐⭐⭐⭐</a:t>
                      </a:r>
                    </a:p>
                  </a:txBody>
                  <a:tcPr anchor="ctr">
                    <a:lnL>
                      <a:noFill/>
                    </a:lnL>
                    <a:lnR>
                      <a:noFill/>
                    </a:lnR>
                    <a:lnT>
                      <a:noFill/>
                    </a:lnT>
                    <a:lnB>
                      <a:noFill/>
                    </a:lnB>
                    <a:noFill/>
                  </a:tcPr>
                </a:tc>
                <a:tc>
                  <a:txBody>
                    <a:bodyPr/>
                    <a:lstStyle/>
                    <a:p>
                      <a:pPr>
                        <a:buNone/>
                      </a:pPr>
                      <a:r>
                        <a:rPr lang="en-US" sz="1800"/>
                        <a:t>Yes</a:t>
                      </a:r>
                    </a:p>
                  </a:txBody>
                  <a:tcPr anchor="ctr">
                    <a:lnL>
                      <a:noFill/>
                    </a:lnL>
                    <a:lnR>
                      <a:noFill/>
                    </a:lnR>
                    <a:lnT>
                      <a:noFill/>
                    </a:lnT>
                    <a:lnB>
                      <a:noFill/>
                    </a:lnB>
                    <a:noFill/>
                  </a:tcPr>
                </a:tc>
                <a:tc>
                  <a:txBody>
                    <a:bodyPr/>
                    <a:lstStyle/>
                    <a:p>
                      <a:pPr>
                        <a:buNone/>
                      </a:pPr>
                      <a:r>
                        <a:rPr lang="en-US" sz="1800"/>
                        <a:t>Enterprise PDFs</a:t>
                      </a:r>
                    </a:p>
                  </a:txBody>
                  <a:tcPr anchor="ctr">
                    <a:lnL>
                      <a:noFill/>
                    </a:lnL>
                    <a:lnR>
                      <a:noFill/>
                    </a:lnR>
                    <a:lnT>
                      <a:noFill/>
                    </a:lnT>
                    <a:lnB>
                      <a:noFill/>
                    </a:lnB>
                    <a:noFill/>
                  </a:tcPr>
                </a:tc>
                <a:extLst>
                  <a:ext uri="{0D108BD9-81ED-4DB2-BD59-A6C34878D82A}">
                    <a16:rowId xmlns:a16="http://schemas.microsoft.com/office/drawing/2014/main" val="1349592298"/>
                  </a:ext>
                </a:extLst>
              </a:tr>
              <a:tr h="640080">
                <a:tc>
                  <a:txBody>
                    <a:bodyPr/>
                    <a:lstStyle/>
                    <a:p>
                      <a:pPr>
                        <a:buNone/>
                      </a:pPr>
                      <a:r>
                        <a:rPr lang="en-US" sz="1800"/>
                        <a:t>Unstructured</a:t>
                      </a:r>
                    </a:p>
                  </a:txBody>
                  <a:tcPr anchor="ctr">
                    <a:lnL>
                      <a:noFill/>
                    </a:lnL>
                    <a:lnR>
                      <a:noFill/>
                    </a:lnR>
                    <a:lnT>
                      <a:noFill/>
                    </a:lnT>
                    <a:lnB>
                      <a:noFill/>
                    </a:lnB>
                    <a:noFill/>
                  </a:tcPr>
                </a:tc>
                <a:tc>
                  <a:txBody>
                    <a:bodyPr/>
                    <a:lstStyle/>
                    <a:p>
                      <a:pPr>
                        <a:buNone/>
                      </a:pPr>
                      <a:r>
                        <a:rPr lang="en-US" sz="1800"/>
                        <a:t>⭐⭐⭐⭐</a:t>
                      </a:r>
                    </a:p>
                  </a:txBody>
                  <a:tcPr anchor="ctr">
                    <a:lnL>
                      <a:noFill/>
                    </a:lnL>
                    <a:lnR>
                      <a:noFill/>
                    </a:lnR>
                    <a:lnT>
                      <a:noFill/>
                    </a:lnT>
                    <a:lnB>
                      <a:noFill/>
                    </a:lnB>
                    <a:noFill/>
                  </a:tcPr>
                </a:tc>
                <a:tc>
                  <a:txBody>
                    <a:bodyPr/>
                    <a:lstStyle/>
                    <a:p>
                      <a:pPr>
                        <a:buNone/>
                      </a:pPr>
                      <a:r>
                        <a:rPr lang="en-US" sz="1800"/>
                        <a:t>⭐⭐⭐</a:t>
                      </a:r>
                    </a:p>
                  </a:txBody>
                  <a:tcPr anchor="ctr">
                    <a:lnL>
                      <a:noFill/>
                    </a:lnL>
                    <a:lnR>
                      <a:noFill/>
                    </a:lnR>
                    <a:lnT>
                      <a:noFill/>
                    </a:lnT>
                    <a:lnB>
                      <a:noFill/>
                    </a:lnB>
                    <a:noFill/>
                  </a:tcPr>
                </a:tc>
                <a:tc>
                  <a:txBody>
                    <a:bodyPr/>
                    <a:lstStyle/>
                    <a:p>
                      <a:pPr>
                        <a:buNone/>
                      </a:pPr>
                      <a:r>
                        <a:rPr lang="en-US" sz="1800"/>
                        <a:t>Yes</a:t>
                      </a:r>
                    </a:p>
                  </a:txBody>
                  <a:tcPr anchor="ctr">
                    <a:lnL>
                      <a:noFill/>
                    </a:lnL>
                    <a:lnR>
                      <a:noFill/>
                    </a:lnR>
                    <a:lnT>
                      <a:noFill/>
                    </a:lnT>
                    <a:lnB>
                      <a:noFill/>
                    </a:lnB>
                    <a:noFill/>
                  </a:tcPr>
                </a:tc>
                <a:tc>
                  <a:txBody>
                    <a:bodyPr/>
                    <a:lstStyle/>
                    <a:p>
                      <a:pPr>
                        <a:buNone/>
                      </a:pPr>
                      <a:r>
                        <a:rPr lang="en-US" sz="1800"/>
                        <a:t>Multi-format ETL</a:t>
                      </a:r>
                    </a:p>
                  </a:txBody>
                  <a:tcPr anchor="ctr">
                    <a:lnL>
                      <a:noFill/>
                    </a:lnL>
                    <a:lnR>
                      <a:noFill/>
                    </a:lnR>
                    <a:lnT>
                      <a:noFill/>
                    </a:lnT>
                    <a:lnB>
                      <a:noFill/>
                    </a:lnB>
                    <a:noFill/>
                  </a:tcPr>
                </a:tc>
                <a:extLst>
                  <a:ext uri="{0D108BD9-81ED-4DB2-BD59-A6C34878D82A}">
                    <a16:rowId xmlns:a16="http://schemas.microsoft.com/office/drawing/2014/main" val="3899099947"/>
                  </a:ext>
                </a:extLst>
              </a:tr>
              <a:tr h="365760">
                <a:tc>
                  <a:txBody>
                    <a:bodyPr/>
                    <a:lstStyle/>
                    <a:p>
                      <a:pPr>
                        <a:buNone/>
                      </a:pPr>
                      <a:r>
                        <a:rPr lang="en-US" sz="1800"/>
                        <a:t>PyMuPDF</a:t>
                      </a:r>
                    </a:p>
                  </a:txBody>
                  <a:tcPr anchor="ctr">
                    <a:lnL>
                      <a:noFill/>
                    </a:lnL>
                    <a:lnR>
                      <a:noFill/>
                    </a:lnR>
                    <a:lnT>
                      <a:noFill/>
                    </a:lnT>
                    <a:lnB>
                      <a:noFill/>
                    </a:lnB>
                    <a:noFill/>
                  </a:tcPr>
                </a:tc>
                <a:tc>
                  <a:txBody>
                    <a:bodyPr/>
                    <a:lstStyle/>
                    <a:p>
                      <a:pPr>
                        <a:buNone/>
                      </a:pPr>
                      <a:r>
                        <a:rPr lang="en-US" sz="1800"/>
                        <a:t>⭐⭐⭐</a:t>
                      </a:r>
                    </a:p>
                  </a:txBody>
                  <a:tcPr anchor="ctr">
                    <a:lnL>
                      <a:noFill/>
                    </a:lnL>
                    <a:lnR>
                      <a:noFill/>
                    </a:lnR>
                    <a:lnT>
                      <a:noFill/>
                    </a:lnT>
                    <a:lnB>
                      <a:noFill/>
                    </a:lnB>
                    <a:noFill/>
                  </a:tcPr>
                </a:tc>
                <a:tc>
                  <a:txBody>
                    <a:bodyPr/>
                    <a:lstStyle/>
                    <a:p>
                      <a:pPr>
                        <a:buNone/>
                      </a:pPr>
                      <a:r>
                        <a:rPr lang="en-US" sz="1800"/>
                        <a:t>⭐⭐⭐⭐⭐</a:t>
                      </a:r>
                    </a:p>
                  </a:txBody>
                  <a:tcPr anchor="ctr">
                    <a:lnL>
                      <a:noFill/>
                    </a:lnL>
                    <a:lnR>
                      <a:noFill/>
                    </a:lnR>
                    <a:lnT>
                      <a:noFill/>
                    </a:lnT>
                    <a:lnB>
                      <a:noFill/>
                    </a:lnB>
                    <a:noFill/>
                  </a:tcPr>
                </a:tc>
                <a:tc>
                  <a:txBody>
                    <a:bodyPr/>
                    <a:lstStyle/>
                    <a:p>
                      <a:pPr>
                        <a:buNone/>
                      </a:pPr>
                      <a:r>
                        <a:rPr lang="en-US" sz="1800"/>
                        <a:t>Medium</a:t>
                      </a:r>
                    </a:p>
                  </a:txBody>
                  <a:tcPr anchor="ctr">
                    <a:lnL>
                      <a:noFill/>
                    </a:lnL>
                    <a:lnR>
                      <a:noFill/>
                    </a:lnR>
                    <a:lnT>
                      <a:noFill/>
                    </a:lnT>
                    <a:lnB>
                      <a:noFill/>
                    </a:lnB>
                    <a:noFill/>
                  </a:tcPr>
                </a:tc>
                <a:tc>
                  <a:txBody>
                    <a:bodyPr/>
                    <a:lstStyle/>
                    <a:p>
                      <a:pPr>
                        <a:buNone/>
                      </a:pPr>
                      <a:r>
                        <a:rPr lang="en-US" sz="1800"/>
                        <a:t>Fast extraction</a:t>
                      </a:r>
                    </a:p>
                  </a:txBody>
                  <a:tcPr anchor="ctr">
                    <a:lnL>
                      <a:noFill/>
                    </a:lnL>
                    <a:lnR>
                      <a:noFill/>
                    </a:lnR>
                    <a:lnT>
                      <a:noFill/>
                    </a:lnT>
                    <a:lnB>
                      <a:noFill/>
                    </a:lnB>
                    <a:noFill/>
                  </a:tcPr>
                </a:tc>
                <a:extLst>
                  <a:ext uri="{0D108BD9-81ED-4DB2-BD59-A6C34878D82A}">
                    <a16:rowId xmlns:a16="http://schemas.microsoft.com/office/drawing/2014/main" val="19565403"/>
                  </a:ext>
                </a:extLst>
              </a:tr>
              <a:tr h="365760">
                <a:tc>
                  <a:txBody>
                    <a:bodyPr/>
                    <a:lstStyle/>
                    <a:p>
                      <a:pPr>
                        <a:buNone/>
                      </a:pPr>
                      <a:r>
                        <a:rPr lang="en-US" sz="1800"/>
                        <a:t>PaddleOCR</a:t>
                      </a:r>
                    </a:p>
                  </a:txBody>
                  <a:tcPr anchor="ctr">
                    <a:lnL>
                      <a:noFill/>
                    </a:lnL>
                    <a:lnR>
                      <a:noFill/>
                    </a:lnR>
                    <a:lnT>
                      <a:noFill/>
                    </a:lnT>
                    <a:lnB>
                      <a:noFill/>
                    </a:lnB>
                    <a:noFill/>
                  </a:tcPr>
                </a:tc>
                <a:tc>
                  <a:txBody>
                    <a:bodyPr/>
                    <a:lstStyle/>
                    <a:p>
                      <a:pPr>
                        <a:buNone/>
                      </a:pPr>
                      <a:r>
                        <a:rPr lang="en-US" sz="1800"/>
                        <a:t>⭐⭐⭐⭐</a:t>
                      </a:r>
                    </a:p>
                  </a:txBody>
                  <a:tcPr anchor="ctr">
                    <a:lnL>
                      <a:noFill/>
                    </a:lnL>
                    <a:lnR>
                      <a:noFill/>
                    </a:lnR>
                    <a:lnT>
                      <a:noFill/>
                    </a:lnT>
                    <a:lnB>
                      <a:noFill/>
                    </a:lnB>
                    <a:noFill/>
                  </a:tcPr>
                </a:tc>
                <a:tc>
                  <a:txBody>
                    <a:bodyPr/>
                    <a:lstStyle/>
                    <a:p>
                      <a:pPr>
                        <a:buNone/>
                      </a:pPr>
                      <a:r>
                        <a:rPr lang="en-US" sz="1800"/>
                        <a:t>⭐⭐⭐</a:t>
                      </a:r>
                    </a:p>
                  </a:txBody>
                  <a:tcPr anchor="ctr">
                    <a:lnL>
                      <a:noFill/>
                    </a:lnL>
                    <a:lnR>
                      <a:noFill/>
                    </a:lnR>
                    <a:lnT>
                      <a:noFill/>
                    </a:lnT>
                    <a:lnB>
                      <a:noFill/>
                    </a:lnB>
                    <a:noFill/>
                  </a:tcPr>
                </a:tc>
                <a:tc>
                  <a:txBody>
                    <a:bodyPr/>
                    <a:lstStyle/>
                    <a:p>
                      <a:pPr>
                        <a:buNone/>
                      </a:pPr>
                      <a:r>
                        <a:rPr lang="en-US" sz="1800"/>
                        <a:t>Yes</a:t>
                      </a:r>
                    </a:p>
                  </a:txBody>
                  <a:tcPr anchor="ctr">
                    <a:lnL>
                      <a:noFill/>
                    </a:lnL>
                    <a:lnR>
                      <a:noFill/>
                    </a:lnR>
                    <a:lnT>
                      <a:noFill/>
                    </a:lnT>
                    <a:lnB>
                      <a:noFill/>
                    </a:lnB>
                    <a:noFill/>
                  </a:tcPr>
                </a:tc>
                <a:tc>
                  <a:txBody>
                    <a:bodyPr/>
                    <a:lstStyle/>
                    <a:p>
                      <a:pPr>
                        <a:buNone/>
                      </a:pPr>
                      <a:r>
                        <a:rPr lang="en-US" sz="1800" dirty="0"/>
                        <a:t>Scanned docs</a:t>
                      </a:r>
                    </a:p>
                  </a:txBody>
                  <a:tcPr anchor="ctr">
                    <a:lnL>
                      <a:noFill/>
                    </a:lnL>
                    <a:lnR>
                      <a:noFill/>
                    </a:lnR>
                    <a:lnT>
                      <a:noFill/>
                    </a:lnT>
                    <a:lnB>
                      <a:noFill/>
                    </a:lnB>
                    <a:noFill/>
                  </a:tcPr>
                </a:tc>
                <a:extLst>
                  <a:ext uri="{0D108BD9-81ED-4DB2-BD59-A6C34878D82A}">
                    <a16:rowId xmlns:a16="http://schemas.microsoft.com/office/drawing/2014/main" val="3324448091"/>
                  </a:ext>
                </a:extLst>
              </a:tr>
            </a:tbl>
          </a:graphicData>
        </a:graphic>
      </p:graphicFrame>
    </p:spTree>
    <p:extLst>
      <p:ext uri="{BB962C8B-B14F-4D97-AF65-F5344CB8AC3E}">
        <p14:creationId xmlns:p14="http://schemas.microsoft.com/office/powerpoint/2010/main" val="37718380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E7208-04F0-E4C8-5AE8-B31936A0DEA6}"/>
              </a:ext>
            </a:extLst>
          </p:cNvPr>
          <p:cNvSpPr>
            <a:spLocks noGrp="1"/>
          </p:cNvSpPr>
          <p:nvPr>
            <p:ph type="title"/>
          </p:nvPr>
        </p:nvSpPr>
        <p:spPr/>
        <p:txBody>
          <a:bodyPr/>
          <a:lstStyle/>
          <a:p>
            <a:r>
              <a:rPr lang="en-US"/>
              <a:t>LlamaIndex for Enterprise RAG</a:t>
            </a:r>
          </a:p>
        </p:txBody>
      </p:sp>
      <p:sp>
        <p:nvSpPr>
          <p:cNvPr id="3" name="Footer Placeholder 2">
            <a:extLst>
              <a:ext uri="{FF2B5EF4-FFF2-40B4-BE49-F238E27FC236}">
                <a16:creationId xmlns:a16="http://schemas.microsoft.com/office/drawing/2014/main" id="{E889C381-FE6E-B818-BD03-FE1F69685784}"/>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BD78150A-73BF-18B4-A408-4834FEFEE291}"/>
              </a:ext>
            </a:extLst>
          </p:cNvPr>
          <p:cNvSpPr>
            <a:spLocks noGrp="1"/>
          </p:cNvSpPr>
          <p:nvPr>
            <p:ph type="dt" sz="half" idx="10"/>
          </p:nvPr>
        </p:nvSpPr>
        <p:spPr/>
        <p:txBody>
          <a:bodyPr/>
          <a:lstStyle/>
          <a:p>
            <a:fld id="{FAA6F6B0-7BDB-FB4C-9D76-500FE2DDFD1B}" type="datetime1">
              <a:rPr lang="en-US" smtClean="0"/>
              <a:t>6/9/2026</a:t>
            </a:fld>
            <a:endParaRPr lang="en-US"/>
          </a:p>
        </p:txBody>
      </p:sp>
      <p:sp>
        <p:nvSpPr>
          <p:cNvPr id="5" name="Slide Number Placeholder 4">
            <a:extLst>
              <a:ext uri="{FF2B5EF4-FFF2-40B4-BE49-F238E27FC236}">
                <a16:creationId xmlns:a16="http://schemas.microsoft.com/office/drawing/2014/main" id="{028090AE-A71D-3BE2-9007-ED7AC78839D4}"/>
              </a:ext>
            </a:extLst>
          </p:cNvPr>
          <p:cNvSpPr>
            <a:spLocks noGrp="1"/>
          </p:cNvSpPr>
          <p:nvPr>
            <p:ph type="sldNum" sz="quarter" idx="12"/>
          </p:nvPr>
        </p:nvSpPr>
        <p:spPr/>
        <p:txBody>
          <a:bodyPr/>
          <a:lstStyle/>
          <a:p>
            <a:fld id="{CC057153-B650-4DEB-B370-79DDCFDCE934}" type="slidenum">
              <a:rPr lang="en-US" smtClean="0"/>
              <a:t>36</a:t>
            </a:fld>
            <a:endParaRPr lang="en-US"/>
          </a:p>
        </p:txBody>
      </p:sp>
      <p:pic>
        <p:nvPicPr>
          <p:cNvPr id="8" name="Content Placeholder 7" descr="A digitally rendered city with numbers">
            <a:extLst>
              <a:ext uri="{FF2B5EF4-FFF2-40B4-BE49-F238E27FC236}">
                <a16:creationId xmlns:a16="http://schemas.microsoft.com/office/drawing/2014/main" id="{1F7F9540-BAE1-4ACB-ABF1-08C893271811}"/>
              </a:ext>
            </a:extLst>
          </p:cNvPr>
          <p:cNvPicPr>
            <a:picLocks noGrp="1" noChangeAspect="1"/>
          </p:cNvPicPr>
          <p:nvPr>
            <p:ph sz="quarter" idx="15"/>
          </p:nvPr>
        </p:nvPicPr>
        <p:blipFill>
          <a:blip r:embed="rId3"/>
          <a:stretch>
            <a:fillRect/>
          </a:stretch>
        </p:blipFill>
        <p:spPr>
          <a:xfrm>
            <a:off x="633413" y="2787074"/>
            <a:ext cx="5267325" cy="2777690"/>
          </a:xfrm>
          <a:prstGeom prst="rect">
            <a:avLst/>
          </a:prstGeom>
        </p:spPr>
      </p:pic>
      <p:sp>
        <p:nvSpPr>
          <p:cNvPr id="7" name="Content Placeholder 6">
            <a:extLst>
              <a:ext uri="{FF2B5EF4-FFF2-40B4-BE49-F238E27FC236}">
                <a16:creationId xmlns:a16="http://schemas.microsoft.com/office/drawing/2014/main" id="{9DFBE97A-9BD1-FBFB-B5C1-DD0250CFC65F}"/>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lnSpcReduction="10000"/>
          </a:bodyPr>
          <a:lstStyle/>
          <a:p>
            <a:pPr>
              <a:buFont typeface="Arial" panose="020B0604020202020204" pitchFamily="34" charset="0"/>
              <a:buChar char="•"/>
            </a:pPr>
            <a:r>
              <a:rPr lang="en-US"/>
              <a:t>Flexible Data Integration</a:t>
            </a:r>
          </a:p>
          <a:p>
            <a:pPr marL="742950" lvl="1" indent="-285750">
              <a:buFont typeface="Arial" panose="020B0604020202020204" pitchFamily="34" charset="0"/>
              <a:buChar char="•"/>
            </a:pPr>
            <a:r>
              <a:rPr lang="en-US"/>
              <a:t>LlamaIndex connects diverse data sources like PDFs, databases, APIs, and cloud storage to centralize knowledge.</a:t>
            </a:r>
          </a:p>
          <a:p>
            <a:pPr>
              <a:buFont typeface="Arial" panose="020B0604020202020204" pitchFamily="34" charset="0"/>
              <a:buChar char="•"/>
            </a:pPr>
            <a:r>
              <a:rPr lang="en-US"/>
              <a:t>Multiple Indexing Strategies</a:t>
            </a:r>
          </a:p>
          <a:p>
            <a:pPr marL="742950" lvl="1" indent="-285750">
              <a:buFont typeface="Arial" panose="020B0604020202020204" pitchFamily="34" charset="0"/>
              <a:buChar char="•"/>
            </a:pPr>
            <a:r>
              <a:rPr lang="en-US"/>
              <a:t>Supports vector, tree, and keyword indexes for customized data retrieval in various scenarios.</a:t>
            </a:r>
          </a:p>
          <a:p>
            <a:pPr>
              <a:buFont typeface="Arial" panose="020B0604020202020204" pitchFamily="34" charset="0"/>
              <a:buChar char="•"/>
            </a:pPr>
            <a:r>
              <a:rPr lang="en-US"/>
              <a:t>Custom Query Engines</a:t>
            </a:r>
          </a:p>
          <a:p>
            <a:pPr marL="742950" lvl="1" indent="-285750">
              <a:buFont typeface="Arial" panose="020B0604020202020204" pitchFamily="34" charset="0"/>
              <a:buChar char="•"/>
            </a:pPr>
            <a:r>
              <a:rPr lang="en-US"/>
              <a:t>Enables developers to build tailored retrieval pipelines integrating with vector databases like Qdrant and Milvus.</a:t>
            </a:r>
          </a:p>
          <a:p>
            <a:pPr>
              <a:buFont typeface="Arial" panose="020B0604020202020204" pitchFamily="34" charset="0"/>
              <a:buChar char="•"/>
            </a:pPr>
            <a:r>
              <a:rPr lang="en-US"/>
              <a:t>Privacy and Advanced Features</a:t>
            </a:r>
          </a:p>
          <a:p>
            <a:pPr marL="742950" lvl="1" indent="-285750">
              <a:buFont typeface="Arial" panose="020B0604020202020204" pitchFamily="34" charset="0"/>
              <a:buChar char="•"/>
            </a:pPr>
            <a:r>
              <a:rPr lang="en-US"/>
              <a:t>Compatible with various LLMs ensuring data privacy; supports metadata filtering and contextual compression for accuracy.</a:t>
            </a:r>
          </a:p>
        </p:txBody>
      </p:sp>
    </p:spTree>
    <p:extLst>
      <p:ext uri="{BB962C8B-B14F-4D97-AF65-F5344CB8AC3E}">
        <p14:creationId xmlns:p14="http://schemas.microsoft.com/office/powerpoint/2010/main" val="38421137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3D Venus de Milo statue in digital environment">
            <a:extLst>
              <a:ext uri="{FF2B5EF4-FFF2-40B4-BE49-F238E27FC236}">
                <a16:creationId xmlns:a16="http://schemas.microsoft.com/office/drawing/2014/main" id="{13BEB587-A2D1-4F4A-A156-567E3CA7D78B}"/>
              </a:ext>
            </a:extLst>
          </p:cNvPr>
          <p:cNvPicPr>
            <a:picLocks noGrp="1" noChangeAspect="1"/>
          </p:cNvPicPr>
          <p:nvPr>
            <p:ph type="pic" sz="quarter" idx="13"/>
          </p:nvPr>
        </p:nvPicPr>
        <p:blipFill>
          <a:blip r:embed="rId3"/>
          <a:srcRect l="18530" r="16517" b="-1"/>
          <a:stretch>
            <a:fillRect/>
          </a:stretch>
        </p:blipFill>
        <p:spPr>
          <a:xfrm>
            <a:off x="609600" y="2173849"/>
            <a:ext cx="4675632" cy="4049141"/>
          </a:xfrm>
        </p:spPr>
      </p:pic>
      <p:sp>
        <p:nvSpPr>
          <p:cNvPr id="3" name="Footer Placeholder 2">
            <a:extLst>
              <a:ext uri="{FF2B5EF4-FFF2-40B4-BE49-F238E27FC236}">
                <a16:creationId xmlns:a16="http://schemas.microsoft.com/office/drawing/2014/main" id="{B49DD832-6B55-7B5A-2719-44A37E8F6450}"/>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62EFCBB6-DF2F-71AA-FF27-16AE65CA2BAC}"/>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7222D74B-95E8-3D9C-8E81-70FEC895C8A7}"/>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37</a:t>
            </a:fld>
            <a:endParaRPr lang="en-US"/>
          </a:p>
        </p:txBody>
      </p:sp>
      <p:sp>
        <p:nvSpPr>
          <p:cNvPr id="2" name="Title 1">
            <a:extLst>
              <a:ext uri="{FF2B5EF4-FFF2-40B4-BE49-F238E27FC236}">
                <a16:creationId xmlns:a16="http://schemas.microsoft.com/office/drawing/2014/main" id="{78B66A8D-29CC-66FB-CE2B-A39AC94948F9}"/>
              </a:ext>
            </a:extLst>
          </p:cNvPr>
          <p:cNvSpPr>
            <a:spLocks noGrp="1"/>
          </p:cNvSpPr>
          <p:nvPr>
            <p:ph type="title"/>
          </p:nvPr>
        </p:nvSpPr>
        <p:spPr>
          <a:xfrm>
            <a:off x="612647" y="634999"/>
            <a:ext cx="4672584" cy="1269482"/>
          </a:xfrm>
        </p:spPr>
        <p:txBody>
          <a:bodyPr anchor="t">
            <a:normAutofit/>
          </a:bodyPr>
          <a:lstStyle/>
          <a:p>
            <a:r>
              <a:rPr lang="en-US"/>
              <a:t>RAG Tooling and Design Patterns</a:t>
            </a:r>
          </a:p>
        </p:txBody>
      </p:sp>
      <p:sp>
        <p:nvSpPr>
          <p:cNvPr id="7" name="Content Placeholder 6">
            <a:extLst>
              <a:ext uri="{FF2B5EF4-FFF2-40B4-BE49-F238E27FC236}">
                <a16:creationId xmlns:a16="http://schemas.microsoft.com/office/drawing/2014/main" id="{B7C4C243-5E7A-AEDD-FB34-CC2011858E0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634999"/>
            <a:ext cx="5676838" cy="5587996"/>
          </a:xfrm>
        </p:spPr>
        <p:txBody>
          <a:bodyPr>
            <a:normAutofit/>
          </a:bodyPr>
          <a:lstStyle/>
          <a:p>
            <a:pPr marL="0" indent="0">
              <a:spcBef>
                <a:spcPts val="2500"/>
              </a:spcBef>
              <a:buFont typeface="Arial" panose="020B0604020202020204" pitchFamily="34" charset="0"/>
              <a:buNone/>
            </a:pPr>
            <a:r>
              <a:rPr lang="en-US" b="1"/>
              <a:t>Retriever Plus Re-ranker</a:t>
            </a:r>
          </a:p>
          <a:p>
            <a:pPr marL="0" lvl="1" indent="0">
              <a:buFont typeface="Arial" panose="020B0604020202020204" pitchFamily="34" charset="0"/>
              <a:buNone/>
            </a:pPr>
            <a:r>
              <a:rPr lang="en-US"/>
              <a:t>Initial results are retrieved by vector similarity and refined with re-ranking for improved relevance.</a:t>
            </a:r>
          </a:p>
          <a:p>
            <a:pPr marL="0" indent="0">
              <a:spcBef>
                <a:spcPts val="2500"/>
              </a:spcBef>
              <a:buFont typeface="Arial" panose="020B0604020202020204" pitchFamily="34" charset="0"/>
              <a:buNone/>
            </a:pPr>
            <a:r>
              <a:rPr lang="en-US" b="1"/>
              <a:t>Multi-Query RAG</a:t>
            </a:r>
          </a:p>
          <a:p>
            <a:pPr marL="0" lvl="1" indent="0">
              <a:buFont typeface="Arial" panose="020B0604020202020204" pitchFamily="34" charset="0"/>
              <a:buNone/>
            </a:pPr>
            <a:r>
              <a:rPr lang="en-US"/>
              <a:t>Generating multiple query variations enhances recall and handles complex enterprise queries effectively.</a:t>
            </a:r>
          </a:p>
          <a:p>
            <a:pPr marL="0" indent="0">
              <a:spcBef>
                <a:spcPts val="2500"/>
              </a:spcBef>
              <a:buFont typeface="Arial" panose="020B0604020202020204" pitchFamily="34" charset="0"/>
              <a:buNone/>
            </a:pPr>
            <a:r>
              <a:rPr lang="en-US" b="1"/>
              <a:t>Hybrid Search Methods</a:t>
            </a:r>
          </a:p>
          <a:p>
            <a:pPr marL="0" lvl="1" indent="0">
              <a:buFont typeface="Arial" panose="020B0604020202020204" pitchFamily="34" charset="0"/>
              <a:buNone/>
            </a:pPr>
            <a:r>
              <a:rPr lang="en-US"/>
              <a:t>Combining keyword-based BM25 with vector similarity captures both lexical and semantic relevance.</a:t>
            </a:r>
          </a:p>
          <a:p>
            <a:pPr marL="0" indent="0">
              <a:spcBef>
                <a:spcPts val="2500"/>
              </a:spcBef>
              <a:buFont typeface="Arial" panose="020B0604020202020204" pitchFamily="34" charset="0"/>
              <a:buNone/>
            </a:pPr>
            <a:r>
              <a:rPr lang="en-US" b="1"/>
              <a:t>Tool-Augmented Agents</a:t>
            </a:r>
          </a:p>
          <a:p>
            <a:pPr marL="0" lvl="1" indent="0">
              <a:buFont typeface="Arial" panose="020B0604020202020204" pitchFamily="34" charset="0"/>
              <a:buNone/>
            </a:pPr>
            <a:r>
              <a:rPr lang="en-US"/>
              <a:t>RAG systems integrating external tools like APIs and databases extend retrieval capabilities.</a:t>
            </a:r>
          </a:p>
        </p:txBody>
      </p:sp>
    </p:spTree>
    <p:extLst>
      <p:ext uri="{BB962C8B-B14F-4D97-AF65-F5344CB8AC3E}">
        <p14:creationId xmlns:p14="http://schemas.microsoft.com/office/powerpoint/2010/main" val="37331577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39456-1BD3-29F4-7253-935277C0A4B9}"/>
              </a:ext>
            </a:extLst>
          </p:cNvPr>
          <p:cNvSpPr>
            <a:spLocks noGrp="1"/>
          </p:cNvSpPr>
          <p:nvPr>
            <p:ph type="title"/>
          </p:nvPr>
        </p:nvSpPr>
        <p:spPr>
          <a:xfrm>
            <a:off x="4487024" y="634999"/>
            <a:ext cx="6950232" cy="1124525"/>
          </a:xfrm>
        </p:spPr>
        <p:txBody>
          <a:bodyPr anchor="t">
            <a:normAutofit/>
          </a:bodyPr>
          <a:lstStyle/>
          <a:p>
            <a:r>
              <a:rPr lang="en-US"/>
              <a:t>Best Practices for Enterprise RAG</a:t>
            </a:r>
          </a:p>
        </p:txBody>
      </p:sp>
      <p:sp>
        <p:nvSpPr>
          <p:cNvPr id="3" name="Footer Placeholder 2">
            <a:extLst>
              <a:ext uri="{FF2B5EF4-FFF2-40B4-BE49-F238E27FC236}">
                <a16:creationId xmlns:a16="http://schemas.microsoft.com/office/drawing/2014/main" id="{5427708F-E7A6-3CC5-9524-E1438F3C8D29}"/>
              </a:ext>
            </a:extLst>
          </p:cNvPr>
          <p:cNvSpPr>
            <a:spLocks noGrp="1"/>
          </p:cNvSpPr>
          <p:nvPr>
            <p:ph type="ftr" sz="quarter" idx="16"/>
          </p:nvPr>
        </p:nvSpPr>
        <p:spPr>
          <a:xfrm rot="16200000">
            <a:off x="-2067304" y="2231454"/>
            <a:ext cx="4564376" cy="42976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7616804B-475A-4A29-F728-14D7BE8689F5}"/>
              </a:ext>
            </a:extLst>
          </p:cNvPr>
          <p:cNvSpPr>
            <a:spLocks noGrp="1"/>
          </p:cNvSpPr>
          <p:nvPr>
            <p:ph type="dt" sz="half" idx="15"/>
          </p:nvPr>
        </p:nvSpPr>
        <p:spPr>
          <a:xfrm rot="16200000">
            <a:off x="-532354" y="5260879"/>
            <a:ext cx="1494474" cy="429768"/>
          </a:xfrm>
        </p:spPr>
        <p:txBody>
          <a:bodyPr anchor="ctr">
            <a:normAutofit/>
          </a:bodyPr>
          <a:lstStyle/>
          <a:p>
            <a:pPr>
              <a:spcAft>
                <a:spcPts val="600"/>
              </a:spcAft>
            </a:pPr>
            <a:fld id="{FAA6F6B0-7BDB-FB4C-9D76-500FE2DDFD1B}"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59EE0026-C1A0-D079-C71E-97112A5FB858}"/>
              </a:ext>
            </a:extLst>
          </p:cNvPr>
          <p:cNvSpPr>
            <a:spLocks noGrp="1"/>
          </p:cNvSpPr>
          <p:nvPr>
            <p:ph type="sldNum" sz="quarter" idx="17"/>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38</a:t>
            </a:fld>
            <a:endParaRPr lang="en-US"/>
          </a:p>
        </p:txBody>
      </p:sp>
      <p:pic>
        <p:nvPicPr>
          <p:cNvPr id="8" name="Content Placeholder 7" descr="Data transmission">
            <a:extLst>
              <a:ext uri="{FF2B5EF4-FFF2-40B4-BE49-F238E27FC236}">
                <a16:creationId xmlns:a16="http://schemas.microsoft.com/office/drawing/2014/main" id="{5BCD4982-4DD3-4FEA-A856-09FDE0FFD937}"/>
              </a:ext>
            </a:extLst>
          </p:cNvPr>
          <p:cNvPicPr>
            <a:picLocks noGrp="1" noChangeAspect="1"/>
          </p:cNvPicPr>
          <p:nvPr>
            <p:ph type="pic" sz="quarter" idx="13"/>
          </p:nvPr>
        </p:nvPicPr>
        <p:blipFill>
          <a:blip r:embed="rId3"/>
          <a:srcRect l="32841" r="31546"/>
          <a:stretch>
            <a:fillRect/>
          </a:stretch>
        </p:blipFill>
        <p:spPr>
          <a:xfrm>
            <a:off x="598328" y="10"/>
            <a:ext cx="3256513" cy="6857990"/>
          </a:xfrm>
        </p:spPr>
      </p:pic>
      <p:sp>
        <p:nvSpPr>
          <p:cNvPr id="7" name="Content Placeholder 6">
            <a:extLst>
              <a:ext uri="{FF2B5EF4-FFF2-40B4-BE49-F238E27FC236}">
                <a16:creationId xmlns:a16="http://schemas.microsoft.com/office/drawing/2014/main" id="{C1F8845C-B4DF-A645-D4C8-5394E7ACCBA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7024" y="1879608"/>
            <a:ext cx="6950232" cy="4343387"/>
          </a:xfrm>
        </p:spPr>
        <p:txBody>
          <a:bodyPr>
            <a:normAutofit/>
          </a:bodyPr>
          <a:lstStyle/>
          <a:p>
            <a:pPr marL="0" indent="0">
              <a:lnSpc>
                <a:spcPct val="110000"/>
              </a:lnSpc>
              <a:spcBef>
                <a:spcPts val="2500"/>
              </a:spcBef>
              <a:buFont typeface="Arial" panose="020B0604020202020204" pitchFamily="34" charset="0"/>
              <a:buNone/>
            </a:pPr>
            <a:r>
              <a:rPr lang="en-US" b="1"/>
              <a:t>Chunking Strategy</a:t>
            </a:r>
          </a:p>
          <a:p>
            <a:pPr marL="0" lvl="1" indent="0">
              <a:lnSpc>
                <a:spcPct val="110000"/>
              </a:lnSpc>
              <a:buFont typeface="Arial" panose="020B0604020202020204" pitchFamily="34" charset="0"/>
              <a:buNone/>
            </a:pPr>
            <a:r>
              <a:rPr lang="en-US"/>
              <a:t>Divide documents into 300 to 800 token segments to optimize context and retrieval accuracy.</a:t>
            </a:r>
          </a:p>
          <a:p>
            <a:pPr marL="0" indent="0">
              <a:lnSpc>
                <a:spcPct val="110000"/>
              </a:lnSpc>
              <a:spcBef>
                <a:spcPts val="2500"/>
              </a:spcBef>
              <a:buFont typeface="Arial" panose="020B0604020202020204" pitchFamily="34" charset="0"/>
              <a:buNone/>
            </a:pPr>
            <a:r>
              <a:rPr lang="en-US" b="1"/>
              <a:t>Metadata Tagging</a:t>
            </a:r>
          </a:p>
          <a:p>
            <a:pPr marL="0" lvl="1" indent="0">
              <a:lnSpc>
                <a:spcPct val="110000"/>
              </a:lnSpc>
              <a:buFont typeface="Arial" panose="020B0604020202020204" pitchFamily="34" charset="0"/>
              <a:buNone/>
            </a:pPr>
            <a:r>
              <a:rPr lang="en-US"/>
              <a:t>Use metadata to filter results by attributes like date, source, or category for precise retrieval.</a:t>
            </a:r>
          </a:p>
          <a:p>
            <a:pPr marL="0" indent="0">
              <a:lnSpc>
                <a:spcPct val="110000"/>
              </a:lnSpc>
              <a:spcBef>
                <a:spcPts val="2500"/>
              </a:spcBef>
              <a:buFont typeface="Arial" panose="020B0604020202020204" pitchFamily="34" charset="0"/>
              <a:buNone/>
            </a:pPr>
            <a:r>
              <a:rPr lang="en-US" b="1"/>
              <a:t>Hybrid Search Methods</a:t>
            </a:r>
          </a:p>
          <a:p>
            <a:pPr marL="0" lvl="1" indent="0">
              <a:lnSpc>
                <a:spcPct val="110000"/>
              </a:lnSpc>
              <a:buFont typeface="Arial" panose="020B0604020202020204" pitchFamily="34" charset="0"/>
              <a:buNone/>
            </a:pPr>
            <a:r>
              <a:rPr lang="en-US"/>
              <a:t>Combine keyword and semantic search to ensure comprehensive and accurate information retrieval.</a:t>
            </a:r>
          </a:p>
          <a:p>
            <a:pPr marL="0" indent="0">
              <a:lnSpc>
                <a:spcPct val="110000"/>
              </a:lnSpc>
              <a:spcBef>
                <a:spcPts val="2500"/>
              </a:spcBef>
              <a:buFont typeface="Arial" panose="020B0604020202020204" pitchFamily="34" charset="0"/>
              <a:buNone/>
            </a:pPr>
            <a:r>
              <a:rPr lang="en-US" b="1"/>
              <a:t>Evaluation and Monitoring</a:t>
            </a:r>
          </a:p>
          <a:p>
            <a:pPr marL="0" lvl="1" indent="0">
              <a:lnSpc>
                <a:spcPct val="110000"/>
              </a:lnSpc>
              <a:buFont typeface="Arial" panose="020B0604020202020204" pitchFamily="34" charset="0"/>
              <a:buNone/>
            </a:pPr>
            <a:r>
              <a:rPr lang="en-US"/>
              <a:t>Use tools like Ragas to measure retrieval quality and monitor latency and recall rates continuously.</a:t>
            </a:r>
          </a:p>
        </p:txBody>
      </p:sp>
    </p:spTree>
    <p:extLst>
      <p:ext uri="{BB962C8B-B14F-4D97-AF65-F5344CB8AC3E}">
        <p14:creationId xmlns:p14="http://schemas.microsoft.com/office/powerpoint/2010/main" val="26922995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46334-DF60-52DF-D8B1-177F53BE292E}"/>
              </a:ext>
            </a:extLst>
          </p:cNvPr>
          <p:cNvSpPr>
            <a:spLocks noGrp="1"/>
          </p:cNvSpPr>
          <p:nvPr>
            <p:ph type="title"/>
          </p:nvPr>
        </p:nvSpPr>
        <p:spPr>
          <a:xfrm>
            <a:off x="4487024" y="634999"/>
            <a:ext cx="6950232" cy="1124525"/>
          </a:xfrm>
        </p:spPr>
        <p:txBody>
          <a:bodyPr anchor="t">
            <a:normAutofit/>
          </a:bodyPr>
          <a:lstStyle/>
          <a:p>
            <a:r>
              <a:rPr lang="en-US"/>
              <a:t>Enterprise RAG System Architecture</a:t>
            </a:r>
          </a:p>
        </p:txBody>
      </p:sp>
      <p:sp>
        <p:nvSpPr>
          <p:cNvPr id="3" name="Footer Placeholder 2">
            <a:extLst>
              <a:ext uri="{FF2B5EF4-FFF2-40B4-BE49-F238E27FC236}">
                <a16:creationId xmlns:a16="http://schemas.microsoft.com/office/drawing/2014/main" id="{07F0F532-1F35-337B-41AB-43AB1A6D04B4}"/>
              </a:ext>
            </a:extLst>
          </p:cNvPr>
          <p:cNvSpPr>
            <a:spLocks noGrp="1"/>
          </p:cNvSpPr>
          <p:nvPr>
            <p:ph type="ftr" sz="quarter" idx="16"/>
          </p:nvPr>
        </p:nvSpPr>
        <p:spPr>
          <a:xfrm rot="16200000">
            <a:off x="-2067304" y="2231454"/>
            <a:ext cx="4564376" cy="42976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CF4C59AE-91A1-3B44-9ACF-A6BC9C713CE3}"/>
              </a:ext>
            </a:extLst>
          </p:cNvPr>
          <p:cNvSpPr>
            <a:spLocks noGrp="1"/>
          </p:cNvSpPr>
          <p:nvPr>
            <p:ph type="dt" sz="half" idx="15"/>
          </p:nvPr>
        </p:nvSpPr>
        <p:spPr>
          <a:xfrm rot="16200000">
            <a:off x="-532354" y="5260879"/>
            <a:ext cx="1494474" cy="429768"/>
          </a:xfrm>
        </p:spPr>
        <p:txBody>
          <a:bodyPr anchor="ctr">
            <a:normAutofit/>
          </a:bodyPr>
          <a:lstStyle/>
          <a:p>
            <a:pPr>
              <a:spcAft>
                <a:spcPts val="600"/>
              </a:spcAft>
            </a:pPr>
            <a:fld id="{FAA6F6B0-7BDB-FB4C-9D76-500FE2DDFD1B}"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7BF79A0F-4029-F066-C747-E06B4822E503}"/>
              </a:ext>
            </a:extLst>
          </p:cNvPr>
          <p:cNvSpPr>
            <a:spLocks noGrp="1"/>
          </p:cNvSpPr>
          <p:nvPr>
            <p:ph type="sldNum" sz="quarter" idx="17"/>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39</a:t>
            </a:fld>
            <a:endParaRPr lang="en-US"/>
          </a:p>
        </p:txBody>
      </p:sp>
      <p:pic>
        <p:nvPicPr>
          <p:cNvPr id="8" name="Content Placeholder 7" descr="Global communication and collaboration intricately involving electronic ropes and keys through social networking of smart phones equipped with AI.">
            <a:extLst>
              <a:ext uri="{FF2B5EF4-FFF2-40B4-BE49-F238E27FC236}">
                <a16:creationId xmlns:a16="http://schemas.microsoft.com/office/drawing/2014/main" id="{39D71163-37B3-4680-BE37-EF1944F1E2EE}"/>
              </a:ext>
            </a:extLst>
          </p:cNvPr>
          <p:cNvPicPr>
            <a:picLocks noGrp="1" noChangeAspect="1"/>
          </p:cNvPicPr>
          <p:nvPr>
            <p:ph type="pic" sz="quarter" idx="13"/>
          </p:nvPr>
        </p:nvPicPr>
        <p:blipFill>
          <a:blip r:embed="rId3"/>
          <a:srcRect l="38139" r="30165" b="-1"/>
          <a:stretch>
            <a:fillRect/>
          </a:stretch>
        </p:blipFill>
        <p:spPr>
          <a:xfrm>
            <a:off x="598328" y="10"/>
            <a:ext cx="3256513" cy="6857990"/>
          </a:xfrm>
        </p:spPr>
      </p:pic>
      <p:sp>
        <p:nvSpPr>
          <p:cNvPr id="7" name="Content Placeholder 6">
            <a:extLst>
              <a:ext uri="{FF2B5EF4-FFF2-40B4-BE49-F238E27FC236}">
                <a16:creationId xmlns:a16="http://schemas.microsoft.com/office/drawing/2014/main" id="{FBCE8174-C803-FF30-545A-1F943A8B5CE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7024" y="1879608"/>
            <a:ext cx="6950232" cy="4343387"/>
          </a:xfrm>
        </p:spPr>
        <p:txBody>
          <a:bodyPr>
            <a:normAutofit/>
          </a:bodyPr>
          <a:lstStyle/>
          <a:p>
            <a:pPr marL="0" indent="0">
              <a:lnSpc>
                <a:spcPct val="110000"/>
              </a:lnSpc>
              <a:spcBef>
                <a:spcPts val="2500"/>
              </a:spcBef>
              <a:buFont typeface="Arial" panose="020B0604020202020204" pitchFamily="34" charset="0"/>
              <a:buNone/>
            </a:pPr>
            <a:r>
              <a:rPr lang="en-US" b="1"/>
              <a:t>Ingestion Layer</a:t>
            </a:r>
          </a:p>
          <a:p>
            <a:pPr marL="0" lvl="1" indent="0">
              <a:lnSpc>
                <a:spcPct val="110000"/>
              </a:lnSpc>
              <a:buFont typeface="Arial" panose="020B0604020202020204" pitchFamily="34" charset="0"/>
              <a:buNone/>
            </a:pPr>
            <a:r>
              <a:rPr lang="en-US"/>
              <a:t>Collects and preprocesses data from documents, databases, and APIs to prepare for embedding.</a:t>
            </a:r>
          </a:p>
          <a:p>
            <a:pPr marL="0" indent="0">
              <a:lnSpc>
                <a:spcPct val="110000"/>
              </a:lnSpc>
              <a:spcBef>
                <a:spcPts val="2500"/>
              </a:spcBef>
              <a:buFont typeface="Arial" panose="020B0604020202020204" pitchFamily="34" charset="0"/>
              <a:buNone/>
            </a:pPr>
            <a:r>
              <a:rPr lang="en-US" b="1"/>
              <a:t>Embedding and Storage</a:t>
            </a:r>
          </a:p>
          <a:p>
            <a:pPr marL="0" lvl="1" indent="0">
              <a:lnSpc>
                <a:spcPct val="110000"/>
              </a:lnSpc>
              <a:buFont typeface="Arial" panose="020B0604020202020204" pitchFamily="34" charset="0"/>
              <a:buNone/>
            </a:pPr>
            <a:r>
              <a:rPr lang="en-US"/>
              <a:t>Converts data into vector embeddings stored in a vector database for efficient retrieval.</a:t>
            </a:r>
          </a:p>
          <a:p>
            <a:pPr marL="0" indent="0">
              <a:lnSpc>
                <a:spcPct val="110000"/>
              </a:lnSpc>
              <a:spcBef>
                <a:spcPts val="2500"/>
              </a:spcBef>
              <a:buFont typeface="Arial" panose="020B0604020202020204" pitchFamily="34" charset="0"/>
              <a:buNone/>
            </a:pPr>
            <a:r>
              <a:rPr lang="en-US" b="1"/>
              <a:t>Retrieval and Orchestration</a:t>
            </a:r>
          </a:p>
          <a:p>
            <a:pPr marL="0" lvl="1" indent="0">
              <a:lnSpc>
                <a:spcPct val="110000"/>
              </a:lnSpc>
              <a:buFont typeface="Arial" panose="020B0604020202020204" pitchFamily="34" charset="0"/>
              <a:buNone/>
            </a:pPr>
            <a:r>
              <a:rPr lang="en-US"/>
              <a:t>Manages query processing and retrieval logic using frameworks to interact with large language models.</a:t>
            </a:r>
          </a:p>
          <a:p>
            <a:pPr marL="0" indent="0">
              <a:lnSpc>
                <a:spcPct val="110000"/>
              </a:lnSpc>
              <a:spcBef>
                <a:spcPts val="2500"/>
              </a:spcBef>
              <a:buFont typeface="Arial" panose="020B0604020202020204" pitchFamily="34" charset="0"/>
              <a:buNone/>
            </a:pPr>
            <a:r>
              <a:rPr lang="en-US" b="1"/>
              <a:t>Inference Layer</a:t>
            </a:r>
          </a:p>
          <a:p>
            <a:pPr marL="0" lvl="1" indent="0">
              <a:lnSpc>
                <a:spcPct val="110000"/>
              </a:lnSpc>
              <a:buFont typeface="Arial" panose="020B0604020202020204" pitchFamily="34" charset="0"/>
              <a:buNone/>
            </a:pPr>
            <a:r>
              <a:rPr lang="en-US"/>
              <a:t>Generates responses based on retrieved data using local large language model runtimes.</a:t>
            </a:r>
          </a:p>
        </p:txBody>
      </p:sp>
    </p:spTree>
    <p:extLst>
      <p:ext uri="{BB962C8B-B14F-4D97-AF65-F5344CB8AC3E}">
        <p14:creationId xmlns:p14="http://schemas.microsoft.com/office/powerpoint/2010/main" val="14557886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Desktop computers connected in a network.See all my">
            <a:extLst>
              <a:ext uri="{FF2B5EF4-FFF2-40B4-BE49-F238E27FC236}">
                <a16:creationId xmlns:a16="http://schemas.microsoft.com/office/drawing/2014/main" id="{40451568-4146-40FC-B52D-AA2D514D6352}"/>
              </a:ext>
            </a:extLst>
          </p:cNvPr>
          <p:cNvPicPr>
            <a:picLocks noGrp="1" noChangeAspect="1"/>
          </p:cNvPicPr>
          <p:nvPr>
            <p:ph type="pic" sz="quarter" idx="13"/>
          </p:nvPr>
        </p:nvPicPr>
        <p:blipFill>
          <a:blip r:embed="rId3"/>
          <a:stretch/>
        </p:blipFill>
        <p:spPr>
          <a:xfrm>
            <a:off x="609600" y="2445057"/>
            <a:ext cx="4675632" cy="3506724"/>
          </a:xfrm>
        </p:spPr>
      </p:pic>
      <p:sp>
        <p:nvSpPr>
          <p:cNvPr id="3" name="Footer Placeholder 2">
            <a:extLst>
              <a:ext uri="{FF2B5EF4-FFF2-40B4-BE49-F238E27FC236}">
                <a16:creationId xmlns:a16="http://schemas.microsoft.com/office/drawing/2014/main" id="{DEEE13C5-EC7E-FA7B-4D4C-C3EFB3BEFC90}"/>
              </a:ext>
            </a:extLst>
          </p:cNvPr>
          <p:cNvSpPr>
            <a:spLocks noGrp="1"/>
          </p:cNvSpPr>
          <p:nvPr>
            <p:ph type="ftr" sz="quarter" idx="11"/>
          </p:nvPr>
        </p:nvSpPr>
        <p:spPr>
          <a:xfrm rot="16200000">
            <a:off x="-2067304" y="2231454"/>
            <a:ext cx="4564376" cy="42976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10947474-4087-6A55-4939-67EF20EC3E06}"/>
              </a:ext>
            </a:extLst>
          </p:cNvPr>
          <p:cNvSpPr>
            <a:spLocks noGrp="1"/>
          </p:cNvSpPr>
          <p:nvPr>
            <p:ph type="dt" sz="half" idx="10"/>
          </p:nvPr>
        </p:nvSpPr>
        <p:spPr>
          <a:xfrm rot="16200000">
            <a:off x="-532352" y="5260879"/>
            <a:ext cx="1494475" cy="429768"/>
          </a:xfrm>
        </p:spPr>
        <p:txBody>
          <a:bodyPr anchor="ctr">
            <a:normAutofit/>
          </a:bodyPr>
          <a:lstStyle/>
          <a:p>
            <a:pPr>
              <a:spcAft>
                <a:spcPts val="600"/>
              </a:spcAft>
            </a:pPr>
            <a:fld id="{FAA6F6B0-7BDB-FB4C-9D76-500FE2DDFD1B}" type="datetime1">
              <a:rPr lang="en-US" smtClean="0"/>
              <a:pPr>
                <a:spcAft>
                  <a:spcPts val="600"/>
                </a:spcAft>
              </a:pPr>
              <a:t>6/9/2026</a:t>
            </a:fld>
            <a:endParaRPr lang="en-US"/>
          </a:p>
        </p:txBody>
      </p:sp>
      <p:sp>
        <p:nvSpPr>
          <p:cNvPr id="5" name="Slide Number Placeholder 4">
            <a:extLst>
              <a:ext uri="{FF2B5EF4-FFF2-40B4-BE49-F238E27FC236}">
                <a16:creationId xmlns:a16="http://schemas.microsoft.com/office/drawing/2014/main" id="{3A9F877D-3A54-336B-AACF-D24518A0F21F}"/>
              </a:ext>
            </a:extLst>
          </p:cNvPr>
          <p:cNvSpPr>
            <a:spLocks noGrp="1"/>
          </p:cNvSpPr>
          <p:nvPr>
            <p:ph type="sldNum" sz="quarter" idx="12"/>
          </p:nvPr>
        </p:nvSpPr>
        <p:spPr>
          <a:xfrm>
            <a:off x="2" y="6492513"/>
            <a:ext cx="429207" cy="365125"/>
          </a:xfrm>
        </p:spPr>
        <p:txBody>
          <a:bodyPr anchor="ctr">
            <a:normAutofit/>
          </a:bodyPr>
          <a:lstStyle/>
          <a:p>
            <a:pPr>
              <a:spcAft>
                <a:spcPts val="600"/>
              </a:spcAft>
            </a:pPr>
            <a:fld id="{CC057153-B650-4DEB-B370-79DDCFDCE934}" type="slidenum">
              <a:rPr lang="en-US" smtClean="0"/>
              <a:pPr>
                <a:spcAft>
                  <a:spcPts val="600"/>
                </a:spcAft>
              </a:pPr>
              <a:t>40</a:t>
            </a:fld>
            <a:endParaRPr lang="en-US"/>
          </a:p>
        </p:txBody>
      </p:sp>
      <p:sp>
        <p:nvSpPr>
          <p:cNvPr id="2" name="Title 1">
            <a:extLst>
              <a:ext uri="{FF2B5EF4-FFF2-40B4-BE49-F238E27FC236}">
                <a16:creationId xmlns:a16="http://schemas.microsoft.com/office/drawing/2014/main" id="{A0079878-65F7-7D18-DE1E-18B3159F6FD7}"/>
              </a:ext>
            </a:extLst>
          </p:cNvPr>
          <p:cNvSpPr>
            <a:spLocks noGrp="1"/>
          </p:cNvSpPr>
          <p:nvPr>
            <p:ph type="title"/>
          </p:nvPr>
        </p:nvSpPr>
        <p:spPr>
          <a:xfrm>
            <a:off x="612647" y="634999"/>
            <a:ext cx="4672584" cy="1269482"/>
          </a:xfrm>
        </p:spPr>
        <p:txBody>
          <a:bodyPr anchor="t">
            <a:normAutofit/>
          </a:bodyPr>
          <a:lstStyle/>
          <a:p>
            <a:r>
              <a:rPr lang="en-US" sz="2800"/>
              <a:t>Recommended Enterprise RAG Stack</a:t>
            </a:r>
          </a:p>
        </p:txBody>
      </p:sp>
      <p:sp>
        <p:nvSpPr>
          <p:cNvPr id="7" name="Content Placeholder 6">
            <a:extLst>
              <a:ext uri="{FF2B5EF4-FFF2-40B4-BE49-F238E27FC236}">
                <a16:creationId xmlns:a16="http://schemas.microsoft.com/office/drawing/2014/main" id="{6D8D623A-87E5-5183-DB3B-D54E4B5BF04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634999"/>
            <a:ext cx="5676838" cy="5587996"/>
          </a:xfrm>
        </p:spPr>
        <p:txBody>
          <a:bodyPr>
            <a:normAutofit/>
          </a:bodyPr>
          <a:lstStyle/>
          <a:p>
            <a:pPr marL="0" indent="0">
              <a:spcBef>
                <a:spcPts val="2500"/>
              </a:spcBef>
              <a:buFont typeface="Arial" panose="020B0604020202020204" pitchFamily="34" charset="0"/>
              <a:buNone/>
            </a:pPr>
            <a:r>
              <a:rPr lang="en-US" b="1"/>
              <a:t>Local LLM Runtime</a:t>
            </a:r>
          </a:p>
          <a:p>
            <a:pPr marL="0" lvl="1" indent="0">
              <a:buFont typeface="Arial" panose="020B0604020202020204" pitchFamily="34" charset="0"/>
              <a:buNone/>
            </a:pPr>
            <a:r>
              <a:rPr lang="en-US"/>
              <a:t>Ollama provides a local large language model runtime, enabling inference without cloud dependency.</a:t>
            </a:r>
          </a:p>
          <a:p>
            <a:pPr marL="0" indent="0">
              <a:spcBef>
                <a:spcPts val="2500"/>
              </a:spcBef>
              <a:buFont typeface="Arial" panose="020B0604020202020204" pitchFamily="34" charset="0"/>
              <a:buNone/>
            </a:pPr>
            <a:r>
              <a:rPr lang="en-US" b="1"/>
              <a:t>Efficient Vector Database</a:t>
            </a:r>
          </a:p>
          <a:p>
            <a:pPr marL="0" lvl="1" indent="0">
              <a:buFont typeface="Arial" panose="020B0604020202020204" pitchFamily="34" charset="0"/>
              <a:buNone/>
            </a:pPr>
            <a:r>
              <a:rPr lang="en-US"/>
              <a:t>Qdrant offers fast vector search with filtering and easy deployment for enterprise use.</a:t>
            </a:r>
          </a:p>
          <a:p>
            <a:pPr marL="0" indent="0">
              <a:spcBef>
                <a:spcPts val="2500"/>
              </a:spcBef>
              <a:buFont typeface="Arial" panose="020B0604020202020204" pitchFamily="34" charset="0"/>
              <a:buNone/>
            </a:pPr>
            <a:r>
              <a:rPr lang="en-US" b="1"/>
              <a:t>Orchestration and Workflows</a:t>
            </a:r>
          </a:p>
          <a:p>
            <a:pPr marL="0" lvl="1" indent="0">
              <a:buFont typeface="Arial" panose="020B0604020202020204" pitchFamily="34" charset="0"/>
              <a:buNone/>
            </a:pPr>
            <a:r>
              <a:rPr lang="en-US"/>
              <a:t>LangGraph manages orchestration, enabling dynamic, agentic workflows for complex queries.</a:t>
            </a:r>
          </a:p>
          <a:p>
            <a:pPr marL="0" indent="0">
              <a:spcBef>
                <a:spcPts val="2500"/>
              </a:spcBef>
              <a:buFont typeface="Arial" panose="020B0604020202020204" pitchFamily="34" charset="0"/>
              <a:buNone/>
            </a:pPr>
            <a:r>
              <a:rPr lang="en-US" b="1"/>
              <a:t>Data Management and Evaluation</a:t>
            </a:r>
          </a:p>
          <a:p>
            <a:pPr marL="0" lvl="1" indent="0">
              <a:buFont typeface="Arial" panose="020B0604020202020204" pitchFamily="34" charset="0"/>
              <a:buNone/>
            </a:pPr>
            <a:r>
              <a:rPr lang="en-US"/>
              <a:t>LlamaIndex handles data ingestion and indexing, while Ragas provides system evaluation insights.</a:t>
            </a:r>
          </a:p>
        </p:txBody>
      </p:sp>
    </p:spTree>
    <p:extLst>
      <p:ext uri="{BB962C8B-B14F-4D97-AF65-F5344CB8AC3E}">
        <p14:creationId xmlns:p14="http://schemas.microsoft.com/office/powerpoint/2010/main" val="15857979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_win32_Liz_v4" id="{15E0A01B-C0A0-4E33-97EB-A34D3C451DCF}" vid="{FB8E1E66-9252-4554-A1C4-ACC82554D8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TotalTime>
  <Words>6952</Words>
  <Application>Microsoft Office PowerPoint</Application>
  <PresentationFormat>Widescreen</PresentationFormat>
  <Paragraphs>528</Paragraphs>
  <Slides>40</Slides>
  <Notes>31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7" baseType="lpstr">
      <vt:lpstr>Arial</vt:lpstr>
      <vt:lpstr>Calibri</vt:lpstr>
      <vt:lpstr>Neue Haas Grotesk Text Pro</vt:lpstr>
      <vt:lpstr>Segoe UI</vt:lpstr>
      <vt:lpstr>Segoe UI Semibold</vt:lpstr>
      <vt:lpstr>Film burn</vt:lpstr>
      <vt:lpstr>Package</vt:lpstr>
      <vt:lpstr>Retrieval-Augmented Generation (RAG) and Local AI Architecture</vt:lpstr>
      <vt:lpstr>Foundations of RAG</vt:lpstr>
      <vt:lpstr>Understanding Retrieval-Augmented Generation</vt:lpstr>
      <vt:lpstr>PowerPoint Presentation</vt:lpstr>
      <vt:lpstr>Building a RAG system</vt:lpstr>
      <vt:lpstr>Core RAG Pipeline Components</vt:lpstr>
      <vt:lpstr>Benefits of RAG in Enterprise Environments</vt:lpstr>
      <vt:lpstr>Challenges and Limitations of RAG</vt:lpstr>
      <vt:lpstr>Which model should I use?</vt:lpstr>
      <vt:lpstr>Model choice matters in the real world</vt:lpstr>
      <vt:lpstr>Types of RAG Architectures</vt:lpstr>
      <vt:lpstr>RAG Fusion and Multi-Query Retrieval</vt:lpstr>
      <vt:lpstr>Graph-Based RAG for Complex Data</vt:lpstr>
      <vt:lpstr>PowerPoint Presentation</vt:lpstr>
      <vt:lpstr>Agentic and Memory-Driven RAG</vt:lpstr>
      <vt:lpstr>Alternatives to RAG</vt:lpstr>
      <vt:lpstr>Fine-Tuning Large Language Models</vt:lpstr>
      <vt:lpstr>Knowledge Graphs as an Alternative</vt:lpstr>
      <vt:lpstr>Hybrid Approaches Combining RAG and Fine-Tuning</vt:lpstr>
      <vt:lpstr>SQL and Database-Driven AI Systems</vt:lpstr>
      <vt:lpstr>Local RAG Tools and Stack</vt:lpstr>
      <vt:lpstr>Local Vector Databases</vt:lpstr>
      <vt:lpstr>Best Enterprise RAG Frameworks</vt:lpstr>
      <vt:lpstr>Local LLM Runtimes and Frameworks</vt:lpstr>
      <vt:lpstr>Enterprise RAG Architecture and Optimization</vt:lpstr>
      <vt:lpstr>RAG Overview and Core Concept</vt:lpstr>
      <vt:lpstr>Types of RAG Systems in Practice</vt:lpstr>
      <vt:lpstr>Best Enterprise Vector Databases</vt:lpstr>
      <vt:lpstr>Open-Source Pipeline Management Tools</vt:lpstr>
      <vt:lpstr>PowerPoint Presentation</vt:lpstr>
      <vt:lpstr>PowerPoint Presentation</vt:lpstr>
      <vt:lpstr>PowerPoint Presentation</vt:lpstr>
      <vt:lpstr>PowerPoint Presentation</vt:lpstr>
      <vt:lpstr>PowerPoint Presentation</vt:lpstr>
      <vt:lpstr>PowerPoint Presentation</vt:lpstr>
      <vt:lpstr>LlamaIndex for Enterprise RAG</vt:lpstr>
      <vt:lpstr>RAG Tooling and Design Patterns</vt:lpstr>
      <vt:lpstr>Best Practices for Enterprise RAG</vt:lpstr>
      <vt:lpstr>Enterprise RAG System Architecture</vt:lpstr>
      <vt:lpstr>Recommended Enterprise RAG Stack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ukhan@1x8x2j.onmicrosoft.com</dc:creator>
  <cp:lastModifiedBy>Usama Wahab Khan</cp:lastModifiedBy>
  <cp:revision>9</cp:revision>
  <dcterms:modified xsi:type="dcterms:W3CDTF">2026-06-09T10:40:59Z</dcterms:modified>
</cp:coreProperties>
</file>